
<file path=[Content_Types].xml><?xml version="1.0" encoding="utf-8"?>
<Types xmlns="http://schemas.openxmlformats.org/package/2006/content-types">
  <Default ContentType="image/jpeg" Extension="jpg"/>
  <Default ContentType="application/xml" Extension="xml"/>
  <Default ContentType="image/png" Extension="png"/>
  <Default ContentType="application/vnd.openxmlformats-officedocument.obfuscatedFont" Extension="odttf"/>
  <Default ContentType="application/vnd.openxmlformats-package.relationships+xml" Extension="rels"/>
  <Override ContentType="application/vnd.openxmlformats-officedocument.presentationml.notesSlide+xml" PartName="/ppt/notesSlides/notesSlide6.xml"/>
  <Override ContentType="application/vnd.openxmlformats-officedocument.presentationml.notesSlide+xml" PartName="/ppt/notesSlides/notesSlide12.xml"/>
  <Override ContentType="application/vnd.openxmlformats-officedocument.presentationml.notesSlide+xml" PartName="/ppt/notesSlides/notesSlide1.xml"/>
  <Override ContentType="application/vnd.openxmlformats-officedocument.presentationml.notesSlide+xml" PartName="/ppt/notesSlides/notesSlide3.xml"/>
  <Override ContentType="application/vnd.openxmlformats-officedocument.presentationml.notesSlide+xml" PartName="/ppt/notesSlides/notesSlide9.xml"/>
  <Override ContentType="application/vnd.openxmlformats-officedocument.presentationml.notesSlide+xml" PartName="/ppt/notesSlides/notesSlide8.xml"/>
  <Override ContentType="application/vnd.openxmlformats-officedocument.presentationml.notesSlide+xml" PartName="/ppt/notesSlides/notesSlide7.xml"/>
  <Override ContentType="application/vnd.openxmlformats-officedocument.presentationml.notesSlide+xml" PartName="/ppt/notesSlides/notesSlide11.xml"/>
  <Override ContentType="application/vnd.openxmlformats-officedocument.presentationml.notesSlide+xml" PartName="/ppt/notesSlides/notesSlide2.xml"/>
  <Override ContentType="application/vnd.openxmlformats-officedocument.presentationml.notesSlide+xml" PartName="/ppt/notesSlides/notesSlide5.xml"/>
  <Override ContentType="application/vnd.openxmlformats-officedocument.presentationml.notesSlide+xml" PartName="/ppt/notesSlides/notesSlide4.xml"/>
  <Override ContentType="application/vnd.openxmlformats-officedocument.presentationml.notesSlide+xml" PartName="/ppt/notesSlides/notesSlide10.xml"/>
  <Override ContentType="application/vnd.openxmlformats-officedocument.presentationml.slideLayout+xml" PartName="/ppt/slideLayouts/slideLayout1.xml"/>
  <Override ContentType="application/vnd.openxmlformats-officedocument.presentationml.slideMaster+xml" PartName="/ppt/slideMasters/slideMaster1.xml"/>
  <Override ContentType="application/binary" PartName="/ppt/metadata"/>
  <Override ContentType="application/vnd.openxmlformats-officedocument.presentationml.slide+xml" PartName="/ppt/slides/slide12.xml"/>
  <Override ContentType="application/vnd.openxmlformats-officedocument.presentationml.slide+xml" PartName="/ppt/slides/slide4.xml"/>
  <Override ContentType="application/vnd.openxmlformats-officedocument.presentationml.slide+xml" PartName="/ppt/slides/slide11.xml"/>
  <Override ContentType="application/vnd.openxmlformats-officedocument.presentationml.slide+xml" PartName="/ppt/slides/slide1.xml"/>
  <Override ContentType="application/vnd.openxmlformats-officedocument.presentationml.slide+xml" PartName="/ppt/slides/slide10.xml"/>
  <Override ContentType="application/vnd.openxmlformats-officedocument.presentationml.slide+xml" PartName="/ppt/slides/slide2.xml"/>
  <Override ContentType="application/vnd.openxmlformats-officedocument.presentationml.slide+xml" PartName="/ppt/slides/slide3.xml"/>
  <Override ContentType="application/vnd.openxmlformats-officedocument.presentationml.slide+xml" PartName="/ppt/slides/slide6.xml"/>
  <Override ContentType="application/vnd.openxmlformats-officedocument.presentationml.slide+xml" PartName="/ppt/slides/slide9.xml"/>
  <Override ContentType="application/vnd.openxmlformats-officedocument.presentationml.slide+xml" PartName="/ppt/slides/slide5.xml"/>
  <Override ContentType="application/vnd.openxmlformats-officedocument.presentationml.slide+xml" PartName="/ppt/slides/slide8.xml"/>
  <Override ContentType="application/vnd.openxmlformats-officedocument.presentationml.slide+xml" PartName="/ppt/slides/slide7.xml"/>
  <Override ContentType="application/vnd.openxmlformats-officedocument.presentationml.notesMaster+xml" PartName="/ppt/notesMasters/notesMaster1.xml"/>
  <Override ContentType="application/vnd.openxmlformats-package.core-properties+xml" PartName="/docProps/core.xml"/>
  <Override ContentType="application/vnd.openxmlformats-officedocument.presentationml.presentation.main+xml" PartName="/ppt/presentation.xml"/>
  <Override ContentType="application/vnd.openxmlformats-officedocument.presentationml.presProps+xml" PartName="/ppt/presProps.xml"/>
  <Override ContentType="application/vnd.openxmlformats-officedocument.theme+xml" PartName="/ppt/theme/theme1.xml"/>
  <Override ContentType="application/vnd.openxmlformats-officedocument.theme+xml" PartName="/ppt/theme/theme2.xml"/>
</Types>
</file>

<file path=_rels/.rels><?xml version="1.0" encoding="UTF-8" standalone="yes"?><Relationships xmlns="http://schemas.openxmlformats.org/package/2006/relationships"><Relationship Id="rId1" Type="http://schemas.openxmlformats.org/package/2006/relationships/metadata/core-properties" Target="docProps/core.xml"/><Relationship Id="rId2"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autoCompressPictures="0" strictFirstAndLastChars="0" saveSubsetFonts="1">
  <p:sldMasterIdLst>
    <p:sldMasterId id="2147483648" r:id="rId3"/>
  </p:sldMasterIdLst>
  <p:notesMasterIdLst>
    <p:notesMasterId r:id="rId4"/>
  </p:notesMasterIdLst>
  <p:sldIdLst>
    <p:sldId id="256" r:id="rId5"/>
    <p:sldId id="257" r:id="rId6"/>
    <p:sldId id="258" r:id="rId7"/>
    <p:sldId id="259" r:id="rId8"/>
    <p:sldId id="260" r:id="rId9"/>
    <p:sldId id="261" r:id="rId10"/>
    <p:sldId id="262" r:id="rId11"/>
    <p:sldId id="263" r:id="rId12"/>
    <p:sldId id="264" r:id="rId13"/>
    <p:sldId id="265" r:id="rId14"/>
    <p:sldId id="266" r:id="rId15"/>
    <p:sldId id="267" r:id="rId16"/>
  </p:sldIdLst>
  <p:sldSz cy="5143500" cx="9144000"/>
  <p:notesSz cx="5143500" cy="9144000"/>
  <p:defaultText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defaultTextStyle>
  <p:extLst>
    <p:ext uri="GoogleSlidesCustomDataVersion2">
      <go:slidesCustomData xmlns:go="http://customooxmlschemas.google.com/" r:id="rId17" roundtripDataSignature="AMtx7mj9DV1tJ5REvjAPxXAnXDDqMUgAnQ=="/>
    </p:ext>
  </p:extLst>
</p:presentation>
</file>

<file path=ppt/presProps.xml><?xml version="1.0" encoding="utf-8"?>
<p:presentationP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file>

<file path=ppt/_rels/presentation.xml.rels><?xml version="1.0" encoding="UTF-8" standalone="yes"?><Relationships xmlns="http://schemas.openxmlformats.org/package/2006/relationships"><Relationship Id="rId11" Type="http://schemas.openxmlformats.org/officeDocument/2006/relationships/slide" Target="slides/slide7.xml"/><Relationship Id="rId10" Type="http://schemas.openxmlformats.org/officeDocument/2006/relationships/slide" Target="slides/slide6.xml"/><Relationship Id="rId13" Type="http://schemas.openxmlformats.org/officeDocument/2006/relationships/slide" Target="slides/slide9.xml"/><Relationship Id="rId12" Type="http://schemas.openxmlformats.org/officeDocument/2006/relationships/slide" Target="slides/slide8.xml"/><Relationship Id="rId1" Type="http://schemas.openxmlformats.org/officeDocument/2006/relationships/theme" Target="theme/theme2.xml"/><Relationship Id="rId2" Type="http://schemas.openxmlformats.org/officeDocument/2006/relationships/presProps" Target="presProps.xml"/><Relationship Id="rId3" Type="http://schemas.openxmlformats.org/officeDocument/2006/relationships/slideMaster" Target="slideMasters/slideMaster1.xml"/><Relationship Id="rId4" Type="http://schemas.openxmlformats.org/officeDocument/2006/relationships/notesMaster" Target="notesMasters/notesMaster1.xml"/><Relationship Id="rId9" Type="http://schemas.openxmlformats.org/officeDocument/2006/relationships/slide" Target="slides/slide5.xml"/><Relationship Id="rId15" Type="http://schemas.openxmlformats.org/officeDocument/2006/relationships/slide" Target="slides/slide11.xml"/><Relationship Id="rId14" Type="http://schemas.openxmlformats.org/officeDocument/2006/relationships/slide" Target="slides/slide10.xml"/><Relationship Id="rId17" Type="http://customschemas.google.com/relationships/presentationmetadata" Target="metadata"/><Relationship Id="rId16" Type="http://schemas.openxmlformats.org/officeDocument/2006/relationships/slide" Target="slides/slide12.xml"/><Relationship Id="rId5" Type="http://schemas.openxmlformats.org/officeDocument/2006/relationships/slide" Target="slides/slide1.xml"/><Relationship Id="rId6" Type="http://schemas.openxmlformats.org/officeDocument/2006/relationships/slide" Target="slides/slide2.xml"/><Relationship Id="rId7" Type="http://schemas.openxmlformats.org/officeDocument/2006/relationships/slide" Target="slides/slide3.xml"/><Relationship Id="rId8" Type="http://schemas.openxmlformats.org/officeDocument/2006/relationships/slide" Target="slides/slide4.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1.xml"/></Relationships>
</file>

<file path=ppt/notesMasters/notesMaster1.xml><?xml version="1.0" encoding="utf-8"?>
<p:notes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chemeClr val="lt1"/>
        </a:solidFill>
      </p:bgPr>
    </p:bg>
    <p:spTree>
      <p:nvGrpSpPr>
        <p:cNvPr id="2" name="Shape 2"/>
        <p:cNvGrpSpPr/>
        <p:nvPr/>
      </p:nvGrpSpPr>
      <p:grpSpPr>
        <a:xfrm>
          <a:off x="0" y="0"/>
          <a:ext cx="0" cy="0"/>
          <a:chOff x="0" y="0"/>
          <a:chExt cx="0" cy="0"/>
        </a:xfrm>
      </p:grpSpPr>
      <p:sp>
        <p:nvSpPr>
          <p:cNvPr id="3" name="Google Shape;3;n"/>
          <p:cNvSpPr txBox="1"/>
          <p:nvPr>
            <p:ph idx="2" type="hdr"/>
          </p:nvPr>
        </p:nvSpPr>
        <p:spPr>
          <a:xfrm>
            <a:off x="0" y="0"/>
            <a:ext cx="2971800" cy="458788"/>
          </a:xfrm>
          <a:prstGeom prst="rect">
            <a:avLst/>
          </a:prstGeom>
          <a:noFill/>
          <a:ln>
            <a:noFill/>
          </a:ln>
        </p:spPr>
        <p:txBody>
          <a:bodyPr anchorCtr="0" anchor="t" bIns="45700" lIns="91425" spcFirstLastPara="1" rIns="91425" wrap="square" tIns="45700">
            <a:noAutofit/>
          </a:bodyPr>
          <a:lstStyle>
            <a:lvl1pPr lvl="0" marR="0" rtl="0" algn="l">
              <a:spcBef>
                <a:spcPts val="0"/>
              </a:spcBef>
              <a:spcAft>
                <a:spcPts val="0"/>
              </a:spcAft>
              <a:buSzPts val="1400"/>
              <a:buNone/>
              <a:defRPr b="0" i="0" sz="1200" u="none" cap="none" strike="noStrike">
                <a:solidFill>
                  <a:schemeClr val="dk1"/>
                </a:solidFill>
                <a:latin typeface="Calibri"/>
                <a:ea typeface="Calibri"/>
                <a:cs typeface="Calibri"/>
                <a:sym typeface="Calibri"/>
              </a:defRPr>
            </a:lvl1pPr>
            <a:lvl2pPr lvl="1"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2pPr>
            <a:lvl3pPr lvl="2"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3pPr>
            <a:lvl4pPr lvl="3"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4pPr>
            <a:lvl5pPr lvl="4"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5pPr>
            <a:lvl6pPr lvl="5"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6pPr>
            <a:lvl7pPr lvl="6"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7pPr>
            <a:lvl8pPr lvl="7"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8pPr>
            <a:lvl9pPr lvl="8"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9pPr>
          </a:lstStyle>
          <a:p/>
        </p:txBody>
      </p:sp>
      <p:sp>
        <p:nvSpPr>
          <p:cNvPr id="4" name="Google Shape;4;n"/>
          <p:cNvSpPr txBox="1"/>
          <p:nvPr>
            <p:ph idx="10" type="dt"/>
          </p:nvPr>
        </p:nvSpPr>
        <p:spPr>
          <a:xfrm>
            <a:off x="3884613" y="0"/>
            <a:ext cx="2971800" cy="458788"/>
          </a:xfrm>
          <a:prstGeom prst="rect">
            <a:avLst/>
          </a:prstGeom>
          <a:noFill/>
          <a:ln>
            <a:noFill/>
          </a:ln>
        </p:spPr>
        <p:txBody>
          <a:bodyPr anchorCtr="0" anchor="t" bIns="45700" lIns="91425" spcFirstLastPara="1" rIns="91425" wrap="square" tIns="45700">
            <a:noAutofit/>
          </a:bodyPr>
          <a:lstStyle>
            <a:lvl1pPr lvl="0" marR="0" rtl="0" algn="r">
              <a:spcBef>
                <a:spcPts val="0"/>
              </a:spcBef>
              <a:spcAft>
                <a:spcPts val="0"/>
              </a:spcAft>
              <a:buSzPts val="1400"/>
              <a:buNone/>
              <a:defRPr b="0" i="0" sz="1200" u="none" cap="none" strike="noStrike">
                <a:solidFill>
                  <a:schemeClr val="dk1"/>
                </a:solidFill>
                <a:latin typeface="Calibri"/>
                <a:ea typeface="Calibri"/>
                <a:cs typeface="Calibri"/>
                <a:sym typeface="Calibri"/>
              </a:defRPr>
            </a:lvl1pPr>
            <a:lvl2pPr lvl="1"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2pPr>
            <a:lvl3pPr lvl="2"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3pPr>
            <a:lvl4pPr lvl="3"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4pPr>
            <a:lvl5pPr lvl="4"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5pPr>
            <a:lvl6pPr lvl="5"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6pPr>
            <a:lvl7pPr lvl="6"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7pPr>
            <a:lvl8pPr lvl="7"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8pPr>
            <a:lvl9pPr lvl="8"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9pPr>
          </a:lstStyle>
          <a:p/>
        </p:txBody>
      </p:sp>
      <p:sp>
        <p:nvSpPr>
          <p:cNvPr id="5" name="Google Shape;5;n"/>
          <p:cNvSpPr/>
          <p:nvPr>
            <p:ph idx="3"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6" name="Google Shape;6;n"/>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lvl1pPr indent="-228600" lvl="0" marL="457200" marR="0" rtl="0" algn="l">
              <a:spcBef>
                <a:spcPts val="0"/>
              </a:spcBef>
              <a:spcAft>
                <a:spcPts val="0"/>
              </a:spcAft>
              <a:buSzPts val="1400"/>
              <a:buNone/>
              <a:defRPr b="0" i="0" sz="1200" u="none" cap="none" strike="noStrike">
                <a:solidFill>
                  <a:schemeClr val="dk1"/>
                </a:solidFill>
                <a:latin typeface="Calibri"/>
                <a:ea typeface="Calibri"/>
                <a:cs typeface="Calibri"/>
                <a:sym typeface="Calibri"/>
              </a:defRPr>
            </a:lvl1pPr>
            <a:lvl2pPr indent="-228600" lvl="1" marL="914400" marR="0" rtl="0" algn="l">
              <a:spcBef>
                <a:spcPts val="0"/>
              </a:spcBef>
              <a:spcAft>
                <a:spcPts val="0"/>
              </a:spcAft>
              <a:buSzPts val="1400"/>
              <a:buNone/>
              <a:defRPr b="0" i="0" sz="1200" u="none" cap="none" strike="noStrike">
                <a:solidFill>
                  <a:schemeClr val="dk1"/>
                </a:solidFill>
                <a:latin typeface="Calibri"/>
                <a:ea typeface="Calibri"/>
                <a:cs typeface="Calibri"/>
                <a:sym typeface="Calibri"/>
              </a:defRPr>
            </a:lvl2pPr>
            <a:lvl3pPr indent="-228600" lvl="2" marL="1371600" marR="0" rtl="0" algn="l">
              <a:spcBef>
                <a:spcPts val="0"/>
              </a:spcBef>
              <a:spcAft>
                <a:spcPts val="0"/>
              </a:spcAft>
              <a:buSzPts val="1400"/>
              <a:buNone/>
              <a:defRPr b="0" i="0" sz="1200" u="none" cap="none" strike="noStrike">
                <a:solidFill>
                  <a:schemeClr val="dk1"/>
                </a:solidFill>
                <a:latin typeface="Calibri"/>
                <a:ea typeface="Calibri"/>
                <a:cs typeface="Calibri"/>
                <a:sym typeface="Calibri"/>
              </a:defRPr>
            </a:lvl3pPr>
            <a:lvl4pPr indent="-228600" lvl="3" marL="1828800" marR="0" rtl="0" algn="l">
              <a:spcBef>
                <a:spcPts val="0"/>
              </a:spcBef>
              <a:spcAft>
                <a:spcPts val="0"/>
              </a:spcAft>
              <a:buSzPts val="1400"/>
              <a:buNone/>
              <a:defRPr b="0" i="0" sz="1200" u="none" cap="none" strike="noStrike">
                <a:solidFill>
                  <a:schemeClr val="dk1"/>
                </a:solidFill>
                <a:latin typeface="Calibri"/>
                <a:ea typeface="Calibri"/>
                <a:cs typeface="Calibri"/>
                <a:sym typeface="Calibri"/>
              </a:defRPr>
            </a:lvl4pPr>
            <a:lvl5pPr indent="-228600" lvl="4" marL="2286000" marR="0" rtl="0" algn="l">
              <a:spcBef>
                <a:spcPts val="0"/>
              </a:spcBef>
              <a:spcAft>
                <a:spcPts val="0"/>
              </a:spcAft>
              <a:buSzPts val="1400"/>
              <a:buNone/>
              <a:defRPr b="0" i="0" sz="1200" u="none" cap="none" strike="noStrike">
                <a:solidFill>
                  <a:schemeClr val="dk1"/>
                </a:solidFill>
                <a:latin typeface="Calibri"/>
                <a:ea typeface="Calibri"/>
                <a:cs typeface="Calibri"/>
                <a:sym typeface="Calibri"/>
              </a:defRPr>
            </a:lvl5pPr>
            <a:lvl6pPr indent="-228600" lvl="5" marL="2743200" marR="0" rtl="0" algn="l">
              <a:spcBef>
                <a:spcPts val="0"/>
              </a:spcBef>
              <a:spcAft>
                <a:spcPts val="0"/>
              </a:spcAft>
              <a:buSzPts val="1400"/>
              <a:buNone/>
              <a:defRPr b="0" i="0" sz="1200" u="none" cap="none" strike="noStrike">
                <a:solidFill>
                  <a:schemeClr val="dk1"/>
                </a:solidFill>
                <a:latin typeface="Calibri"/>
                <a:ea typeface="Calibri"/>
                <a:cs typeface="Calibri"/>
                <a:sym typeface="Calibri"/>
              </a:defRPr>
            </a:lvl6pPr>
            <a:lvl7pPr indent="-228600" lvl="6" marL="3200400" marR="0" rtl="0" algn="l">
              <a:spcBef>
                <a:spcPts val="0"/>
              </a:spcBef>
              <a:spcAft>
                <a:spcPts val="0"/>
              </a:spcAft>
              <a:buSzPts val="1400"/>
              <a:buNone/>
              <a:defRPr b="0" i="0" sz="1200" u="none" cap="none" strike="noStrike">
                <a:solidFill>
                  <a:schemeClr val="dk1"/>
                </a:solidFill>
                <a:latin typeface="Calibri"/>
                <a:ea typeface="Calibri"/>
                <a:cs typeface="Calibri"/>
                <a:sym typeface="Calibri"/>
              </a:defRPr>
            </a:lvl7pPr>
            <a:lvl8pPr indent="-228600" lvl="7" marL="3657600" marR="0" rtl="0" algn="l">
              <a:spcBef>
                <a:spcPts val="0"/>
              </a:spcBef>
              <a:spcAft>
                <a:spcPts val="0"/>
              </a:spcAft>
              <a:buSzPts val="1400"/>
              <a:buNone/>
              <a:defRPr b="0" i="0" sz="1200" u="none" cap="none" strike="noStrike">
                <a:solidFill>
                  <a:schemeClr val="dk1"/>
                </a:solidFill>
                <a:latin typeface="Calibri"/>
                <a:ea typeface="Calibri"/>
                <a:cs typeface="Calibri"/>
                <a:sym typeface="Calibri"/>
              </a:defRPr>
            </a:lvl8pPr>
            <a:lvl9pPr indent="-228600" lvl="8" marL="4114800" marR="0" rtl="0" algn="l">
              <a:spcBef>
                <a:spcPts val="0"/>
              </a:spcBef>
              <a:spcAft>
                <a:spcPts val="0"/>
              </a:spcAft>
              <a:buSzPts val="1400"/>
              <a:buNone/>
              <a:defRPr b="0" i="0" sz="1200" u="none" cap="none" strike="noStrike">
                <a:solidFill>
                  <a:schemeClr val="dk1"/>
                </a:solidFill>
                <a:latin typeface="Calibri"/>
                <a:ea typeface="Calibri"/>
                <a:cs typeface="Calibri"/>
                <a:sym typeface="Calibri"/>
              </a:defRPr>
            </a:lvl9pPr>
          </a:lstStyle>
          <a:p/>
        </p:txBody>
      </p:sp>
      <p:sp>
        <p:nvSpPr>
          <p:cNvPr id="7" name="Google Shape;7;n"/>
          <p:cNvSpPr txBox="1"/>
          <p:nvPr>
            <p:ph idx="11" type="ftr"/>
          </p:nvPr>
        </p:nvSpPr>
        <p:spPr>
          <a:xfrm>
            <a:off x="0" y="8685213"/>
            <a:ext cx="2971800" cy="458787"/>
          </a:xfrm>
          <a:prstGeom prst="rect">
            <a:avLst/>
          </a:prstGeom>
          <a:noFill/>
          <a:ln>
            <a:noFill/>
          </a:ln>
        </p:spPr>
        <p:txBody>
          <a:bodyPr anchorCtr="0" anchor="b" bIns="45700" lIns="91425" spcFirstLastPara="1" rIns="91425" wrap="square" tIns="45700">
            <a:noAutofit/>
          </a:bodyPr>
          <a:lstStyle>
            <a:lvl1pPr lvl="0" marR="0" rtl="0" algn="l">
              <a:spcBef>
                <a:spcPts val="0"/>
              </a:spcBef>
              <a:spcAft>
                <a:spcPts val="0"/>
              </a:spcAft>
              <a:buSzPts val="1400"/>
              <a:buNone/>
              <a:defRPr b="0" i="0" sz="1200" u="none" cap="none" strike="noStrike">
                <a:solidFill>
                  <a:schemeClr val="dk1"/>
                </a:solidFill>
                <a:latin typeface="Calibri"/>
                <a:ea typeface="Calibri"/>
                <a:cs typeface="Calibri"/>
                <a:sym typeface="Calibri"/>
              </a:defRPr>
            </a:lvl1pPr>
            <a:lvl2pPr lvl="1"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2pPr>
            <a:lvl3pPr lvl="2"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3pPr>
            <a:lvl4pPr lvl="3"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4pPr>
            <a:lvl5pPr lvl="4"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5pPr>
            <a:lvl6pPr lvl="5"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6pPr>
            <a:lvl7pPr lvl="6"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7pPr>
            <a:lvl8pPr lvl="7"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8pPr>
            <a:lvl9pPr lvl="8"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9pPr>
          </a:lstStyle>
          <a:p/>
        </p:txBody>
      </p:sp>
      <p:sp>
        <p:nvSpPr>
          <p:cNvPr id="8" name="Google Shape;8;n"/>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marR="0" rtl="0" algn="r">
              <a:spcBef>
                <a:spcPts val="0"/>
              </a:spcBef>
              <a:spcAft>
                <a:spcPts val="0"/>
              </a:spcAft>
              <a:buNone/>
            </a:pPr>
            <a:fld id="{00000000-1234-1234-1234-123412341234}" type="slidenum">
              <a:rPr b="0" i="0" lang="en-US" sz="1200" u="none" cap="none" strike="noStrike">
                <a:solidFill>
                  <a:schemeClr val="dk1"/>
                </a:solidFill>
                <a:latin typeface="Calibri"/>
                <a:ea typeface="Calibri"/>
                <a:cs typeface="Calibri"/>
                <a:sym typeface="Calibri"/>
              </a:rPr>
              <a:t>‹#›</a:t>
            </a:fld>
            <a:endParaRPr b="0" i="0" sz="1200" u="none" cap="none" strike="noStrike">
              <a:solidFill>
                <a:schemeClr val="dk1"/>
              </a:solidFill>
              <a:latin typeface="Calibri"/>
              <a:ea typeface="Calibri"/>
              <a:cs typeface="Calibri"/>
              <a:sym typeface="Calibri"/>
            </a:endParaRPr>
          </a:p>
        </p:txBody>
      </p:sp>
    </p:spTree>
  </p:cSld>
  <p:clrMap accent1="accent1" accent2="accent2" accent3="accent3" accent4="accent4" accent5="accent5" accent6="accent6" bg1="lt1" bg2="dk2" tx1="dk1" tx2="lt2" folHlink="folHlink" hlink="hlink"/>
  <p:notes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1" name="Shape 11"/>
        <p:cNvGrpSpPr/>
        <p:nvPr/>
      </p:nvGrpSpPr>
      <p:grpSpPr>
        <a:xfrm>
          <a:off x="0" y="0"/>
          <a:ext cx="0" cy="0"/>
          <a:chOff x="0" y="0"/>
          <a:chExt cx="0" cy="0"/>
        </a:xfrm>
      </p:grpSpPr>
      <p:sp>
        <p:nvSpPr>
          <p:cNvPr id="12" name="Google Shape;12;p1: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13" name="Google Shape;13;p1: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14" name="Google Shape;14;p1: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5" name="Shape 35"/>
        <p:cNvGrpSpPr/>
        <p:nvPr/>
      </p:nvGrpSpPr>
      <p:grpSpPr>
        <a:xfrm>
          <a:off x="0" y="0"/>
          <a:ext cx="0" cy="0"/>
          <a:chOff x="0" y="0"/>
          <a:chExt cx="0" cy="0"/>
        </a:xfrm>
      </p:grpSpPr>
      <p:sp>
        <p:nvSpPr>
          <p:cNvPr id="36" name="Google Shape;36;p2: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37" name="Google Shape;37;p2: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38" name="Google Shape;38;p2: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6" name="Shape 56"/>
        <p:cNvGrpSpPr/>
        <p:nvPr/>
      </p:nvGrpSpPr>
      <p:grpSpPr>
        <a:xfrm>
          <a:off x="0" y="0"/>
          <a:ext cx="0" cy="0"/>
          <a:chOff x="0" y="0"/>
          <a:chExt cx="0" cy="0"/>
        </a:xfrm>
      </p:grpSpPr>
      <p:sp>
        <p:nvSpPr>
          <p:cNvPr id="57" name="Google Shape;57;p3: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58" name="Google Shape;58;p3: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59" name="Google Shape;59;p3: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63" name="Shape 63"/>
        <p:cNvGrpSpPr/>
        <p:nvPr/>
      </p:nvGrpSpPr>
      <p:grpSpPr>
        <a:xfrm>
          <a:off x="0" y="0"/>
          <a:ext cx="0" cy="0"/>
          <a:chOff x="0" y="0"/>
          <a:chExt cx="0" cy="0"/>
        </a:xfrm>
      </p:grpSpPr>
      <p:sp>
        <p:nvSpPr>
          <p:cNvPr id="64" name="Google Shape;64;p4: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65" name="Google Shape;65;p4: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66" name="Google Shape;66;p4: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84" name="Shape 84"/>
        <p:cNvGrpSpPr/>
        <p:nvPr/>
      </p:nvGrpSpPr>
      <p:grpSpPr>
        <a:xfrm>
          <a:off x="0" y="0"/>
          <a:ext cx="0" cy="0"/>
          <a:chOff x="0" y="0"/>
          <a:chExt cx="0" cy="0"/>
        </a:xfrm>
      </p:grpSpPr>
      <p:sp>
        <p:nvSpPr>
          <p:cNvPr id="85" name="Google Shape;85;p5: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86" name="Google Shape;86;p5: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87" name="Google Shape;87;p5: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15" name="Shape 115"/>
        <p:cNvGrpSpPr/>
        <p:nvPr/>
      </p:nvGrpSpPr>
      <p:grpSpPr>
        <a:xfrm>
          <a:off x="0" y="0"/>
          <a:ext cx="0" cy="0"/>
          <a:chOff x="0" y="0"/>
          <a:chExt cx="0" cy="0"/>
        </a:xfrm>
      </p:grpSpPr>
      <p:sp>
        <p:nvSpPr>
          <p:cNvPr id="116" name="Google Shape;116;g3c5f130be4a_2_0:notes"/>
          <p:cNvSpPr txBox="1"/>
          <p:nvPr>
            <p:ph idx="1" type="body"/>
          </p:nvPr>
        </p:nvSpPr>
        <p:spPr>
          <a:xfrm>
            <a:off x="685800" y="4400550"/>
            <a:ext cx="5486400" cy="360045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117" name="Google Shape;117;g3c5f130be4a_2_0: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24" name="Shape 124"/>
        <p:cNvGrpSpPr/>
        <p:nvPr/>
      </p:nvGrpSpPr>
      <p:grpSpPr>
        <a:xfrm>
          <a:off x="0" y="0"/>
          <a:ext cx="0" cy="0"/>
          <a:chOff x="0" y="0"/>
          <a:chExt cx="0" cy="0"/>
        </a:xfrm>
      </p:grpSpPr>
      <p:sp>
        <p:nvSpPr>
          <p:cNvPr id="125" name="Google Shape;125;g3c5f130be4a_2_9:notes"/>
          <p:cNvSpPr txBox="1"/>
          <p:nvPr>
            <p:ph idx="1" type="body"/>
          </p:nvPr>
        </p:nvSpPr>
        <p:spPr>
          <a:xfrm>
            <a:off x="685800" y="4400550"/>
            <a:ext cx="5486400" cy="360045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126" name="Google Shape;126;g3c5f130be4a_2_9: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44" name="Shape 144"/>
        <p:cNvGrpSpPr/>
        <p:nvPr/>
      </p:nvGrpSpPr>
      <p:grpSpPr>
        <a:xfrm>
          <a:off x="0" y="0"/>
          <a:ext cx="0" cy="0"/>
          <a:chOff x="0" y="0"/>
          <a:chExt cx="0" cy="0"/>
        </a:xfrm>
      </p:grpSpPr>
      <p:sp>
        <p:nvSpPr>
          <p:cNvPr id="145" name="Google Shape;145;p6: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146" name="Google Shape;146;p6: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147" name="Google Shape;147;p6: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79" name="Shape 179"/>
        <p:cNvGrpSpPr/>
        <p:nvPr/>
      </p:nvGrpSpPr>
      <p:grpSpPr>
        <a:xfrm>
          <a:off x="0" y="0"/>
          <a:ext cx="0" cy="0"/>
          <a:chOff x="0" y="0"/>
          <a:chExt cx="0" cy="0"/>
        </a:xfrm>
      </p:grpSpPr>
      <p:sp>
        <p:nvSpPr>
          <p:cNvPr id="180" name="Google Shape;180;p7: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181" name="Google Shape;181;p7: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182" name="Google Shape;182;p7: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1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15" name="Shape 215"/>
        <p:cNvGrpSpPr/>
        <p:nvPr/>
      </p:nvGrpSpPr>
      <p:grpSpPr>
        <a:xfrm>
          <a:off x="0" y="0"/>
          <a:ext cx="0" cy="0"/>
          <a:chOff x="0" y="0"/>
          <a:chExt cx="0" cy="0"/>
        </a:xfrm>
      </p:grpSpPr>
      <p:sp>
        <p:nvSpPr>
          <p:cNvPr id="216" name="Google Shape;216;p8: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217" name="Google Shape;217;p8: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218" name="Google Shape;218;p8: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1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42" name="Shape 242"/>
        <p:cNvGrpSpPr/>
        <p:nvPr/>
      </p:nvGrpSpPr>
      <p:grpSpPr>
        <a:xfrm>
          <a:off x="0" y="0"/>
          <a:ext cx="0" cy="0"/>
          <a:chOff x="0" y="0"/>
          <a:chExt cx="0" cy="0"/>
        </a:xfrm>
      </p:grpSpPr>
      <p:sp>
        <p:nvSpPr>
          <p:cNvPr id="243" name="Google Shape;243;p9: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244" name="Google Shape;244;p9: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245" name="Google Shape;245;p9: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1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78" name="Shape 278"/>
        <p:cNvGrpSpPr/>
        <p:nvPr/>
      </p:nvGrpSpPr>
      <p:grpSpPr>
        <a:xfrm>
          <a:off x="0" y="0"/>
          <a:ext cx="0" cy="0"/>
          <a:chOff x="0" y="0"/>
          <a:chExt cx="0" cy="0"/>
        </a:xfrm>
      </p:grpSpPr>
      <p:sp>
        <p:nvSpPr>
          <p:cNvPr id="279" name="Google Shape;279;p10: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280" name="Google Shape;280;p10: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281" name="Google Shape;281;p10: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DEFAULT">
  <p:cSld name="DEFAULT">
    <p:bg>
      <p:bgPr>
        <a:solidFill>
          <a:schemeClr val="lt1"/>
        </a:solidFill>
      </p:bgPr>
    </p:bg>
    <p:spTree>
      <p:nvGrpSpPr>
        <p:cNvPr id="10" name="Shape 10"/>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theme" Target="../theme/theme2.xml"/></Relationships>
</file>

<file path=ppt/slideMasters/slideMaster1.xml><?xml version="1.0" encoding="utf-8"?>
<p:sld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9" name="Shape 9"/>
        <p:cNvGrpSpPr/>
        <p:nvPr/>
      </p:nvGrpSpPr>
      <p:grpSpPr>
        <a:xfrm>
          <a:off x="0" y="0"/>
          <a:ext cx="0" cy="0"/>
          <a:chOff x="0" y="0"/>
          <a:chExt cx="0" cy="0"/>
        </a:xfrm>
      </p:grpSpPr>
    </p:spTree>
  </p:cSld>
  <p:clrMap accent1="accent1" accent2="accent2" accent3="accent3" accent4="accent4" accent5="accent5" accent6="accent6" bg1="lt1" bg2="dk2" tx1="dk1" tx2="lt2" folHlink="folHlink" hlink="hlink"/>
  <p:sldLayoutIdLst>
    <p:sldLayoutId id="2147483649" r:id="rId1"/>
  </p:sldLayoutIdLst>
  <p:hf dt="0" ftr="0" hdr="0" sldNum="0"/>
  <p:txStyles>
    <p:title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titleStyle>
    <p:body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bodyStyle>
    <p:other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 Id="rId3" Type="http://schemas.openxmlformats.org/officeDocument/2006/relationships/image" Target="../media/image2.png"/><Relationship Id="rId4" Type="http://schemas.openxmlformats.org/officeDocument/2006/relationships/image" Target="../media/image1.png"/><Relationship Id="rId5" Type="http://schemas.openxmlformats.org/officeDocument/2006/relationships/image" Target="../media/image5.png"/><Relationship Id="rId6" Type="http://schemas.openxmlformats.org/officeDocument/2006/relationships/image" Target="../media/image24.png"/><Relationship Id="rId7" Type="http://schemas.openxmlformats.org/officeDocument/2006/relationships/image" Target="../media/image11.png"/></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xml"/><Relationship Id="rId3" Type="http://schemas.openxmlformats.org/officeDocument/2006/relationships/image" Target="../media/image17.jpg"/></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xml"/><Relationship Id="rId3" Type="http://schemas.openxmlformats.org/officeDocument/2006/relationships/image" Target="../media/image3.png"/><Relationship Id="rId4" Type="http://schemas.openxmlformats.org/officeDocument/2006/relationships/image" Target="../media/image15.png"/></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xml"/><Relationship Id="rId3" Type="http://schemas.openxmlformats.org/officeDocument/2006/relationships/image" Target="../media/image4.png"/><Relationship Id="rId4" Type="http://schemas.openxmlformats.org/officeDocument/2006/relationships/image" Target="../media/image6.png"/><Relationship Id="rId5" Type="http://schemas.openxmlformats.org/officeDocument/2006/relationships/image" Target="../media/image9.png"/><Relationship Id="rId6" Type="http://schemas.openxmlformats.org/officeDocument/2006/relationships/image" Target="../media/image7.png"/></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8.xml"/><Relationship Id="rId3" Type="http://schemas.openxmlformats.org/officeDocument/2006/relationships/image" Target="../media/image8.png"/><Relationship Id="rId4" Type="http://schemas.openxmlformats.org/officeDocument/2006/relationships/image" Target="../media/image19.png"/><Relationship Id="rId5" Type="http://schemas.openxmlformats.org/officeDocument/2006/relationships/image" Target="../media/image20.png"/><Relationship Id="rId6" Type="http://schemas.openxmlformats.org/officeDocument/2006/relationships/image" Target="../media/image12.png"/></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9.xml"/><Relationship Id="rId3" Type="http://schemas.openxmlformats.org/officeDocument/2006/relationships/image" Target="../media/image18.png"/></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0.xml"/><Relationship Id="rId3" Type="http://schemas.openxmlformats.org/officeDocument/2006/relationships/image" Target="../media/image22.png"/><Relationship Id="rId4" Type="http://schemas.openxmlformats.org/officeDocument/2006/relationships/image" Target="../media/image23.png"/></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2.xml"/></Relationships>
</file>

<file path=ppt/slides/slide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161616"/>
        </a:solidFill>
      </p:bgPr>
    </p:bg>
    <p:spTree>
      <p:nvGrpSpPr>
        <p:cNvPr id="15" name="Shape 15"/>
        <p:cNvGrpSpPr/>
        <p:nvPr/>
      </p:nvGrpSpPr>
      <p:grpSpPr>
        <a:xfrm>
          <a:off x="0" y="0"/>
          <a:ext cx="0" cy="0"/>
          <a:chOff x="0" y="0"/>
          <a:chExt cx="0" cy="0"/>
        </a:xfrm>
      </p:grpSpPr>
      <p:sp>
        <p:nvSpPr>
          <p:cNvPr id="16" name="Google Shape;16;p1"/>
          <p:cNvSpPr/>
          <p:nvPr/>
        </p:nvSpPr>
        <p:spPr>
          <a:xfrm>
            <a:off x="6583680" y="-1371600"/>
            <a:ext cx="4114800" cy="4114800"/>
          </a:xfrm>
          <a:custGeom>
            <a:rect b="b" l="l" r="r" t="t"/>
            <a:pathLst>
              <a:path extrusionOk="0" h="120000" w="120000">
                <a:moveTo>
                  <a:pt x="0" y="0"/>
                </a:moveTo>
                <a:lnTo>
                  <a:pt x="120000" y="0"/>
                </a:lnTo>
                <a:lnTo>
                  <a:pt x="120000" y="120000"/>
                </a:lnTo>
                <a:lnTo>
                  <a:pt x="0" y="120000"/>
                </a:lnTo>
                <a:close/>
              </a:path>
              <a:path extrusionOk="0" fill="none" h="120000" w="120000">
                <a:moveTo>
                  <a:pt x="-10000" y="0"/>
                </a:moveTo>
                <a:close/>
                <a:lnTo>
                  <a:pt x="-10000" y="120000"/>
                </a:lnTo>
              </a:path>
              <a:path extrusionOk="0" fill="none" h="120000" w="120000">
                <a:moveTo>
                  <a:pt x="-10000" y="22500"/>
                </a:moveTo>
                <a:lnTo>
                  <a:pt x="-46000" y="135000"/>
                </a:lnTo>
              </a:path>
            </a:pathLst>
          </a:custGeom>
          <a:solidFill>
            <a:srgbClr val="B7986A">
              <a:alpha val="9803"/>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7" name="Google Shape;17;p1"/>
          <p:cNvSpPr/>
          <p:nvPr/>
        </p:nvSpPr>
        <p:spPr>
          <a:xfrm>
            <a:off x="-457200" y="3657600"/>
            <a:ext cx="1828800" cy="1828800"/>
          </a:xfrm>
          <a:custGeom>
            <a:rect b="b" l="l" r="r" t="t"/>
            <a:pathLst>
              <a:path extrusionOk="0" h="120000" w="120000">
                <a:moveTo>
                  <a:pt x="0" y="0"/>
                </a:moveTo>
                <a:lnTo>
                  <a:pt x="120000" y="0"/>
                </a:lnTo>
                <a:lnTo>
                  <a:pt x="120000" y="120000"/>
                </a:lnTo>
                <a:lnTo>
                  <a:pt x="0" y="120000"/>
                </a:lnTo>
                <a:close/>
              </a:path>
              <a:path extrusionOk="0" fill="none" h="120000" w="120000">
                <a:moveTo>
                  <a:pt x="-10000" y="0"/>
                </a:moveTo>
                <a:close/>
                <a:lnTo>
                  <a:pt x="-10000" y="120000"/>
                </a:lnTo>
              </a:path>
              <a:path extrusionOk="0" fill="none" h="120000" w="120000">
                <a:moveTo>
                  <a:pt x="-10000" y="22500"/>
                </a:moveTo>
                <a:lnTo>
                  <a:pt x="-46000" y="135000"/>
                </a:lnTo>
              </a:path>
            </a:pathLst>
          </a:custGeom>
          <a:solidFill>
            <a:srgbClr val="1E1E1E">
              <a:alpha val="49803"/>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pic>
        <p:nvPicPr>
          <p:cNvPr descr="preencoded.png" id="18" name="Google Shape;18;p1"/>
          <p:cNvPicPr preferRelativeResize="0"/>
          <p:nvPr/>
        </p:nvPicPr>
        <p:blipFill rotWithShape="1">
          <a:blip r:embed="rId3">
            <a:alphaModFix/>
          </a:blip>
          <a:srcRect b="0" l="0" r="0" t="0"/>
          <a:stretch/>
        </p:blipFill>
        <p:spPr>
          <a:xfrm>
            <a:off x="731520" y="914400"/>
            <a:ext cx="640080" cy="640080"/>
          </a:xfrm>
          <a:prstGeom prst="rect">
            <a:avLst/>
          </a:prstGeom>
          <a:noFill/>
          <a:ln>
            <a:noFill/>
          </a:ln>
        </p:spPr>
      </p:pic>
      <p:sp>
        <p:nvSpPr>
          <p:cNvPr id="19" name="Google Shape;19;p1"/>
          <p:cNvSpPr/>
          <p:nvPr/>
        </p:nvSpPr>
        <p:spPr>
          <a:xfrm>
            <a:off x="731520" y="1600200"/>
            <a:ext cx="6400800" cy="82296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FFFFFF"/>
              </a:buClr>
              <a:buSzPts val="4400"/>
              <a:buFont typeface="Trebuchet MS"/>
              <a:buNone/>
            </a:pPr>
            <a:r>
              <a:rPr b="1" i="0" lang="en-US" sz="4400" u="none" cap="none" strike="noStrike">
                <a:solidFill>
                  <a:srgbClr val="FFFFFF"/>
                </a:solidFill>
                <a:latin typeface="Trebuchet MS"/>
                <a:ea typeface="Trebuchet MS"/>
                <a:cs typeface="Trebuchet MS"/>
                <a:sym typeface="Trebuchet MS"/>
              </a:rPr>
              <a:t>Claude Code</a:t>
            </a:r>
            <a:endParaRPr b="0" i="0" sz="4400" u="none" cap="none" strike="noStrike">
              <a:solidFill>
                <a:schemeClr val="dk1"/>
              </a:solidFill>
              <a:latin typeface="Calibri"/>
              <a:ea typeface="Calibri"/>
              <a:cs typeface="Calibri"/>
              <a:sym typeface="Calibri"/>
            </a:endParaRPr>
          </a:p>
        </p:txBody>
      </p:sp>
      <p:sp>
        <p:nvSpPr>
          <p:cNvPr id="20" name="Google Shape;20;p1"/>
          <p:cNvSpPr/>
          <p:nvPr/>
        </p:nvSpPr>
        <p:spPr>
          <a:xfrm>
            <a:off x="731520" y="2286000"/>
            <a:ext cx="6400800" cy="64008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B7986A"/>
              </a:buClr>
              <a:buSzPts val="3600"/>
              <a:buFont typeface="Trebuchet MS"/>
              <a:buNone/>
            </a:pPr>
            <a:r>
              <a:rPr b="1" i="0" lang="en-US" sz="3600" u="none" cap="none" strike="noStrike">
                <a:solidFill>
                  <a:srgbClr val="B7986A"/>
                </a:solidFill>
                <a:latin typeface="Trebuchet MS"/>
                <a:ea typeface="Trebuchet MS"/>
                <a:cs typeface="Trebuchet MS"/>
                <a:sym typeface="Trebuchet MS"/>
              </a:rPr>
              <a:t>Getting Started</a:t>
            </a:r>
            <a:endParaRPr b="0" i="0" sz="3600" u="none" cap="none" strike="noStrike">
              <a:solidFill>
                <a:schemeClr val="dk1"/>
              </a:solidFill>
              <a:latin typeface="Calibri"/>
              <a:ea typeface="Calibri"/>
              <a:cs typeface="Calibri"/>
              <a:sym typeface="Calibri"/>
            </a:endParaRPr>
          </a:p>
        </p:txBody>
      </p:sp>
      <p:cxnSp>
        <p:nvCxnSpPr>
          <p:cNvPr id="21" name="Google Shape;21;p1"/>
          <p:cNvCxnSpPr/>
          <p:nvPr/>
        </p:nvCxnSpPr>
        <p:spPr>
          <a:xfrm>
            <a:off x="731520" y="3063240"/>
            <a:ext cx="2286000" cy="0"/>
          </a:xfrm>
          <a:prstGeom prst="straightConnector1">
            <a:avLst/>
          </a:prstGeom>
          <a:noFill/>
          <a:ln cap="flat" cmpd="sng" w="31750">
            <a:solidFill>
              <a:srgbClr val="B7986A"/>
            </a:solidFill>
            <a:prstDash val="solid"/>
            <a:round/>
            <a:headEnd len="sm" w="sm" type="none"/>
            <a:tailEnd len="sm" w="sm" type="none"/>
          </a:ln>
        </p:spPr>
      </p:cxnSp>
      <p:sp>
        <p:nvSpPr>
          <p:cNvPr id="22" name="Google Shape;22;p1"/>
          <p:cNvSpPr/>
          <p:nvPr/>
        </p:nvSpPr>
        <p:spPr>
          <a:xfrm>
            <a:off x="731520" y="3246120"/>
            <a:ext cx="5486400" cy="45720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ADB5BD"/>
              </a:buClr>
              <a:buSzPts val="1600"/>
              <a:buFont typeface="Calibri"/>
              <a:buNone/>
            </a:pPr>
            <a:r>
              <a:rPr b="0" i="0" lang="en-US" sz="1600" u="none" cap="none" strike="noStrike">
                <a:solidFill>
                  <a:srgbClr val="ADB5BD"/>
                </a:solidFill>
                <a:latin typeface="Calibri"/>
                <a:ea typeface="Calibri"/>
                <a:cs typeface="Calibri"/>
                <a:sym typeface="Calibri"/>
              </a:rPr>
              <a:t>Production Team Series  |  Part 1 of many</a:t>
            </a:r>
            <a:endParaRPr b="0" i="0" sz="1600" u="none" cap="none" strike="noStrike">
              <a:solidFill>
                <a:schemeClr val="dk1"/>
              </a:solidFill>
              <a:latin typeface="Calibri"/>
              <a:ea typeface="Calibri"/>
              <a:cs typeface="Calibri"/>
              <a:sym typeface="Calibri"/>
            </a:endParaRPr>
          </a:p>
        </p:txBody>
      </p:sp>
      <p:sp>
        <p:nvSpPr>
          <p:cNvPr id="23" name="Google Shape;23;p1"/>
          <p:cNvSpPr/>
          <p:nvPr/>
        </p:nvSpPr>
        <p:spPr>
          <a:xfrm>
            <a:off x="731520" y="3931920"/>
            <a:ext cx="1280160" cy="548640"/>
          </a:xfrm>
          <a:prstGeom prst="rect">
            <a:avLst/>
          </a:prstGeom>
          <a:solidFill>
            <a:srgbClr val="1E1E1E"/>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pic>
        <p:nvPicPr>
          <p:cNvPr descr="preencoded.png" id="24" name="Google Shape;24;p1"/>
          <p:cNvPicPr preferRelativeResize="0"/>
          <p:nvPr/>
        </p:nvPicPr>
        <p:blipFill rotWithShape="1">
          <a:blip r:embed="rId4">
            <a:alphaModFix/>
          </a:blip>
          <a:srcRect b="0" l="0" r="0" t="0"/>
          <a:stretch/>
        </p:blipFill>
        <p:spPr>
          <a:xfrm>
            <a:off x="841248" y="4023360"/>
            <a:ext cx="274320" cy="274320"/>
          </a:xfrm>
          <a:prstGeom prst="rect">
            <a:avLst/>
          </a:prstGeom>
          <a:noFill/>
          <a:ln>
            <a:noFill/>
          </a:ln>
        </p:spPr>
      </p:pic>
      <p:sp>
        <p:nvSpPr>
          <p:cNvPr id="25" name="Google Shape;25;p1"/>
          <p:cNvSpPr/>
          <p:nvPr/>
        </p:nvSpPr>
        <p:spPr>
          <a:xfrm>
            <a:off x="1170432" y="4005072"/>
            <a:ext cx="777240" cy="36576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E8E8E8"/>
              </a:buClr>
              <a:buSzPts val="1000"/>
              <a:buFont typeface="Calibri"/>
              <a:buNone/>
            </a:pPr>
            <a:r>
              <a:rPr b="0" i="0" lang="en-US" sz="1000" u="none" cap="none" strike="noStrike">
                <a:solidFill>
                  <a:srgbClr val="E8E8E8"/>
                </a:solidFill>
                <a:latin typeface="Calibri"/>
                <a:ea typeface="Calibri"/>
                <a:cs typeface="Calibri"/>
                <a:sym typeface="Calibri"/>
              </a:rPr>
              <a:t>Engineers</a:t>
            </a:r>
            <a:endParaRPr b="0" i="0" sz="1000" u="none" cap="none" strike="noStrike">
              <a:solidFill>
                <a:schemeClr val="dk1"/>
              </a:solidFill>
              <a:latin typeface="Calibri"/>
              <a:ea typeface="Calibri"/>
              <a:cs typeface="Calibri"/>
              <a:sym typeface="Calibri"/>
            </a:endParaRPr>
          </a:p>
        </p:txBody>
      </p:sp>
      <p:sp>
        <p:nvSpPr>
          <p:cNvPr id="26" name="Google Shape;26;p1"/>
          <p:cNvSpPr/>
          <p:nvPr/>
        </p:nvSpPr>
        <p:spPr>
          <a:xfrm>
            <a:off x="2194560" y="3931920"/>
            <a:ext cx="1280160" cy="548640"/>
          </a:xfrm>
          <a:prstGeom prst="rect">
            <a:avLst/>
          </a:prstGeom>
          <a:solidFill>
            <a:srgbClr val="1E1E1E"/>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pic>
        <p:nvPicPr>
          <p:cNvPr descr="preencoded.png" id="27" name="Google Shape;27;p1"/>
          <p:cNvPicPr preferRelativeResize="0"/>
          <p:nvPr/>
        </p:nvPicPr>
        <p:blipFill rotWithShape="1">
          <a:blip r:embed="rId5">
            <a:alphaModFix/>
          </a:blip>
          <a:srcRect b="0" l="0" r="0" t="0"/>
          <a:stretch/>
        </p:blipFill>
        <p:spPr>
          <a:xfrm>
            <a:off x="2304288" y="4023360"/>
            <a:ext cx="274320" cy="274320"/>
          </a:xfrm>
          <a:prstGeom prst="rect">
            <a:avLst/>
          </a:prstGeom>
          <a:noFill/>
          <a:ln>
            <a:noFill/>
          </a:ln>
        </p:spPr>
      </p:pic>
      <p:sp>
        <p:nvSpPr>
          <p:cNvPr id="28" name="Google Shape;28;p1"/>
          <p:cNvSpPr/>
          <p:nvPr/>
        </p:nvSpPr>
        <p:spPr>
          <a:xfrm>
            <a:off x="2633472" y="4005072"/>
            <a:ext cx="777240" cy="36576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E8E8E8"/>
              </a:buClr>
              <a:buSzPts val="1000"/>
              <a:buFont typeface="Calibri"/>
              <a:buNone/>
            </a:pPr>
            <a:r>
              <a:rPr b="0" i="0" lang="en-US" sz="1000" u="none" cap="none" strike="noStrike">
                <a:solidFill>
                  <a:srgbClr val="E8E8E8"/>
                </a:solidFill>
                <a:latin typeface="Calibri"/>
                <a:ea typeface="Calibri"/>
                <a:cs typeface="Calibri"/>
                <a:sym typeface="Calibri"/>
              </a:rPr>
              <a:t>Designers</a:t>
            </a:r>
            <a:endParaRPr b="0" i="0" sz="1000" u="none" cap="none" strike="noStrike">
              <a:solidFill>
                <a:schemeClr val="dk1"/>
              </a:solidFill>
              <a:latin typeface="Calibri"/>
              <a:ea typeface="Calibri"/>
              <a:cs typeface="Calibri"/>
              <a:sym typeface="Calibri"/>
            </a:endParaRPr>
          </a:p>
        </p:txBody>
      </p:sp>
      <p:sp>
        <p:nvSpPr>
          <p:cNvPr id="29" name="Google Shape;29;p1"/>
          <p:cNvSpPr/>
          <p:nvPr/>
        </p:nvSpPr>
        <p:spPr>
          <a:xfrm>
            <a:off x="3657600" y="3931920"/>
            <a:ext cx="1280160" cy="548640"/>
          </a:xfrm>
          <a:prstGeom prst="rect">
            <a:avLst/>
          </a:prstGeom>
          <a:solidFill>
            <a:srgbClr val="1E1E1E"/>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pic>
        <p:nvPicPr>
          <p:cNvPr descr="preencoded.png" id="30" name="Google Shape;30;p1"/>
          <p:cNvPicPr preferRelativeResize="0"/>
          <p:nvPr/>
        </p:nvPicPr>
        <p:blipFill rotWithShape="1">
          <a:blip r:embed="rId6">
            <a:alphaModFix/>
          </a:blip>
          <a:srcRect b="0" l="0" r="0" t="0"/>
          <a:stretch/>
        </p:blipFill>
        <p:spPr>
          <a:xfrm>
            <a:off x="3767328" y="4023360"/>
            <a:ext cx="274320" cy="274320"/>
          </a:xfrm>
          <a:prstGeom prst="rect">
            <a:avLst/>
          </a:prstGeom>
          <a:noFill/>
          <a:ln>
            <a:noFill/>
          </a:ln>
        </p:spPr>
      </p:pic>
      <p:sp>
        <p:nvSpPr>
          <p:cNvPr id="31" name="Google Shape;31;p1"/>
          <p:cNvSpPr/>
          <p:nvPr/>
        </p:nvSpPr>
        <p:spPr>
          <a:xfrm>
            <a:off x="4096512" y="4005072"/>
            <a:ext cx="777240" cy="36576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E8E8E8"/>
              </a:buClr>
              <a:buSzPts val="1000"/>
              <a:buFont typeface="Calibri"/>
              <a:buNone/>
            </a:pPr>
            <a:r>
              <a:rPr b="0" i="0" lang="en-US" sz="1000" u="none" cap="none" strike="noStrike">
                <a:solidFill>
                  <a:srgbClr val="E8E8E8"/>
                </a:solidFill>
                <a:latin typeface="Calibri"/>
                <a:ea typeface="Calibri"/>
                <a:cs typeface="Calibri"/>
                <a:sym typeface="Calibri"/>
              </a:rPr>
              <a:t>QA</a:t>
            </a:r>
            <a:endParaRPr b="0" i="0" sz="1000" u="none" cap="none" strike="noStrike">
              <a:solidFill>
                <a:schemeClr val="dk1"/>
              </a:solidFill>
              <a:latin typeface="Calibri"/>
              <a:ea typeface="Calibri"/>
              <a:cs typeface="Calibri"/>
              <a:sym typeface="Calibri"/>
            </a:endParaRPr>
          </a:p>
        </p:txBody>
      </p:sp>
      <p:sp>
        <p:nvSpPr>
          <p:cNvPr id="32" name="Google Shape;32;p1"/>
          <p:cNvSpPr/>
          <p:nvPr/>
        </p:nvSpPr>
        <p:spPr>
          <a:xfrm>
            <a:off x="5120640" y="3931920"/>
            <a:ext cx="1280160" cy="548640"/>
          </a:xfrm>
          <a:prstGeom prst="rect">
            <a:avLst/>
          </a:prstGeom>
          <a:solidFill>
            <a:srgbClr val="1E1E1E"/>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pic>
        <p:nvPicPr>
          <p:cNvPr descr="preencoded.png" id="33" name="Google Shape;33;p1"/>
          <p:cNvPicPr preferRelativeResize="0"/>
          <p:nvPr/>
        </p:nvPicPr>
        <p:blipFill rotWithShape="1">
          <a:blip r:embed="rId7">
            <a:alphaModFix/>
          </a:blip>
          <a:srcRect b="0" l="0" r="0" t="0"/>
          <a:stretch/>
        </p:blipFill>
        <p:spPr>
          <a:xfrm>
            <a:off x="5230368" y="4023360"/>
            <a:ext cx="274320" cy="274320"/>
          </a:xfrm>
          <a:prstGeom prst="rect">
            <a:avLst/>
          </a:prstGeom>
          <a:noFill/>
          <a:ln>
            <a:noFill/>
          </a:ln>
        </p:spPr>
      </p:pic>
      <p:sp>
        <p:nvSpPr>
          <p:cNvPr id="34" name="Google Shape;34;p1"/>
          <p:cNvSpPr/>
          <p:nvPr/>
        </p:nvSpPr>
        <p:spPr>
          <a:xfrm>
            <a:off x="5559552" y="4005072"/>
            <a:ext cx="777240" cy="36576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E8E8E8"/>
              </a:buClr>
              <a:buSzPts val="1000"/>
              <a:buFont typeface="Calibri"/>
              <a:buNone/>
            </a:pPr>
            <a:r>
              <a:rPr b="0" i="0" lang="en-US" sz="1000" u="none" cap="none" strike="noStrike">
                <a:solidFill>
                  <a:srgbClr val="E8E8E8"/>
                </a:solidFill>
                <a:latin typeface="Calibri"/>
                <a:ea typeface="Calibri"/>
                <a:cs typeface="Calibri"/>
                <a:sym typeface="Calibri"/>
              </a:rPr>
              <a:t>PMs</a:t>
            </a:r>
            <a:endParaRPr b="0" i="0" sz="1000" u="none" cap="none" strike="noStrike">
              <a:solidFill>
                <a:schemeClr val="dk1"/>
              </a:solidFill>
              <a:latin typeface="Calibri"/>
              <a:ea typeface="Calibri"/>
              <a:cs typeface="Calibri"/>
              <a:sym typeface="Calibri"/>
            </a:endParaRPr>
          </a:p>
        </p:txBody>
      </p:sp>
    </p:spTree>
  </p:cSld>
  <p:clrMapOvr>
    <a:masterClrMapping/>
  </p:clrMapOvr>
</p:sld>
</file>

<file path=ppt/slides/slide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5F5F5"/>
        </a:solidFill>
      </p:bgPr>
    </p:bg>
    <p:spTree>
      <p:nvGrpSpPr>
        <p:cNvPr id="39" name="Shape 39"/>
        <p:cNvGrpSpPr/>
        <p:nvPr/>
      </p:nvGrpSpPr>
      <p:grpSpPr>
        <a:xfrm>
          <a:off x="0" y="0"/>
          <a:ext cx="0" cy="0"/>
          <a:chOff x="0" y="0"/>
          <a:chExt cx="0" cy="0"/>
        </a:xfrm>
      </p:grpSpPr>
      <p:sp>
        <p:nvSpPr>
          <p:cNvPr id="40" name="Google Shape;40;p2"/>
          <p:cNvSpPr/>
          <p:nvPr/>
        </p:nvSpPr>
        <p:spPr>
          <a:xfrm>
            <a:off x="548640" y="274320"/>
            <a:ext cx="8229600" cy="54864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161616"/>
              </a:buClr>
              <a:buSzPts val="3000"/>
              <a:buFont typeface="Trebuchet MS"/>
              <a:buNone/>
            </a:pPr>
            <a:r>
              <a:rPr b="1" i="0" lang="en-US" sz="3000" u="none" cap="none" strike="noStrike">
                <a:solidFill>
                  <a:srgbClr val="161616"/>
                </a:solidFill>
                <a:latin typeface="Trebuchet MS"/>
                <a:ea typeface="Trebuchet MS"/>
                <a:cs typeface="Trebuchet MS"/>
                <a:sym typeface="Trebuchet MS"/>
              </a:rPr>
              <a:t>Why We're Here</a:t>
            </a:r>
            <a:endParaRPr b="0" i="0" sz="3000" u="none" cap="none" strike="noStrike">
              <a:solidFill>
                <a:schemeClr val="dk1"/>
              </a:solidFill>
              <a:latin typeface="Calibri"/>
              <a:ea typeface="Calibri"/>
              <a:cs typeface="Calibri"/>
              <a:sym typeface="Calibri"/>
            </a:endParaRPr>
          </a:p>
        </p:txBody>
      </p:sp>
      <p:sp>
        <p:nvSpPr>
          <p:cNvPr id="41" name="Google Shape;41;p2"/>
          <p:cNvSpPr/>
          <p:nvPr/>
        </p:nvSpPr>
        <p:spPr>
          <a:xfrm>
            <a:off x="548640" y="960120"/>
            <a:ext cx="8046720" cy="1280160"/>
          </a:xfrm>
          <a:prstGeom prst="rect">
            <a:avLst/>
          </a:prstGeom>
          <a:solidFill>
            <a:srgbClr val="FFFFFF"/>
          </a:solidFill>
          <a:ln>
            <a:noFill/>
          </a:ln>
          <a:effectLst>
            <a:outerShdw blurRad="76200" rotWithShape="0" algn="bl" dir="8100000" dist="25400">
              <a:srgbClr val="000000">
                <a:alpha val="11764"/>
              </a:srgbClr>
            </a:outerShdw>
          </a:effectLst>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2" name="Google Shape;42;p2"/>
          <p:cNvSpPr/>
          <p:nvPr/>
        </p:nvSpPr>
        <p:spPr>
          <a:xfrm>
            <a:off x="548640" y="960120"/>
            <a:ext cx="54864" cy="1280160"/>
          </a:xfrm>
          <a:prstGeom prst="rect">
            <a:avLst/>
          </a:prstGeom>
          <a:solidFill>
            <a:srgbClr val="B7986A"/>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3" name="Google Shape;43;p2"/>
          <p:cNvSpPr/>
          <p:nvPr/>
        </p:nvSpPr>
        <p:spPr>
          <a:xfrm>
            <a:off x="777240" y="1051560"/>
            <a:ext cx="7589520" cy="41148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161616"/>
              </a:buClr>
              <a:buSzPts val="1600"/>
              <a:buFont typeface="Trebuchet MS"/>
              <a:buNone/>
            </a:pPr>
            <a:r>
              <a:rPr b="1" i="0" lang="en-US" sz="1600" u="none" cap="none" strike="noStrike">
                <a:solidFill>
                  <a:srgbClr val="161616"/>
                </a:solidFill>
                <a:latin typeface="Trebuchet MS"/>
                <a:ea typeface="Trebuchet MS"/>
                <a:cs typeface="Trebuchet MS"/>
                <a:sym typeface="Trebuchet MS"/>
              </a:rPr>
              <a:t>2026 Goal: AI-driven development across all production teams.</a:t>
            </a:r>
            <a:endParaRPr b="0" i="0" sz="1600" u="none" cap="none" strike="noStrike">
              <a:solidFill>
                <a:schemeClr val="dk1"/>
              </a:solidFill>
              <a:latin typeface="Calibri"/>
              <a:ea typeface="Calibri"/>
              <a:cs typeface="Calibri"/>
              <a:sym typeface="Calibri"/>
            </a:endParaRPr>
          </a:p>
        </p:txBody>
      </p:sp>
      <p:sp>
        <p:nvSpPr>
          <p:cNvPr id="44" name="Google Shape;44;p2"/>
          <p:cNvSpPr/>
          <p:nvPr/>
        </p:nvSpPr>
        <p:spPr>
          <a:xfrm>
            <a:off x="777240" y="1463040"/>
            <a:ext cx="7589520" cy="32004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6B7280"/>
              </a:buClr>
              <a:buSzPts val="1400"/>
              <a:buFont typeface="Calibri"/>
              <a:buNone/>
            </a:pPr>
            <a:r>
              <a:rPr b="0" i="0" lang="en-US" sz="1400" u="none" cap="none" strike="noStrike">
                <a:solidFill>
                  <a:srgbClr val="6B7280"/>
                </a:solidFill>
                <a:latin typeface="Calibri"/>
                <a:ea typeface="Calibri"/>
                <a:cs typeface="Calibri"/>
                <a:sym typeface="Calibri"/>
              </a:rPr>
              <a:t>Same quality bar. Remove friction. Build the skill together.</a:t>
            </a:r>
            <a:endParaRPr b="0" i="0" sz="1400" u="none" cap="none" strike="noStrike">
              <a:solidFill>
                <a:schemeClr val="dk1"/>
              </a:solidFill>
              <a:latin typeface="Calibri"/>
              <a:ea typeface="Calibri"/>
              <a:cs typeface="Calibri"/>
              <a:sym typeface="Calibri"/>
            </a:endParaRPr>
          </a:p>
        </p:txBody>
      </p:sp>
      <p:sp>
        <p:nvSpPr>
          <p:cNvPr id="45" name="Google Shape;45;p2"/>
          <p:cNvSpPr/>
          <p:nvPr/>
        </p:nvSpPr>
        <p:spPr>
          <a:xfrm>
            <a:off x="777240" y="1828800"/>
            <a:ext cx="7589520" cy="32004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6B7280"/>
              </a:buClr>
              <a:buSzPts val="1300"/>
              <a:buFont typeface="Calibri"/>
              <a:buNone/>
            </a:pPr>
            <a:r>
              <a:rPr b="0" i="1" lang="en-US" sz="1300" u="none" cap="none" strike="noStrike">
                <a:solidFill>
                  <a:srgbClr val="6B7280"/>
                </a:solidFill>
                <a:latin typeface="Calibri"/>
                <a:ea typeface="Calibri"/>
                <a:cs typeface="Calibri"/>
                <a:sym typeface="Calibri"/>
              </a:rPr>
              <a:t>The models have the horsepower. If outcomes aren't there, it's because we haven't built the skill yet.</a:t>
            </a:r>
            <a:endParaRPr b="0" i="0" sz="1300" u="none" cap="none" strike="noStrike">
              <a:solidFill>
                <a:schemeClr val="dk1"/>
              </a:solidFill>
              <a:latin typeface="Calibri"/>
              <a:ea typeface="Calibri"/>
              <a:cs typeface="Calibri"/>
              <a:sym typeface="Calibri"/>
            </a:endParaRPr>
          </a:p>
        </p:txBody>
      </p:sp>
      <p:sp>
        <p:nvSpPr>
          <p:cNvPr id="46" name="Google Shape;46;p2"/>
          <p:cNvSpPr/>
          <p:nvPr/>
        </p:nvSpPr>
        <p:spPr>
          <a:xfrm>
            <a:off x="548640" y="2468880"/>
            <a:ext cx="8229600" cy="32004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161616"/>
              </a:buClr>
              <a:buSzPts val="1400"/>
              <a:buFont typeface="Trebuchet MS"/>
              <a:buNone/>
            </a:pPr>
            <a:r>
              <a:rPr b="1" i="0" lang="en-US" sz="1400" u="none" cap="none" strike="noStrike">
                <a:solidFill>
                  <a:srgbClr val="161616"/>
                </a:solidFill>
                <a:latin typeface="Trebuchet MS"/>
                <a:ea typeface="Trebuchet MS"/>
                <a:cs typeface="Trebuchet MS"/>
                <a:sym typeface="Trebuchet MS"/>
              </a:rPr>
              <a:t>Two things to internalize:</a:t>
            </a:r>
            <a:endParaRPr b="0" i="0" sz="1400" u="none" cap="none" strike="noStrike">
              <a:solidFill>
                <a:schemeClr val="dk1"/>
              </a:solidFill>
              <a:latin typeface="Calibri"/>
              <a:ea typeface="Calibri"/>
              <a:cs typeface="Calibri"/>
              <a:sym typeface="Calibri"/>
            </a:endParaRPr>
          </a:p>
        </p:txBody>
      </p:sp>
      <p:sp>
        <p:nvSpPr>
          <p:cNvPr id="47" name="Google Shape;47;p2"/>
          <p:cNvSpPr/>
          <p:nvPr/>
        </p:nvSpPr>
        <p:spPr>
          <a:xfrm>
            <a:off x="548640" y="2834640"/>
            <a:ext cx="3886200" cy="1554480"/>
          </a:xfrm>
          <a:prstGeom prst="rect">
            <a:avLst/>
          </a:prstGeom>
          <a:solidFill>
            <a:srgbClr val="FFFFFF"/>
          </a:solidFill>
          <a:ln>
            <a:noFill/>
          </a:ln>
          <a:effectLst>
            <a:outerShdw blurRad="76200" rotWithShape="0" algn="bl" dir="8100000" dist="25400">
              <a:srgbClr val="000000">
                <a:alpha val="11764"/>
              </a:srgbClr>
            </a:outerShdw>
          </a:effectLst>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8" name="Google Shape;48;p2"/>
          <p:cNvSpPr/>
          <p:nvPr/>
        </p:nvSpPr>
        <p:spPr>
          <a:xfrm>
            <a:off x="731520" y="2926080"/>
            <a:ext cx="3566160" cy="36576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161616"/>
              </a:buClr>
              <a:buSzPts val="1400"/>
              <a:buFont typeface="Trebuchet MS"/>
              <a:buNone/>
            </a:pPr>
            <a:r>
              <a:rPr b="1" i="0" lang="en-US" sz="1400" u="none" cap="none" strike="noStrike">
                <a:solidFill>
                  <a:srgbClr val="161616"/>
                </a:solidFill>
                <a:latin typeface="Trebuchet MS"/>
                <a:ea typeface="Trebuchet MS"/>
                <a:cs typeface="Trebuchet MS"/>
                <a:sym typeface="Trebuchet MS"/>
              </a:rPr>
              <a:t>This isn't optional</a:t>
            </a:r>
            <a:endParaRPr b="0" i="0" sz="1400" u="none" cap="none" strike="noStrike">
              <a:solidFill>
                <a:schemeClr val="dk1"/>
              </a:solidFill>
              <a:latin typeface="Calibri"/>
              <a:ea typeface="Calibri"/>
              <a:cs typeface="Calibri"/>
              <a:sym typeface="Calibri"/>
            </a:endParaRPr>
          </a:p>
        </p:txBody>
      </p:sp>
      <p:sp>
        <p:nvSpPr>
          <p:cNvPr id="49" name="Google Shape;49;p2"/>
          <p:cNvSpPr/>
          <p:nvPr/>
        </p:nvSpPr>
        <p:spPr>
          <a:xfrm>
            <a:off x="731520" y="3337560"/>
            <a:ext cx="3566160" cy="822960"/>
          </a:xfrm>
          <a:prstGeom prst="rect">
            <a:avLst/>
          </a:prstGeom>
          <a:noFill/>
          <a:ln>
            <a:noFill/>
          </a:ln>
        </p:spPr>
        <p:txBody>
          <a:bodyPr anchorCtr="0" anchor="ctr" bIns="0" lIns="0" spcFirstLastPara="1" rIns="0" wrap="square" tIns="0">
            <a:noAutofit/>
          </a:bodyPr>
          <a:lstStyle/>
          <a:p>
            <a:pPr indent="0" lvl="0" marL="0" marR="0" rtl="0" algn="l">
              <a:lnSpc>
                <a:spcPct val="130000"/>
              </a:lnSpc>
              <a:spcBef>
                <a:spcPts val="0"/>
              </a:spcBef>
              <a:spcAft>
                <a:spcPts val="0"/>
              </a:spcAft>
              <a:buClr>
                <a:srgbClr val="6B7280"/>
              </a:buClr>
              <a:buSzPts val="1200"/>
              <a:buFont typeface="Calibri"/>
              <a:buNone/>
            </a:pPr>
            <a:r>
              <a:rPr b="0" i="0" lang="en-US" sz="1200" u="none" cap="none" strike="noStrike">
                <a:solidFill>
                  <a:srgbClr val="6B7280"/>
                </a:solidFill>
                <a:latin typeface="Calibri"/>
                <a:ea typeface="Calibri"/>
                <a:cs typeface="Calibri"/>
                <a:sym typeface="Calibri"/>
              </a:rPr>
              <a:t>The industry is shifting. If we don't adapt, it will leave us behind </a:t>
            </a:r>
            <a:r>
              <a:rPr lang="en-US" sz="1200">
                <a:solidFill>
                  <a:srgbClr val="6B7280"/>
                </a:solidFill>
                <a:latin typeface="Calibri"/>
                <a:ea typeface="Calibri"/>
                <a:cs typeface="Calibri"/>
                <a:sym typeface="Calibri"/>
              </a:rPr>
              <a:t>-</a:t>
            </a:r>
            <a:r>
              <a:rPr b="0" i="0" lang="en-US" sz="1200" u="none" cap="none" strike="noStrike">
                <a:solidFill>
                  <a:srgbClr val="6B7280"/>
                </a:solidFill>
                <a:latin typeface="Calibri"/>
                <a:ea typeface="Calibri"/>
                <a:cs typeface="Calibri"/>
                <a:sym typeface="Calibri"/>
              </a:rPr>
              <a:t> as a company and individually in our careers.</a:t>
            </a:r>
            <a:endParaRPr b="0" i="0" sz="1200" u="none" cap="none" strike="noStrike">
              <a:solidFill>
                <a:schemeClr val="dk1"/>
              </a:solidFill>
              <a:latin typeface="Calibri"/>
              <a:ea typeface="Calibri"/>
              <a:cs typeface="Calibri"/>
              <a:sym typeface="Calibri"/>
            </a:endParaRPr>
          </a:p>
        </p:txBody>
      </p:sp>
      <p:sp>
        <p:nvSpPr>
          <p:cNvPr id="50" name="Google Shape;50;p2"/>
          <p:cNvSpPr/>
          <p:nvPr/>
        </p:nvSpPr>
        <p:spPr>
          <a:xfrm>
            <a:off x="4709160" y="2834640"/>
            <a:ext cx="3886200" cy="1554480"/>
          </a:xfrm>
          <a:prstGeom prst="rect">
            <a:avLst/>
          </a:prstGeom>
          <a:solidFill>
            <a:srgbClr val="FFFFFF"/>
          </a:solidFill>
          <a:ln>
            <a:noFill/>
          </a:ln>
          <a:effectLst>
            <a:outerShdw blurRad="76200" rotWithShape="0" algn="bl" dir="8100000" dist="25400">
              <a:srgbClr val="000000">
                <a:alpha val="11764"/>
              </a:srgbClr>
            </a:outerShdw>
          </a:effectLst>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1" name="Google Shape;51;p2"/>
          <p:cNvSpPr/>
          <p:nvPr/>
        </p:nvSpPr>
        <p:spPr>
          <a:xfrm>
            <a:off x="4892040" y="2926080"/>
            <a:ext cx="3566160" cy="36576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161616"/>
              </a:buClr>
              <a:buSzPts val="1400"/>
              <a:buFont typeface="Trebuchet MS"/>
              <a:buNone/>
            </a:pPr>
            <a:r>
              <a:rPr b="1" i="0" lang="en-US" sz="1400" u="none" cap="none" strike="noStrike">
                <a:solidFill>
                  <a:srgbClr val="161616"/>
                </a:solidFill>
                <a:latin typeface="Trebuchet MS"/>
                <a:ea typeface="Trebuchet MS"/>
                <a:cs typeface="Trebuchet MS"/>
                <a:sym typeface="Trebuchet MS"/>
              </a:rPr>
              <a:t>Identity shift</a:t>
            </a:r>
            <a:endParaRPr b="0" i="0" sz="1400" u="none" cap="none" strike="noStrike">
              <a:solidFill>
                <a:schemeClr val="dk1"/>
              </a:solidFill>
              <a:latin typeface="Calibri"/>
              <a:ea typeface="Calibri"/>
              <a:cs typeface="Calibri"/>
              <a:sym typeface="Calibri"/>
            </a:endParaRPr>
          </a:p>
        </p:txBody>
      </p:sp>
      <p:sp>
        <p:nvSpPr>
          <p:cNvPr id="52" name="Google Shape;52;p2"/>
          <p:cNvSpPr/>
          <p:nvPr/>
        </p:nvSpPr>
        <p:spPr>
          <a:xfrm>
            <a:off x="4892040" y="3337560"/>
            <a:ext cx="3566160" cy="914400"/>
          </a:xfrm>
          <a:prstGeom prst="rect">
            <a:avLst/>
          </a:prstGeom>
          <a:noFill/>
          <a:ln>
            <a:noFill/>
          </a:ln>
        </p:spPr>
        <p:txBody>
          <a:bodyPr anchorCtr="0" anchor="ctr" bIns="0" lIns="0" spcFirstLastPara="1" rIns="0" wrap="square" tIns="0">
            <a:noAutofit/>
          </a:bodyPr>
          <a:lstStyle/>
          <a:p>
            <a:pPr indent="0" lvl="0" marL="0" marR="0" rtl="0" algn="l">
              <a:lnSpc>
                <a:spcPct val="130000"/>
              </a:lnSpc>
              <a:spcBef>
                <a:spcPts val="0"/>
              </a:spcBef>
              <a:spcAft>
                <a:spcPts val="0"/>
              </a:spcAft>
              <a:buClr>
                <a:srgbClr val="6B7280"/>
              </a:buClr>
              <a:buSzPts val="1200"/>
              <a:buFont typeface="Calibri"/>
              <a:buNone/>
            </a:pPr>
            <a:r>
              <a:rPr b="0" i="0" lang="en-US" sz="1200" u="none" cap="none" strike="noStrike">
                <a:solidFill>
                  <a:srgbClr val="6B7280"/>
                </a:solidFill>
                <a:latin typeface="Calibri"/>
                <a:ea typeface="Calibri"/>
                <a:cs typeface="Calibri"/>
                <a:sym typeface="Calibri"/>
              </a:rPr>
              <a:t>Many of us enjoy writing code </a:t>
            </a:r>
            <a:r>
              <a:rPr lang="en-US" sz="1200">
                <a:solidFill>
                  <a:srgbClr val="6B7280"/>
                </a:solidFill>
                <a:latin typeface="Calibri"/>
                <a:ea typeface="Calibri"/>
                <a:cs typeface="Calibri"/>
                <a:sym typeface="Calibri"/>
              </a:rPr>
              <a:t>-</a:t>
            </a:r>
            <a:r>
              <a:rPr b="0" i="0" lang="en-US" sz="1200" u="none" cap="none" strike="noStrike">
                <a:solidFill>
                  <a:srgbClr val="6B7280"/>
                </a:solidFill>
                <a:latin typeface="Calibri"/>
                <a:ea typeface="Calibri"/>
                <a:cs typeface="Calibri"/>
                <a:sym typeface="Calibri"/>
              </a:rPr>
              <a:t> it's a craft. But the value is shifting: problem-solving and planning are becoming the core skill. Code is the medium, not the craft.</a:t>
            </a:r>
            <a:endParaRPr b="0" i="0" sz="1200" u="none" cap="none" strike="noStrike">
              <a:solidFill>
                <a:schemeClr val="dk1"/>
              </a:solidFill>
              <a:latin typeface="Calibri"/>
              <a:ea typeface="Calibri"/>
              <a:cs typeface="Calibri"/>
              <a:sym typeface="Calibri"/>
            </a:endParaRPr>
          </a:p>
        </p:txBody>
      </p:sp>
      <p:cxnSp>
        <p:nvCxnSpPr>
          <p:cNvPr id="53" name="Google Shape;53;p2"/>
          <p:cNvCxnSpPr/>
          <p:nvPr/>
        </p:nvCxnSpPr>
        <p:spPr>
          <a:xfrm>
            <a:off x="457200" y="4892040"/>
            <a:ext cx="8229600" cy="0"/>
          </a:xfrm>
          <a:prstGeom prst="straightConnector1">
            <a:avLst/>
          </a:prstGeom>
          <a:noFill/>
          <a:ln cap="flat" cmpd="sng" w="9525">
            <a:solidFill>
              <a:srgbClr val="B7986A"/>
            </a:solidFill>
            <a:prstDash val="solid"/>
            <a:round/>
            <a:headEnd len="sm" w="sm" type="none"/>
            <a:tailEnd len="sm" w="sm" type="none"/>
          </a:ln>
        </p:spPr>
      </p:cxnSp>
      <p:sp>
        <p:nvSpPr>
          <p:cNvPr id="54" name="Google Shape;54;p2"/>
          <p:cNvSpPr/>
          <p:nvPr/>
        </p:nvSpPr>
        <p:spPr>
          <a:xfrm>
            <a:off x="457200" y="4892040"/>
            <a:ext cx="6400800" cy="22860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ADB5BD"/>
              </a:buClr>
              <a:buSzPts val="800"/>
              <a:buFont typeface="Calibri"/>
              <a:buNone/>
            </a:pPr>
            <a:r>
              <a:rPr b="0" i="0" lang="en-US" sz="800" u="none" cap="none" strike="noStrike">
                <a:solidFill>
                  <a:srgbClr val="ADB5BD"/>
                </a:solidFill>
                <a:latin typeface="Calibri"/>
                <a:ea typeface="Calibri"/>
                <a:cs typeface="Calibri"/>
                <a:sym typeface="Calibri"/>
              </a:rPr>
              <a:t>Claude Code  |  Ravn Production Team  |  Part 1</a:t>
            </a:r>
            <a:endParaRPr b="0" i="0" sz="800" u="none" cap="none" strike="noStrike">
              <a:solidFill>
                <a:schemeClr val="dk1"/>
              </a:solidFill>
              <a:latin typeface="Calibri"/>
              <a:ea typeface="Calibri"/>
              <a:cs typeface="Calibri"/>
              <a:sym typeface="Calibri"/>
            </a:endParaRPr>
          </a:p>
        </p:txBody>
      </p:sp>
      <p:sp>
        <p:nvSpPr>
          <p:cNvPr id="55" name="Google Shape;55;p2"/>
          <p:cNvSpPr/>
          <p:nvPr/>
        </p:nvSpPr>
        <p:spPr>
          <a:xfrm>
            <a:off x="7772400" y="4892040"/>
            <a:ext cx="914400" cy="228600"/>
          </a:xfrm>
          <a:prstGeom prst="rect">
            <a:avLst/>
          </a:prstGeom>
          <a:noFill/>
          <a:ln>
            <a:noFill/>
          </a:ln>
        </p:spPr>
        <p:txBody>
          <a:bodyPr anchorCtr="0" anchor="ctr" bIns="0" lIns="0" spcFirstLastPara="1" rIns="0" wrap="square" tIns="0">
            <a:noAutofit/>
          </a:bodyPr>
          <a:lstStyle/>
          <a:p>
            <a:pPr indent="0" lvl="0" marL="0" marR="0" rtl="0" algn="r">
              <a:spcBef>
                <a:spcPts val="0"/>
              </a:spcBef>
              <a:spcAft>
                <a:spcPts val="0"/>
              </a:spcAft>
              <a:buClr>
                <a:srgbClr val="ADB5BD"/>
              </a:buClr>
              <a:buSzPts val="800"/>
              <a:buFont typeface="Calibri"/>
              <a:buNone/>
            </a:pPr>
            <a:r>
              <a:rPr b="0" i="0" lang="en-US" sz="800" u="none" cap="none" strike="noStrike">
                <a:solidFill>
                  <a:srgbClr val="ADB5BD"/>
                </a:solidFill>
                <a:latin typeface="Calibri"/>
                <a:ea typeface="Calibri"/>
                <a:cs typeface="Calibri"/>
                <a:sym typeface="Calibri"/>
              </a:rPr>
              <a:t>2</a:t>
            </a:r>
            <a:endParaRPr b="0" i="0" sz="800" u="none" cap="none" strike="noStrike">
              <a:solidFill>
                <a:schemeClr val="dk1"/>
              </a:solidFill>
              <a:latin typeface="Calibri"/>
              <a:ea typeface="Calibri"/>
              <a:cs typeface="Calibri"/>
              <a:sym typeface="Calibri"/>
            </a:endParaRPr>
          </a:p>
        </p:txBody>
      </p:sp>
    </p:spTree>
  </p:cSld>
  <p:clrMapOvr>
    <a:masterClrMapping/>
  </p:clrMapOvr>
</p:sld>
</file>

<file path=ppt/slides/slide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161616"/>
        </a:solidFill>
      </p:bgPr>
    </p:bg>
    <p:spTree>
      <p:nvGrpSpPr>
        <p:cNvPr id="60" name="Shape 60"/>
        <p:cNvGrpSpPr/>
        <p:nvPr/>
      </p:nvGrpSpPr>
      <p:grpSpPr>
        <a:xfrm>
          <a:off x="0" y="0"/>
          <a:ext cx="0" cy="0"/>
          <a:chOff x="0" y="0"/>
          <a:chExt cx="0" cy="0"/>
        </a:xfrm>
      </p:grpSpPr>
      <p:pic>
        <p:nvPicPr>
          <p:cNvPr descr="preencoded.png" id="61" name="Google Shape;61;p3"/>
          <p:cNvPicPr preferRelativeResize="0"/>
          <p:nvPr/>
        </p:nvPicPr>
        <p:blipFill rotWithShape="1">
          <a:blip r:embed="rId3">
            <a:alphaModFix/>
          </a:blip>
          <a:srcRect b="0" l="0" r="0" t="0"/>
          <a:stretch/>
        </p:blipFill>
        <p:spPr>
          <a:xfrm>
            <a:off x="1371600" y="365760"/>
            <a:ext cx="6400800" cy="4023360"/>
          </a:xfrm>
          <a:prstGeom prst="rect">
            <a:avLst/>
          </a:prstGeom>
          <a:noFill/>
          <a:ln>
            <a:noFill/>
          </a:ln>
        </p:spPr>
      </p:pic>
      <p:sp>
        <p:nvSpPr>
          <p:cNvPr id="62" name="Google Shape;62;p3"/>
          <p:cNvSpPr/>
          <p:nvPr/>
        </p:nvSpPr>
        <p:spPr>
          <a:xfrm>
            <a:off x="457200" y="4572000"/>
            <a:ext cx="8229600" cy="365760"/>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rgbClr val="ADB5BD"/>
              </a:buClr>
              <a:buSzPts val="1400"/>
              <a:buFont typeface="Calibri"/>
              <a:buNone/>
            </a:pPr>
            <a:r>
              <a:rPr b="0" i="1" lang="en-US" sz="1400" u="none" cap="none" strike="noStrike">
                <a:solidFill>
                  <a:srgbClr val="ADB5BD"/>
                </a:solidFill>
                <a:latin typeface="Calibri"/>
                <a:ea typeface="Calibri"/>
                <a:cs typeface="Calibri"/>
                <a:sym typeface="Calibri"/>
              </a:rPr>
              <a:t>It's always been about problem-solving. We just had to type the code before.</a:t>
            </a:r>
            <a:endParaRPr b="0" i="0" sz="1400" u="none" cap="none" strike="noStrike">
              <a:solidFill>
                <a:schemeClr val="dk1"/>
              </a:solidFill>
              <a:latin typeface="Calibri"/>
              <a:ea typeface="Calibri"/>
              <a:cs typeface="Calibri"/>
              <a:sym typeface="Calibri"/>
            </a:endParaRPr>
          </a:p>
        </p:txBody>
      </p:sp>
    </p:spTree>
  </p:cSld>
  <p:clrMapOvr>
    <a:masterClrMapping/>
  </p:clrMapOvr>
</p:sld>
</file>

<file path=ppt/slides/slide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5F5F5"/>
        </a:solidFill>
      </p:bgPr>
    </p:bg>
    <p:spTree>
      <p:nvGrpSpPr>
        <p:cNvPr id="67" name="Shape 67"/>
        <p:cNvGrpSpPr/>
        <p:nvPr/>
      </p:nvGrpSpPr>
      <p:grpSpPr>
        <a:xfrm>
          <a:off x="0" y="0"/>
          <a:ext cx="0" cy="0"/>
          <a:chOff x="0" y="0"/>
          <a:chExt cx="0" cy="0"/>
        </a:xfrm>
      </p:grpSpPr>
      <p:sp>
        <p:nvSpPr>
          <p:cNvPr id="68" name="Google Shape;68;p4"/>
          <p:cNvSpPr/>
          <p:nvPr/>
        </p:nvSpPr>
        <p:spPr>
          <a:xfrm>
            <a:off x="548640" y="274320"/>
            <a:ext cx="8229600" cy="54864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161616"/>
              </a:buClr>
              <a:buSzPts val="3000"/>
              <a:buFont typeface="Trebuchet MS"/>
              <a:buNone/>
            </a:pPr>
            <a:r>
              <a:rPr b="1" i="0" lang="en-US" sz="3000" u="none" cap="none" strike="noStrike">
                <a:solidFill>
                  <a:srgbClr val="161616"/>
                </a:solidFill>
                <a:latin typeface="Trebuchet MS"/>
                <a:ea typeface="Trebuchet MS"/>
                <a:cs typeface="Trebuchet MS"/>
                <a:sym typeface="Trebuchet MS"/>
              </a:rPr>
              <a:t>The Discomfort Is Real</a:t>
            </a:r>
            <a:endParaRPr b="0" i="0" sz="3000" u="none" cap="none" strike="noStrike">
              <a:solidFill>
                <a:schemeClr val="dk1"/>
              </a:solidFill>
              <a:latin typeface="Calibri"/>
              <a:ea typeface="Calibri"/>
              <a:cs typeface="Calibri"/>
              <a:sym typeface="Calibri"/>
            </a:endParaRPr>
          </a:p>
        </p:txBody>
      </p:sp>
      <p:sp>
        <p:nvSpPr>
          <p:cNvPr id="69" name="Google Shape;69;p4"/>
          <p:cNvSpPr/>
          <p:nvPr/>
        </p:nvSpPr>
        <p:spPr>
          <a:xfrm>
            <a:off x="548640" y="777240"/>
            <a:ext cx="8229600" cy="32004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6B7280"/>
              </a:buClr>
              <a:buSzPts val="1400"/>
              <a:buFont typeface="Calibri"/>
              <a:buNone/>
            </a:pPr>
            <a:r>
              <a:rPr b="0" i="0" lang="en-US" sz="1400" u="none" cap="none" strike="noStrike">
                <a:solidFill>
                  <a:srgbClr val="6B7280"/>
                </a:solidFill>
                <a:latin typeface="Calibri"/>
                <a:ea typeface="Calibri"/>
                <a:cs typeface="Calibri"/>
                <a:sym typeface="Calibri"/>
              </a:rPr>
              <a:t>But it's temporary — if you push through.</a:t>
            </a:r>
            <a:endParaRPr b="0" i="0" sz="1400" u="none" cap="none" strike="noStrike">
              <a:solidFill>
                <a:schemeClr val="dk1"/>
              </a:solidFill>
              <a:latin typeface="Calibri"/>
              <a:ea typeface="Calibri"/>
              <a:cs typeface="Calibri"/>
              <a:sym typeface="Calibri"/>
            </a:endParaRPr>
          </a:p>
        </p:txBody>
      </p:sp>
      <p:sp>
        <p:nvSpPr>
          <p:cNvPr id="70" name="Google Shape;70;p4"/>
          <p:cNvSpPr/>
          <p:nvPr/>
        </p:nvSpPr>
        <p:spPr>
          <a:xfrm>
            <a:off x="548640" y="1280160"/>
            <a:ext cx="8046720" cy="1828800"/>
          </a:xfrm>
          <a:prstGeom prst="rect">
            <a:avLst/>
          </a:prstGeom>
          <a:solidFill>
            <a:srgbClr val="FFFFFF"/>
          </a:solidFill>
          <a:ln>
            <a:noFill/>
          </a:ln>
          <a:effectLst>
            <a:outerShdw blurRad="76200" rotWithShape="0" algn="bl" dir="8100000" dist="25400">
              <a:srgbClr val="000000">
                <a:alpha val="11764"/>
              </a:srgbClr>
            </a:outerShdw>
          </a:effectLst>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1" name="Google Shape;71;p4"/>
          <p:cNvSpPr/>
          <p:nvPr/>
        </p:nvSpPr>
        <p:spPr>
          <a:xfrm>
            <a:off x="548640" y="1280160"/>
            <a:ext cx="54864" cy="1828800"/>
          </a:xfrm>
          <a:prstGeom prst="rect">
            <a:avLst/>
          </a:prstGeom>
          <a:solidFill>
            <a:srgbClr val="B7986A"/>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pic>
        <p:nvPicPr>
          <p:cNvPr descr="preencoded.png" id="72" name="Google Shape;72;p4"/>
          <p:cNvPicPr preferRelativeResize="0"/>
          <p:nvPr/>
        </p:nvPicPr>
        <p:blipFill rotWithShape="1">
          <a:blip r:embed="rId3">
            <a:alphaModFix/>
          </a:blip>
          <a:srcRect b="0" l="0" r="0" t="0"/>
          <a:stretch/>
        </p:blipFill>
        <p:spPr>
          <a:xfrm>
            <a:off x="777240" y="1463040"/>
            <a:ext cx="457200" cy="457200"/>
          </a:xfrm>
          <a:prstGeom prst="rect">
            <a:avLst/>
          </a:prstGeom>
          <a:noFill/>
          <a:ln>
            <a:noFill/>
          </a:ln>
        </p:spPr>
      </p:pic>
      <p:sp>
        <p:nvSpPr>
          <p:cNvPr id="73" name="Google Shape;73;p4"/>
          <p:cNvSpPr/>
          <p:nvPr/>
        </p:nvSpPr>
        <p:spPr>
          <a:xfrm>
            <a:off x="1371600" y="1417320"/>
            <a:ext cx="7040880" cy="41148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161616"/>
              </a:buClr>
              <a:buSzPts val="1600"/>
              <a:buFont typeface="Trebuchet MS"/>
              <a:buNone/>
            </a:pPr>
            <a:r>
              <a:rPr b="1" i="0" lang="en-US" sz="1600" u="none" cap="none" strike="noStrike">
                <a:solidFill>
                  <a:srgbClr val="161616"/>
                </a:solidFill>
                <a:latin typeface="Trebuchet MS"/>
                <a:ea typeface="Trebuchet MS"/>
                <a:cs typeface="Trebuchet MS"/>
                <a:sym typeface="Trebuchet MS"/>
              </a:rPr>
              <a:t>It's like switching to a completely new editor</a:t>
            </a:r>
            <a:endParaRPr b="0" i="0" sz="1600" u="none" cap="none" strike="noStrike">
              <a:solidFill>
                <a:schemeClr val="dk1"/>
              </a:solidFill>
              <a:latin typeface="Calibri"/>
              <a:ea typeface="Calibri"/>
              <a:cs typeface="Calibri"/>
              <a:sym typeface="Calibri"/>
            </a:endParaRPr>
          </a:p>
        </p:txBody>
      </p:sp>
      <p:sp>
        <p:nvSpPr>
          <p:cNvPr id="74" name="Google Shape;74;p4"/>
          <p:cNvSpPr/>
          <p:nvPr/>
        </p:nvSpPr>
        <p:spPr>
          <a:xfrm>
            <a:off x="1371600" y="1874520"/>
            <a:ext cx="7040880" cy="45720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6B7280"/>
              </a:buClr>
              <a:buSzPts val="1400"/>
              <a:buFont typeface="Calibri"/>
              <a:buNone/>
            </a:pPr>
            <a:r>
              <a:rPr b="0" i="0" lang="en-US" sz="1400" u="none" cap="none" strike="noStrike">
                <a:solidFill>
                  <a:srgbClr val="6B7280"/>
                </a:solidFill>
                <a:latin typeface="Calibri"/>
                <a:ea typeface="Calibri"/>
                <a:cs typeface="Calibri"/>
                <a:sym typeface="Calibri"/>
              </a:rPr>
              <a:t>None of your shortcuts work. You feel slow. You feel annoyed. You wonder if it's even worth it.</a:t>
            </a:r>
            <a:endParaRPr b="0" i="0" sz="1400" u="none" cap="none" strike="noStrike">
              <a:solidFill>
                <a:schemeClr val="dk1"/>
              </a:solidFill>
              <a:latin typeface="Calibri"/>
              <a:ea typeface="Calibri"/>
              <a:cs typeface="Calibri"/>
              <a:sym typeface="Calibri"/>
            </a:endParaRPr>
          </a:p>
        </p:txBody>
      </p:sp>
      <p:sp>
        <p:nvSpPr>
          <p:cNvPr id="75" name="Google Shape;75;p4"/>
          <p:cNvSpPr/>
          <p:nvPr/>
        </p:nvSpPr>
        <p:spPr>
          <a:xfrm>
            <a:off x="1371600" y="2377440"/>
            <a:ext cx="7040880" cy="36576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161616"/>
              </a:buClr>
              <a:buSzPts val="1400"/>
              <a:buFont typeface="Calibri"/>
              <a:buNone/>
            </a:pPr>
            <a:r>
              <a:rPr b="1" i="0" lang="en-US" sz="1400" u="none" cap="none" strike="noStrike">
                <a:solidFill>
                  <a:srgbClr val="161616"/>
                </a:solidFill>
                <a:latin typeface="Calibri"/>
                <a:ea typeface="Calibri"/>
                <a:cs typeface="Calibri"/>
                <a:sym typeface="Calibri"/>
              </a:rPr>
              <a:t>But if you push through, you unlock speed you didn't have before.</a:t>
            </a:r>
            <a:endParaRPr b="0" i="0" sz="1400" u="none" cap="none" strike="noStrike">
              <a:solidFill>
                <a:schemeClr val="dk1"/>
              </a:solidFill>
              <a:latin typeface="Calibri"/>
              <a:ea typeface="Calibri"/>
              <a:cs typeface="Calibri"/>
              <a:sym typeface="Calibri"/>
            </a:endParaRPr>
          </a:p>
        </p:txBody>
      </p:sp>
      <p:sp>
        <p:nvSpPr>
          <p:cNvPr id="76" name="Google Shape;76;p4"/>
          <p:cNvSpPr/>
          <p:nvPr/>
        </p:nvSpPr>
        <p:spPr>
          <a:xfrm>
            <a:off x="548640" y="3291840"/>
            <a:ext cx="8046720" cy="1097280"/>
          </a:xfrm>
          <a:prstGeom prst="rect">
            <a:avLst/>
          </a:prstGeom>
          <a:solidFill>
            <a:srgbClr val="FFFFFF"/>
          </a:solidFill>
          <a:ln>
            <a:noFill/>
          </a:ln>
          <a:effectLst>
            <a:outerShdw blurRad="76200" rotWithShape="0" algn="bl" dir="8100000" dist="25400">
              <a:srgbClr val="000000">
                <a:alpha val="11764"/>
              </a:srgbClr>
            </a:outerShdw>
          </a:effectLst>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7" name="Google Shape;77;p4"/>
          <p:cNvSpPr/>
          <p:nvPr/>
        </p:nvSpPr>
        <p:spPr>
          <a:xfrm>
            <a:off x="548640" y="3291840"/>
            <a:ext cx="54864" cy="1097280"/>
          </a:xfrm>
          <a:prstGeom prst="rect">
            <a:avLst/>
          </a:prstGeom>
          <a:solidFill>
            <a:srgbClr val="B7986A"/>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pic>
        <p:nvPicPr>
          <p:cNvPr descr="preencoded.png" id="78" name="Google Shape;78;p4"/>
          <p:cNvPicPr preferRelativeResize="0"/>
          <p:nvPr/>
        </p:nvPicPr>
        <p:blipFill rotWithShape="1">
          <a:blip r:embed="rId4">
            <a:alphaModFix/>
          </a:blip>
          <a:srcRect b="0" l="0" r="0" t="0"/>
          <a:stretch/>
        </p:blipFill>
        <p:spPr>
          <a:xfrm>
            <a:off x="777240" y="3474720"/>
            <a:ext cx="411480" cy="411480"/>
          </a:xfrm>
          <a:prstGeom prst="rect">
            <a:avLst/>
          </a:prstGeom>
          <a:noFill/>
          <a:ln>
            <a:noFill/>
          </a:ln>
        </p:spPr>
      </p:pic>
      <p:sp>
        <p:nvSpPr>
          <p:cNvPr id="79" name="Google Shape;79;p4"/>
          <p:cNvSpPr/>
          <p:nvPr/>
        </p:nvSpPr>
        <p:spPr>
          <a:xfrm>
            <a:off x="1325880" y="3429000"/>
            <a:ext cx="7040880" cy="36576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161616"/>
              </a:buClr>
              <a:buSzPts val="1500"/>
              <a:buFont typeface="Trebuchet MS"/>
              <a:buNone/>
            </a:pPr>
            <a:r>
              <a:rPr b="1" i="0" lang="en-US" sz="1500" u="none" cap="none" strike="noStrike">
                <a:solidFill>
                  <a:srgbClr val="161616"/>
                </a:solidFill>
                <a:latin typeface="Trebuchet MS"/>
                <a:ea typeface="Trebuchet MS"/>
                <a:cs typeface="Trebuchet MS"/>
                <a:sym typeface="Trebuchet MS"/>
              </a:rPr>
              <a:t>Or like learning a new language</a:t>
            </a:r>
            <a:endParaRPr b="0" i="0" sz="1500" u="none" cap="none" strike="noStrike">
              <a:solidFill>
                <a:schemeClr val="dk1"/>
              </a:solidFill>
              <a:latin typeface="Calibri"/>
              <a:ea typeface="Calibri"/>
              <a:cs typeface="Calibri"/>
              <a:sym typeface="Calibri"/>
            </a:endParaRPr>
          </a:p>
        </p:txBody>
      </p:sp>
      <p:sp>
        <p:nvSpPr>
          <p:cNvPr id="80" name="Google Shape;80;p4"/>
          <p:cNvSpPr/>
          <p:nvPr/>
        </p:nvSpPr>
        <p:spPr>
          <a:xfrm>
            <a:off x="1325880" y="3794760"/>
            <a:ext cx="7040880" cy="502920"/>
          </a:xfrm>
          <a:prstGeom prst="rect">
            <a:avLst/>
          </a:prstGeom>
          <a:noFill/>
          <a:ln>
            <a:noFill/>
          </a:ln>
        </p:spPr>
        <p:txBody>
          <a:bodyPr anchorCtr="0" anchor="ctr" bIns="0" lIns="0" spcFirstLastPara="1" rIns="0" wrap="square" tIns="0">
            <a:noAutofit/>
          </a:bodyPr>
          <a:lstStyle/>
          <a:p>
            <a:pPr indent="0" lvl="0" marL="0" marR="0" rtl="0" algn="l">
              <a:lnSpc>
                <a:spcPct val="125000"/>
              </a:lnSpc>
              <a:spcBef>
                <a:spcPts val="0"/>
              </a:spcBef>
              <a:spcAft>
                <a:spcPts val="0"/>
              </a:spcAft>
              <a:buClr>
                <a:srgbClr val="6B7280"/>
              </a:buClr>
              <a:buSzPts val="1300"/>
              <a:buFont typeface="Calibri"/>
              <a:buNone/>
            </a:pPr>
            <a:r>
              <a:rPr b="0" i="0" lang="en-US" sz="1300" u="none" cap="none" strike="noStrike">
                <a:solidFill>
                  <a:srgbClr val="6B7280"/>
                </a:solidFill>
                <a:latin typeface="Calibri"/>
                <a:ea typeface="Calibri"/>
                <a:cs typeface="Calibri"/>
                <a:sym typeface="Calibri"/>
              </a:rPr>
              <a:t>At first, you think in your native language and translate. It's exhausting. But eventually, you start thinking in the new language. That's where the fluency lives.</a:t>
            </a:r>
            <a:endParaRPr b="0" i="0" sz="1300" u="none" cap="none" strike="noStrike">
              <a:solidFill>
                <a:schemeClr val="dk1"/>
              </a:solidFill>
              <a:latin typeface="Calibri"/>
              <a:ea typeface="Calibri"/>
              <a:cs typeface="Calibri"/>
              <a:sym typeface="Calibri"/>
            </a:endParaRPr>
          </a:p>
        </p:txBody>
      </p:sp>
      <p:cxnSp>
        <p:nvCxnSpPr>
          <p:cNvPr id="81" name="Google Shape;81;p4"/>
          <p:cNvCxnSpPr/>
          <p:nvPr/>
        </p:nvCxnSpPr>
        <p:spPr>
          <a:xfrm>
            <a:off x="457200" y="4892040"/>
            <a:ext cx="8229600" cy="0"/>
          </a:xfrm>
          <a:prstGeom prst="straightConnector1">
            <a:avLst/>
          </a:prstGeom>
          <a:noFill/>
          <a:ln cap="flat" cmpd="sng" w="9525">
            <a:solidFill>
              <a:srgbClr val="B7986A"/>
            </a:solidFill>
            <a:prstDash val="solid"/>
            <a:round/>
            <a:headEnd len="sm" w="sm" type="none"/>
            <a:tailEnd len="sm" w="sm" type="none"/>
          </a:ln>
        </p:spPr>
      </p:cxnSp>
      <p:sp>
        <p:nvSpPr>
          <p:cNvPr id="82" name="Google Shape;82;p4"/>
          <p:cNvSpPr/>
          <p:nvPr/>
        </p:nvSpPr>
        <p:spPr>
          <a:xfrm>
            <a:off x="457200" y="4892040"/>
            <a:ext cx="6400800" cy="22860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ADB5BD"/>
              </a:buClr>
              <a:buSzPts val="800"/>
              <a:buFont typeface="Calibri"/>
              <a:buNone/>
            </a:pPr>
            <a:r>
              <a:rPr b="0" i="0" lang="en-US" sz="800" u="none" cap="none" strike="noStrike">
                <a:solidFill>
                  <a:srgbClr val="ADB5BD"/>
                </a:solidFill>
                <a:latin typeface="Calibri"/>
                <a:ea typeface="Calibri"/>
                <a:cs typeface="Calibri"/>
                <a:sym typeface="Calibri"/>
              </a:rPr>
              <a:t>Claude Code  |  Ravn Production Team  |  Part 1</a:t>
            </a:r>
            <a:endParaRPr b="0" i="0" sz="800" u="none" cap="none" strike="noStrike">
              <a:solidFill>
                <a:schemeClr val="dk1"/>
              </a:solidFill>
              <a:latin typeface="Calibri"/>
              <a:ea typeface="Calibri"/>
              <a:cs typeface="Calibri"/>
              <a:sym typeface="Calibri"/>
            </a:endParaRPr>
          </a:p>
        </p:txBody>
      </p:sp>
      <p:sp>
        <p:nvSpPr>
          <p:cNvPr id="83" name="Google Shape;83;p4"/>
          <p:cNvSpPr/>
          <p:nvPr/>
        </p:nvSpPr>
        <p:spPr>
          <a:xfrm>
            <a:off x="7772400" y="4892040"/>
            <a:ext cx="914400" cy="228600"/>
          </a:xfrm>
          <a:prstGeom prst="rect">
            <a:avLst/>
          </a:prstGeom>
          <a:noFill/>
          <a:ln>
            <a:noFill/>
          </a:ln>
        </p:spPr>
        <p:txBody>
          <a:bodyPr anchorCtr="0" anchor="ctr" bIns="0" lIns="0" spcFirstLastPara="1" rIns="0" wrap="square" tIns="0">
            <a:noAutofit/>
          </a:bodyPr>
          <a:lstStyle/>
          <a:p>
            <a:pPr indent="0" lvl="0" marL="0" marR="0" rtl="0" algn="r">
              <a:spcBef>
                <a:spcPts val="0"/>
              </a:spcBef>
              <a:spcAft>
                <a:spcPts val="0"/>
              </a:spcAft>
              <a:buClr>
                <a:srgbClr val="ADB5BD"/>
              </a:buClr>
              <a:buSzPts val="800"/>
              <a:buFont typeface="Calibri"/>
              <a:buNone/>
            </a:pPr>
            <a:r>
              <a:rPr b="0" i="0" lang="en-US" sz="800" u="none" cap="none" strike="noStrike">
                <a:solidFill>
                  <a:srgbClr val="ADB5BD"/>
                </a:solidFill>
                <a:latin typeface="Calibri"/>
                <a:ea typeface="Calibri"/>
                <a:cs typeface="Calibri"/>
                <a:sym typeface="Calibri"/>
              </a:rPr>
              <a:t>4</a:t>
            </a:r>
            <a:endParaRPr b="0" i="0" sz="800" u="none" cap="none" strike="noStrike">
              <a:solidFill>
                <a:schemeClr val="dk1"/>
              </a:solidFill>
              <a:latin typeface="Calibri"/>
              <a:ea typeface="Calibri"/>
              <a:cs typeface="Calibri"/>
              <a:sym typeface="Calibri"/>
            </a:endParaRPr>
          </a:p>
        </p:txBody>
      </p:sp>
    </p:spTree>
  </p:cSld>
  <p:clrMapOvr>
    <a:masterClrMapping/>
  </p:clrMapOvr>
</p:sld>
</file>

<file path=ppt/slides/slide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161616"/>
        </a:solidFill>
      </p:bgPr>
    </p:bg>
    <p:spTree>
      <p:nvGrpSpPr>
        <p:cNvPr id="88" name="Shape 88"/>
        <p:cNvGrpSpPr/>
        <p:nvPr/>
      </p:nvGrpSpPr>
      <p:grpSpPr>
        <a:xfrm>
          <a:off x="0" y="0"/>
          <a:ext cx="0" cy="0"/>
          <a:chOff x="0" y="0"/>
          <a:chExt cx="0" cy="0"/>
        </a:xfrm>
      </p:grpSpPr>
      <p:sp>
        <p:nvSpPr>
          <p:cNvPr id="89" name="Google Shape;89;p5"/>
          <p:cNvSpPr/>
          <p:nvPr/>
        </p:nvSpPr>
        <p:spPr>
          <a:xfrm>
            <a:off x="548640" y="274320"/>
            <a:ext cx="8229600" cy="54864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FFFFFF"/>
              </a:buClr>
              <a:buSzPts val="3000"/>
              <a:buFont typeface="Trebuchet MS"/>
              <a:buNone/>
            </a:pPr>
            <a:r>
              <a:rPr b="1" i="0" lang="en-US" sz="3000" u="none" cap="none" strike="noStrike">
                <a:solidFill>
                  <a:srgbClr val="FFFFFF"/>
                </a:solidFill>
                <a:latin typeface="Trebuchet MS"/>
                <a:ea typeface="Trebuchet MS"/>
                <a:cs typeface="Trebuchet MS"/>
                <a:sym typeface="Trebuchet MS"/>
              </a:rPr>
              <a:t>The Core Workflow</a:t>
            </a:r>
            <a:endParaRPr b="0" i="0" sz="3000" u="none" cap="none" strike="noStrike">
              <a:solidFill>
                <a:schemeClr val="dk1"/>
              </a:solidFill>
              <a:latin typeface="Calibri"/>
              <a:ea typeface="Calibri"/>
              <a:cs typeface="Calibri"/>
              <a:sym typeface="Calibri"/>
            </a:endParaRPr>
          </a:p>
        </p:txBody>
      </p:sp>
      <p:sp>
        <p:nvSpPr>
          <p:cNvPr id="90" name="Google Shape;90;p5"/>
          <p:cNvSpPr/>
          <p:nvPr/>
        </p:nvSpPr>
        <p:spPr>
          <a:xfrm>
            <a:off x="548640" y="777240"/>
            <a:ext cx="8229600" cy="32004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ADB5BD"/>
              </a:buClr>
              <a:buSzPts val="1400"/>
              <a:buFont typeface="Calibri"/>
              <a:buNone/>
            </a:pPr>
            <a:r>
              <a:rPr b="0" i="0" lang="en-US" sz="1400" u="none" cap="none" strike="noStrike">
                <a:solidFill>
                  <a:srgbClr val="ADB5BD"/>
                </a:solidFill>
                <a:latin typeface="Calibri"/>
                <a:ea typeface="Calibri"/>
                <a:cs typeface="Calibri"/>
                <a:sym typeface="Calibri"/>
              </a:rPr>
              <a:t>The software lifecycle doesn't change. We shift who does the typing.</a:t>
            </a:r>
            <a:endParaRPr b="0" i="0" sz="1400" u="none" cap="none" strike="noStrike">
              <a:solidFill>
                <a:schemeClr val="dk1"/>
              </a:solidFill>
              <a:latin typeface="Calibri"/>
              <a:ea typeface="Calibri"/>
              <a:cs typeface="Calibri"/>
              <a:sym typeface="Calibri"/>
            </a:endParaRPr>
          </a:p>
        </p:txBody>
      </p:sp>
      <p:sp>
        <p:nvSpPr>
          <p:cNvPr id="91" name="Google Shape;91;p5"/>
          <p:cNvSpPr/>
          <p:nvPr/>
        </p:nvSpPr>
        <p:spPr>
          <a:xfrm>
            <a:off x="548640" y="1325880"/>
            <a:ext cx="2606040" cy="3063240"/>
          </a:xfrm>
          <a:prstGeom prst="rect">
            <a:avLst/>
          </a:prstGeom>
          <a:solidFill>
            <a:srgbClr val="1E1E1E"/>
          </a:solidFill>
          <a:ln>
            <a:noFill/>
          </a:ln>
          <a:effectLst>
            <a:outerShdw blurRad="101600" rotWithShape="0" algn="bl" dir="8100000" dist="38100">
              <a:srgbClr val="000000">
                <a:alpha val="17647"/>
              </a:srgbClr>
            </a:outerShdw>
          </a:effectLst>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92" name="Google Shape;92;p5"/>
          <p:cNvSpPr/>
          <p:nvPr/>
        </p:nvSpPr>
        <p:spPr>
          <a:xfrm>
            <a:off x="731520" y="1463040"/>
            <a:ext cx="914400" cy="45720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B7986A"/>
              </a:buClr>
              <a:buSzPts val="2800"/>
              <a:buFont typeface="Trebuchet MS"/>
              <a:buNone/>
            </a:pPr>
            <a:r>
              <a:rPr b="1" i="0" lang="en-US" sz="2800" u="none" cap="none" strike="noStrike">
                <a:solidFill>
                  <a:srgbClr val="B7986A"/>
                </a:solidFill>
                <a:latin typeface="Trebuchet MS"/>
                <a:ea typeface="Trebuchet MS"/>
                <a:cs typeface="Trebuchet MS"/>
                <a:sym typeface="Trebuchet MS"/>
              </a:rPr>
              <a:t>01</a:t>
            </a:r>
            <a:endParaRPr b="0" i="0" sz="2800" u="none" cap="none" strike="noStrike">
              <a:solidFill>
                <a:schemeClr val="dk1"/>
              </a:solidFill>
              <a:latin typeface="Calibri"/>
              <a:ea typeface="Calibri"/>
              <a:cs typeface="Calibri"/>
              <a:sym typeface="Calibri"/>
            </a:endParaRPr>
          </a:p>
        </p:txBody>
      </p:sp>
      <p:pic>
        <p:nvPicPr>
          <p:cNvPr descr="preencoded.png" id="93" name="Google Shape;93;p5"/>
          <p:cNvPicPr preferRelativeResize="0"/>
          <p:nvPr/>
        </p:nvPicPr>
        <p:blipFill rotWithShape="1">
          <a:blip r:embed="rId3">
            <a:alphaModFix/>
          </a:blip>
          <a:srcRect b="0" l="0" r="0" t="0"/>
          <a:stretch/>
        </p:blipFill>
        <p:spPr>
          <a:xfrm>
            <a:off x="2514600" y="1508760"/>
            <a:ext cx="411480" cy="411480"/>
          </a:xfrm>
          <a:prstGeom prst="rect">
            <a:avLst/>
          </a:prstGeom>
          <a:noFill/>
          <a:ln>
            <a:noFill/>
          </a:ln>
        </p:spPr>
      </p:pic>
      <p:sp>
        <p:nvSpPr>
          <p:cNvPr id="94" name="Google Shape;94;p5"/>
          <p:cNvSpPr/>
          <p:nvPr/>
        </p:nvSpPr>
        <p:spPr>
          <a:xfrm>
            <a:off x="731520" y="2057400"/>
            <a:ext cx="2240280" cy="45720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FFFFFF"/>
              </a:buClr>
              <a:buSzPts val="2200"/>
              <a:buFont typeface="Trebuchet MS"/>
              <a:buNone/>
            </a:pPr>
            <a:r>
              <a:rPr b="1" i="0" lang="en-US" sz="2200" u="none" cap="none" strike="noStrike">
                <a:solidFill>
                  <a:srgbClr val="FFFFFF"/>
                </a:solidFill>
                <a:latin typeface="Trebuchet MS"/>
                <a:ea typeface="Trebuchet MS"/>
                <a:cs typeface="Trebuchet MS"/>
                <a:sym typeface="Trebuchet MS"/>
              </a:rPr>
              <a:t>Plan</a:t>
            </a:r>
            <a:endParaRPr b="0" i="0" sz="2200" u="none" cap="none" strike="noStrike">
              <a:solidFill>
                <a:schemeClr val="dk1"/>
              </a:solidFill>
              <a:latin typeface="Calibri"/>
              <a:ea typeface="Calibri"/>
              <a:cs typeface="Calibri"/>
              <a:sym typeface="Calibri"/>
            </a:endParaRPr>
          </a:p>
        </p:txBody>
      </p:sp>
      <p:sp>
        <p:nvSpPr>
          <p:cNvPr id="95" name="Google Shape;95;p5"/>
          <p:cNvSpPr/>
          <p:nvPr/>
        </p:nvSpPr>
        <p:spPr>
          <a:xfrm>
            <a:off x="731520" y="2468880"/>
            <a:ext cx="2240280" cy="32004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B7986A"/>
              </a:buClr>
              <a:buSzPts val="1200"/>
              <a:buFont typeface="Calibri"/>
              <a:buNone/>
            </a:pPr>
            <a:r>
              <a:rPr b="0" i="1" lang="en-US" sz="1200" u="none" cap="none" strike="noStrike">
                <a:solidFill>
                  <a:srgbClr val="B7986A"/>
                </a:solidFill>
                <a:latin typeface="Calibri"/>
                <a:ea typeface="Calibri"/>
                <a:cs typeface="Calibri"/>
                <a:sym typeface="Calibri"/>
              </a:rPr>
              <a:t>More than before</a:t>
            </a:r>
            <a:endParaRPr b="0" i="0" sz="1200" u="none" cap="none" strike="noStrike">
              <a:solidFill>
                <a:schemeClr val="dk1"/>
              </a:solidFill>
              <a:latin typeface="Calibri"/>
              <a:ea typeface="Calibri"/>
              <a:cs typeface="Calibri"/>
              <a:sym typeface="Calibri"/>
            </a:endParaRPr>
          </a:p>
        </p:txBody>
      </p:sp>
      <p:sp>
        <p:nvSpPr>
          <p:cNvPr id="96" name="Google Shape;96;p5"/>
          <p:cNvSpPr/>
          <p:nvPr/>
        </p:nvSpPr>
        <p:spPr>
          <a:xfrm>
            <a:off x="731520" y="2880360"/>
            <a:ext cx="2240280" cy="1097280"/>
          </a:xfrm>
          <a:prstGeom prst="rect">
            <a:avLst/>
          </a:prstGeom>
          <a:noFill/>
          <a:ln>
            <a:noFill/>
          </a:ln>
        </p:spPr>
        <p:txBody>
          <a:bodyPr anchorCtr="0" anchor="ctr" bIns="0" lIns="0" spcFirstLastPara="1" rIns="0" wrap="square" tIns="0">
            <a:noAutofit/>
          </a:bodyPr>
          <a:lstStyle/>
          <a:p>
            <a:pPr indent="0" lvl="0" marL="0" marR="0" rtl="0" algn="l">
              <a:lnSpc>
                <a:spcPct val="140000"/>
              </a:lnSpc>
              <a:spcBef>
                <a:spcPts val="0"/>
              </a:spcBef>
              <a:spcAft>
                <a:spcPts val="0"/>
              </a:spcAft>
              <a:buClr>
                <a:srgbClr val="E8E8E8"/>
              </a:buClr>
              <a:buSzPts val="1300"/>
              <a:buFont typeface="Calibri"/>
              <a:buNone/>
            </a:pPr>
            <a:r>
              <a:rPr b="0" i="0" lang="en-US" sz="1300" u="none" cap="none" strike="noStrike">
                <a:solidFill>
                  <a:srgbClr val="E8E8E8"/>
                </a:solidFill>
                <a:latin typeface="Calibri"/>
                <a:ea typeface="Calibri"/>
                <a:cs typeface="Calibri"/>
                <a:sym typeface="Calibri"/>
              </a:rPr>
              <a:t>Clear plan = correct output.</a:t>
            </a:r>
            <a:endParaRPr b="0" i="0" sz="1300" u="none" cap="none" strike="noStrike">
              <a:solidFill>
                <a:schemeClr val="dk1"/>
              </a:solidFill>
              <a:latin typeface="Calibri"/>
              <a:ea typeface="Calibri"/>
              <a:cs typeface="Calibri"/>
              <a:sym typeface="Calibri"/>
            </a:endParaRPr>
          </a:p>
          <a:p>
            <a:pPr indent="0" lvl="0" marL="0" marR="0" rtl="0" algn="l">
              <a:lnSpc>
                <a:spcPct val="140000"/>
              </a:lnSpc>
              <a:spcBef>
                <a:spcPts val="0"/>
              </a:spcBef>
              <a:spcAft>
                <a:spcPts val="0"/>
              </a:spcAft>
              <a:buClr>
                <a:srgbClr val="E8E8E8"/>
              </a:buClr>
              <a:buSzPts val="1300"/>
              <a:buFont typeface="Calibri"/>
              <a:buNone/>
            </a:pPr>
            <a:r>
              <a:rPr b="0" i="0" lang="en-US" sz="1300" u="none" cap="none" strike="noStrike">
                <a:solidFill>
                  <a:srgbClr val="E8E8E8"/>
                </a:solidFill>
                <a:latin typeface="Calibri"/>
                <a:ea typeface="Calibri"/>
                <a:cs typeface="Calibri"/>
                <a:sym typeface="Calibri"/>
              </a:rPr>
              <a:t>Don't jump straight to code.</a:t>
            </a:r>
            <a:endParaRPr b="0" i="0" sz="1300" u="none" cap="none" strike="noStrike">
              <a:solidFill>
                <a:schemeClr val="dk1"/>
              </a:solidFill>
              <a:latin typeface="Calibri"/>
              <a:ea typeface="Calibri"/>
              <a:cs typeface="Calibri"/>
              <a:sym typeface="Calibri"/>
            </a:endParaRPr>
          </a:p>
        </p:txBody>
      </p:sp>
      <p:sp>
        <p:nvSpPr>
          <p:cNvPr id="97" name="Google Shape;97;p5"/>
          <p:cNvSpPr/>
          <p:nvPr/>
        </p:nvSpPr>
        <p:spPr>
          <a:xfrm>
            <a:off x="3429000" y="1325880"/>
            <a:ext cx="2606040" cy="3063240"/>
          </a:xfrm>
          <a:prstGeom prst="rect">
            <a:avLst/>
          </a:prstGeom>
          <a:solidFill>
            <a:srgbClr val="1E1E1E"/>
          </a:solidFill>
          <a:ln>
            <a:noFill/>
          </a:ln>
          <a:effectLst>
            <a:outerShdw blurRad="101600" rotWithShape="0" algn="bl" dir="8100000" dist="38100">
              <a:srgbClr val="000000">
                <a:alpha val="17647"/>
              </a:srgbClr>
            </a:outerShdw>
          </a:effectLst>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98" name="Google Shape;98;p5"/>
          <p:cNvSpPr/>
          <p:nvPr/>
        </p:nvSpPr>
        <p:spPr>
          <a:xfrm>
            <a:off x="3611880" y="1463040"/>
            <a:ext cx="914400" cy="45720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ADB5BD"/>
              </a:buClr>
              <a:buSzPts val="2800"/>
              <a:buFont typeface="Trebuchet MS"/>
              <a:buNone/>
            </a:pPr>
            <a:r>
              <a:rPr b="1" i="0" lang="en-US" sz="2800" u="none" cap="none" strike="noStrike">
                <a:solidFill>
                  <a:srgbClr val="ADB5BD"/>
                </a:solidFill>
                <a:latin typeface="Trebuchet MS"/>
                <a:ea typeface="Trebuchet MS"/>
                <a:cs typeface="Trebuchet MS"/>
                <a:sym typeface="Trebuchet MS"/>
              </a:rPr>
              <a:t>02</a:t>
            </a:r>
            <a:endParaRPr b="0" i="0" sz="2800" u="none" cap="none" strike="noStrike">
              <a:solidFill>
                <a:schemeClr val="dk1"/>
              </a:solidFill>
              <a:latin typeface="Calibri"/>
              <a:ea typeface="Calibri"/>
              <a:cs typeface="Calibri"/>
              <a:sym typeface="Calibri"/>
            </a:endParaRPr>
          </a:p>
        </p:txBody>
      </p:sp>
      <p:pic>
        <p:nvPicPr>
          <p:cNvPr descr="preencoded.png" id="99" name="Google Shape;99;p5"/>
          <p:cNvPicPr preferRelativeResize="0"/>
          <p:nvPr/>
        </p:nvPicPr>
        <p:blipFill rotWithShape="1">
          <a:blip r:embed="rId4">
            <a:alphaModFix/>
          </a:blip>
          <a:srcRect b="0" l="0" r="0" t="0"/>
          <a:stretch/>
        </p:blipFill>
        <p:spPr>
          <a:xfrm>
            <a:off x="5394960" y="1508760"/>
            <a:ext cx="411480" cy="411480"/>
          </a:xfrm>
          <a:prstGeom prst="rect">
            <a:avLst/>
          </a:prstGeom>
          <a:noFill/>
          <a:ln>
            <a:noFill/>
          </a:ln>
        </p:spPr>
      </p:pic>
      <p:sp>
        <p:nvSpPr>
          <p:cNvPr id="100" name="Google Shape;100;p5"/>
          <p:cNvSpPr/>
          <p:nvPr/>
        </p:nvSpPr>
        <p:spPr>
          <a:xfrm>
            <a:off x="3611880" y="2057400"/>
            <a:ext cx="2240280" cy="45720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FFFFFF"/>
              </a:buClr>
              <a:buSzPts val="2200"/>
              <a:buFont typeface="Trebuchet MS"/>
              <a:buNone/>
            </a:pPr>
            <a:r>
              <a:rPr b="1" i="0" lang="en-US" sz="2200" u="none" cap="none" strike="noStrike">
                <a:solidFill>
                  <a:srgbClr val="FFFFFF"/>
                </a:solidFill>
                <a:latin typeface="Trebuchet MS"/>
                <a:ea typeface="Trebuchet MS"/>
                <a:cs typeface="Trebuchet MS"/>
                <a:sym typeface="Trebuchet MS"/>
              </a:rPr>
              <a:t>Execute</a:t>
            </a:r>
            <a:endParaRPr b="0" i="0" sz="2200" u="none" cap="none" strike="noStrike">
              <a:solidFill>
                <a:schemeClr val="dk1"/>
              </a:solidFill>
              <a:latin typeface="Calibri"/>
              <a:ea typeface="Calibri"/>
              <a:cs typeface="Calibri"/>
              <a:sym typeface="Calibri"/>
            </a:endParaRPr>
          </a:p>
        </p:txBody>
      </p:sp>
      <p:sp>
        <p:nvSpPr>
          <p:cNvPr id="101" name="Google Shape;101;p5"/>
          <p:cNvSpPr/>
          <p:nvPr/>
        </p:nvSpPr>
        <p:spPr>
          <a:xfrm>
            <a:off x="3611880" y="2468880"/>
            <a:ext cx="2240280" cy="32004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ADB5BD"/>
              </a:buClr>
              <a:buSzPts val="1200"/>
              <a:buFont typeface="Calibri"/>
              <a:buNone/>
            </a:pPr>
            <a:r>
              <a:rPr b="0" i="1" lang="en-US" sz="1200" u="none" cap="none" strike="noStrike">
                <a:solidFill>
                  <a:srgbClr val="ADB5BD"/>
                </a:solidFill>
                <a:latin typeface="Calibri"/>
                <a:ea typeface="Calibri"/>
                <a:cs typeface="Calibri"/>
                <a:sym typeface="Calibri"/>
              </a:rPr>
              <a:t>Lean into AI</a:t>
            </a:r>
            <a:endParaRPr b="0" i="0" sz="1200" u="none" cap="none" strike="noStrike">
              <a:solidFill>
                <a:schemeClr val="dk1"/>
              </a:solidFill>
              <a:latin typeface="Calibri"/>
              <a:ea typeface="Calibri"/>
              <a:cs typeface="Calibri"/>
              <a:sym typeface="Calibri"/>
            </a:endParaRPr>
          </a:p>
        </p:txBody>
      </p:sp>
      <p:sp>
        <p:nvSpPr>
          <p:cNvPr id="102" name="Google Shape;102;p5"/>
          <p:cNvSpPr/>
          <p:nvPr/>
        </p:nvSpPr>
        <p:spPr>
          <a:xfrm>
            <a:off x="3611880" y="2880360"/>
            <a:ext cx="2240280" cy="1097280"/>
          </a:xfrm>
          <a:prstGeom prst="rect">
            <a:avLst/>
          </a:prstGeom>
          <a:noFill/>
          <a:ln>
            <a:noFill/>
          </a:ln>
        </p:spPr>
        <p:txBody>
          <a:bodyPr anchorCtr="0" anchor="ctr" bIns="0" lIns="0" spcFirstLastPara="1" rIns="0" wrap="square" tIns="0">
            <a:noAutofit/>
          </a:bodyPr>
          <a:lstStyle/>
          <a:p>
            <a:pPr indent="0" lvl="0" marL="0" marR="0" rtl="0" algn="l">
              <a:lnSpc>
                <a:spcPct val="140000"/>
              </a:lnSpc>
              <a:spcBef>
                <a:spcPts val="0"/>
              </a:spcBef>
              <a:spcAft>
                <a:spcPts val="0"/>
              </a:spcAft>
              <a:buClr>
                <a:srgbClr val="E8E8E8"/>
              </a:buClr>
              <a:buSzPts val="1300"/>
              <a:buFont typeface="Calibri"/>
              <a:buNone/>
            </a:pPr>
            <a:r>
              <a:rPr b="0" i="0" lang="en-US" sz="1300" u="none" cap="none" strike="noStrike">
                <a:solidFill>
                  <a:srgbClr val="E8E8E8"/>
                </a:solidFill>
                <a:latin typeface="Calibri"/>
                <a:ea typeface="Calibri"/>
                <a:cs typeface="Calibri"/>
                <a:sym typeface="Calibri"/>
              </a:rPr>
              <a:t>Trust the model more than</a:t>
            </a:r>
            <a:endParaRPr b="0" i="0" sz="1300" u="none" cap="none" strike="noStrike">
              <a:solidFill>
                <a:schemeClr val="dk1"/>
              </a:solidFill>
              <a:latin typeface="Calibri"/>
              <a:ea typeface="Calibri"/>
              <a:cs typeface="Calibri"/>
              <a:sym typeface="Calibri"/>
            </a:endParaRPr>
          </a:p>
          <a:p>
            <a:pPr indent="0" lvl="0" marL="0" marR="0" rtl="0" algn="l">
              <a:lnSpc>
                <a:spcPct val="140000"/>
              </a:lnSpc>
              <a:spcBef>
                <a:spcPts val="0"/>
              </a:spcBef>
              <a:spcAft>
                <a:spcPts val="0"/>
              </a:spcAft>
              <a:buClr>
                <a:srgbClr val="E8E8E8"/>
              </a:buClr>
              <a:buSzPts val="1300"/>
              <a:buFont typeface="Calibri"/>
              <a:buNone/>
            </a:pPr>
            <a:r>
              <a:rPr b="0" i="0" lang="en-US" sz="1300" u="none" cap="none" strike="noStrike">
                <a:solidFill>
                  <a:srgbClr val="E8E8E8"/>
                </a:solidFill>
                <a:latin typeface="Calibri"/>
                <a:ea typeface="Calibri"/>
                <a:cs typeface="Calibri"/>
                <a:sym typeface="Calibri"/>
              </a:rPr>
              <a:t>you're comfortable with.</a:t>
            </a:r>
            <a:endParaRPr b="0" i="0" sz="1300" u="none" cap="none" strike="noStrike">
              <a:solidFill>
                <a:schemeClr val="dk1"/>
              </a:solidFill>
              <a:latin typeface="Calibri"/>
              <a:ea typeface="Calibri"/>
              <a:cs typeface="Calibri"/>
              <a:sym typeface="Calibri"/>
            </a:endParaRPr>
          </a:p>
        </p:txBody>
      </p:sp>
      <p:sp>
        <p:nvSpPr>
          <p:cNvPr id="103" name="Google Shape;103;p5"/>
          <p:cNvSpPr/>
          <p:nvPr/>
        </p:nvSpPr>
        <p:spPr>
          <a:xfrm>
            <a:off x="6309360" y="1325880"/>
            <a:ext cx="2606040" cy="3063240"/>
          </a:xfrm>
          <a:prstGeom prst="rect">
            <a:avLst/>
          </a:prstGeom>
          <a:solidFill>
            <a:srgbClr val="1E1E1E"/>
          </a:solidFill>
          <a:ln>
            <a:noFill/>
          </a:ln>
          <a:effectLst>
            <a:outerShdw blurRad="101600" rotWithShape="0" algn="bl" dir="8100000" dist="38100">
              <a:srgbClr val="000000">
                <a:alpha val="17647"/>
              </a:srgbClr>
            </a:outerShdw>
          </a:effectLst>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04" name="Google Shape;104;p5"/>
          <p:cNvSpPr/>
          <p:nvPr/>
        </p:nvSpPr>
        <p:spPr>
          <a:xfrm>
            <a:off x="6492240" y="1463040"/>
            <a:ext cx="914400" cy="45720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B7986A"/>
              </a:buClr>
              <a:buSzPts val="2800"/>
              <a:buFont typeface="Trebuchet MS"/>
              <a:buNone/>
            </a:pPr>
            <a:r>
              <a:rPr b="1" i="0" lang="en-US" sz="2800" u="none" cap="none" strike="noStrike">
                <a:solidFill>
                  <a:srgbClr val="B7986A"/>
                </a:solidFill>
                <a:latin typeface="Trebuchet MS"/>
                <a:ea typeface="Trebuchet MS"/>
                <a:cs typeface="Trebuchet MS"/>
                <a:sym typeface="Trebuchet MS"/>
              </a:rPr>
              <a:t>03</a:t>
            </a:r>
            <a:endParaRPr b="0" i="0" sz="2800" u="none" cap="none" strike="noStrike">
              <a:solidFill>
                <a:schemeClr val="dk1"/>
              </a:solidFill>
              <a:latin typeface="Calibri"/>
              <a:ea typeface="Calibri"/>
              <a:cs typeface="Calibri"/>
              <a:sym typeface="Calibri"/>
            </a:endParaRPr>
          </a:p>
        </p:txBody>
      </p:sp>
      <p:pic>
        <p:nvPicPr>
          <p:cNvPr descr="preencoded.png" id="105" name="Google Shape;105;p5"/>
          <p:cNvPicPr preferRelativeResize="0"/>
          <p:nvPr/>
        </p:nvPicPr>
        <p:blipFill rotWithShape="1">
          <a:blip r:embed="rId5">
            <a:alphaModFix/>
          </a:blip>
          <a:srcRect b="0" l="0" r="0" t="0"/>
          <a:stretch/>
        </p:blipFill>
        <p:spPr>
          <a:xfrm>
            <a:off x="8275320" y="1508760"/>
            <a:ext cx="411480" cy="411480"/>
          </a:xfrm>
          <a:prstGeom prst="rect">
            <a:avLst/>
          </a:prstGeom>
          <a:noFill/>
          <a:ln>
            <a:noFill/>
          </a:ln>
        </p:spPr>
      </p:pic>
      <p:sp>
        <p:nvSpPr>
          <p:cNvPr id="106" name="Google Shape;106;p5"/>
          <p:cNvSpPr/>
          <p:nvPr/>
        </p:nvSpPr>
        <p:spPr>
          <a:xfrm>
            <a:off x="6492240" y="2057400"/>
            <a:ext cx="2240280" cy="45720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FFFFFF"/>
              </a:buClr>
              <a:buSzPts val="2200"/>
              <a:buFont typeface="Trebuchet MS"/>
              <a:buNone/>
            </a:pPr>
            <a:r>
              <a:rPr b="1" i="0" lang="en-US" sz="2200" u="none" cap="none" strike="noStrike">
                <a:solidFill>
                  <a:srgbClr val="FFFFFF"/>
                </a:solidFill>
                <a:latin typeface="Trebuchet MS"/>
                <a:ea typeface="Trebuchet MS"/>
                <a:cs typeface="Trebuchet MS"/>
                <a:sym typeface="Trebuchet MS"/>
              </a:rPr>
              <a:t>Verify</a:t>
            </a:r>
            <a:endParaRPr b="0" i="0" sz="2200" u="none" cap="none" strike="noStrike">
              <a:solidFill>
                <a:schemeClr val="dk1"/>
              </a:solidFill>
              <a:latin typeface="Calibri"/>
              <a:ea typeface="Calibri"/>
              <a:cs typeface="Calibri"/>
              <a:sym typeface="Calibri"/>
            </a:endParaRPr>
          </a:p>
        </p:txBody>
      </p:sp>
      <p:sp>
        <p:nvSpPr>
          <p:cNvPr id="107" name="Google Shape;107;p5"/>
          <p:cNvSpPr/>
          <p:nvPr/>
        </p:nvSpPr>
        <p:spPr>
          <a:xfrm>
            <a:off x="6492240" y="2468880"/>
            <a:ext cx="2240280" cy="32004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B7986A"/>
              </a:buClr>
              <a:buSzPts val="1200"/>
              <a:buFont typeface="Calibri"/>
              <a:buNone/>
            </a:pPr>
            <a:r>
              <a:rPr b="0" i="1" lang="en-US" sz="1200" u="none" cap="none" strike="noStrike">
                <a:solidFill>
                  <a:srgbClr val="B7986A"/>
                </a:solidFill>
                <a:latin typeface="Calibri"/>
                <a:ea typeface="Calibri"/>
                <a:cs typeface="Calibri"/>
                <a:sym typeface="Calibri"/>
              </a:rPr>
              <a:t>Your superpower</a:t>
            </a:r>
            <a:endParaRPr b="0" i="0" sz="1200" u="none" cap="none" strike="noStrike">
              <a:solidFill>
                <a:schemeClr val="dk1"/>
              </a:solidFill>
              <a:latin typeface="Calibri"/>
              <a:ea typeface="Calibri"/>
              <a:cs typeface="Calibri"/>
              <a:sym typeface="Calibri"/>
            </a:endParaRPr>
          </a:p>
        </p:txBody>
      </p:sp>
      <p:sp>
        <p:nvSpPr>
          <p:cNvPr id="108" name="Google Shape;108;p5"/>
          <p:cNvSpPr/>
          <p:nvPr/>
        </p:nvSpPr>
        <p:spPr>
          <a:xfrm>
            <a:off x="6492240" y="2880360"/>
            <a:ext cx="2240280" cy="1097280"/>
          </a:xfrm>
          <a:prstGeom prst="rect">
            <a:avLst/>
          </a:prstGeom>
          <a:noFill/>
          <a:ln>
            <a:noFill/>
          </a:ln>
        </p:spPr>
        <p:txBody>
          <a:bodyPr anchorCtr="0" anchor="ctr" bIns="0" lIns="0" spcFirstLastPara="1" rIns="0" wrap="square" tIns="0">
            <a:noAutofit/>
          </a:bodyPr>
          <a:lstStyle/>
          <a:p>
            <a:pPr indent="0" lvl="0" marL="0" marR="0" rtl="0" algn="l">
              <a:lnSpc>
                <a:spcPct val="140000"/>
              </a:lnSpc>
              <a:spcBef>
                <a:spcPts val="0"/>
              </a:spcBef>
              <a:spcAft>
                <a:spcPts val="0"/>
              </a:spcAft>
              <a:buClr>
                <a:srgbClr val="E8E8E8"/>
              </a:buClr>
              <a:buSzPts val="1300"/>
              <a:buFont typeface="Calibri"/>
              <a:buNone/>
            </a:pPr>
            <a:r>
              <a:rPr b="0" i="0" lang="en-US" sz="1300" u="none" cap="none" strike="noStrike">
                <a:solidFill>
                  <a:srgbClr val="E8E8E8"/>
                </a:solidFill>
                <a:latin typeface="Calibri"/>
                <a:ea typeface="Calibri"/>
                <a:cs typeface="Calibri"/>
                <a:sym typeface="Calibri"/>
              </a:rPr>
              <a:t>Tests, lint, build, diff review.</a:t>
            </a:r>
            <a:endParaRPr b="0" i="0" sz="1300" u="none" cap="none" strike="noStrike">
              <a:solidFill>
                <a:schemeClr val="dk1"/>
              </a:solidFill>
              <a:latin typeface="Calibri"/>
              <a:ea typeface="Calibri"/>
              <a:cs typeface="Calibri"/>
              <a:sym typeface="Calibri"/>
            </a:endParaRPr>
          </a:p>
          <a:p>
            <a:pPr indent="0" lvl="0" marL="0" marR="0" rtl="0" algn="l">
              <a:lnSpc>
                <a:spcPct val="140000"/>
              </a:lnSpc>
              <a:spcBef>
                <a:spcPts val="0"/>
              </a:spcBef>
              <a:spcAft>
                <a:spcPts val="0"/>
              </a:spcAft>
              <a:buClr>
                <a:srgbClr val="E8E8E8"/>
              </a:buClr>
              <a:buSzPts val="1300"/>
              <a:buFont typeface="Calibri"/>
              <a:buNone/>
            </a:pPr>
            <a:r>
              <a:rPr b="0" i="0" lang="en-US" sz="1300" u="none" cap="none" strike="noStrike">
                <a:solidFill>
                  <a:srgbClr val="E8E8E8"/>
                </a:solidFill>
                <a:latin typeface="Calibri"/>
                <a:ea typeface="Calibri"/>
                <a:cs typeface="Calibri"/>
                <a:sym typeface="Calibri"/>
              </a:rPr>
              <a:t>Speed comes from rigor.</a:t>
            </a:r>
            <a:endParaRPr b="0" i="0" sz="1300" u="none" cap="none" strike="noStrike">
              <a:solidFill>
                <a:schemeClr val="dk1"/>
              </a:solidFill>
              <a:latin typeface="Calibri"/>
              <a:ea typeface="Calibri"/>
              <a:cs typeface="Calibri"/>
              <a:sym typeface="Calibri"/>
            </a:endParaRPr>
          </a:p>
        </p:txBody>
      </p:sp>
      <p:pic>
        <p:nvPicPr>
          <p:cNvPr descr="preencoded.png" id="109" name="Google Shape;109;p5"/>
          <p:cNvPicPr preferRelativeResize="0"/>
          <p:nvPr/>
        </p:nvPicPr>
        <p:blipFill rotWithShape="1">
          <a:blip r:embed="rId6">
            <a:alphaModFix/>
          </a:blip>
          <a:srcRect b="0" l="0" r="0" t="0"/>
          <a:stretch/>
        </p:blipFill>
        <p:spPr>
          <a:xfrm>
            <a:off x="3246120" y="2606040"/>
            <a:ext cx="274320" cy="274320"/>
          </a:xfrm>
          <a:prstGeom prst="rect">
            <a:avLst/>
          </a:prstGeom>
          <a:noFill/>
          <a:ln>
            <a:noFill/>
          </a:ln>
        </p:spPr>
      </p:pic>
      <p:pic>
        <p:nvPicPr>
          <p:cNvPr descr="preencoded.png" id="110" name="Google Shape;110;p5"/>
          <p:cNvPicPr preferRelativeResize="0"/>
          <p:nvPr/>
        </p:nvPicPr>
        <p:blipFill rotWithShape="1">
          <a:blip r:embed="rId6">
            <a:alphaModFix/>
          </a:blip>
          <a:srcRect b="0" l="0" r="0" t="0"/>
          <a:stretch/>
        </p:blipFill>
        <p:spPr>
          <a:xfrm>
            <a:off x="6126480" y="2606040"/>
            <a:ext cx="274320" cy="274320"/>
          </a:xfrm>
          <a:prstGeom prst="rect">
            <a:avLst/>
          </a:prstGeom>
          <a:noFill/>
          <a:ln>
            <a:noFill/>
          </a:ln>
        </p:spPr>
      </p:pic>
      <p:sp>
        <p:nvSpPr>
          <p:cNvPr id="111" name="Google Shape;111;p5"/>
          <p:cNvSpPr/>
          <p:nvPr/>
        </p:nvSpPr>
        <p:spPr>
          <a:xfrm>
            <a:off x="548640" y="4526280"/>
            <a:ext cx="8229600" cy="27432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ADB5BD"/>
              </a:buClr>
              <a:buSzPts val="1100"/>
              <a:buFont typeface="Calibri"/>
              <a:buNone/>
            </a:pPr>
            <a:r>
              <a:rPr b="0" i="1" lang="en-US" sz="1100" u="none" cap="none" strike="noStrike">
                <a:solidFill>
                  <a:srgbClr val="ADB5BD"/>
                </a:solidFill>
                <a:latin typeface="Calibri"/>
                <a:ea typeface="Calibri"/>
                <a:cs typeface="Calibri"/>
                <a:sym typeface="Calibri"/>
              </a:rPr>
              <a:t>We'll deep-dive each phase throughout the series. Today: the foundations.</a:t>
            </a:r>
            <a:endParaRPr b="0" i="0" sz="1100" u="none" cap="none" strike="noStrike">
              <a:solidFill>
                <a:schemeClr val="dk1"/>
              </a:solidFill>
              <a:latin typeface="Calibri"/>
              <a:ea typeface="Calibri"/>
              <a:cs typeface="Calibri"/>
              <a:sym typeface="Calibri"/>
            </a:endParaRPr>
          </a:p>
        </p:txBody>
      </p:sp>
      <p:cxnSp>
        <p:nvCxnSpPr>
          <p:cNvPr id="112" name="Google Shape;112;p5"/>
          <p:cNvCxnSpPr/>
          <p:nvPr/>
        </p:nvCxnSpPr>
        <p:spPr>
          <a:xfrm>
            <a:off x="457200" y="4892040"/>
            <a:ext cx="8229600" cy="0"/>
          </a:xfrm>
          <a:prstGeom prst="straightConnector1">
            <a:avLst/>
          </a:prstGeom>
          <a:noFill/>
          <a:ln cap="flat" cmpd="sng" w="9525">
            <a:solidFill>
              <a:srgbClr val="B7986A"/>
            </a:solidFill>
            <a:prstDash val="solid"/>
            <a:round/>
            <a:headEnd len="sm" w="sm" type="none"/>
            <a:tailEnd len="sm" w="sm" type="none"/>
          </a:ln>
        </p:spPr>
      </p:cxnSp>
      <p:sp>
        <p:nvSpPr>
          <p:cNvPr id="113" name="Google Shape;113;p5"/>
          <p:cNvSpPr/>
          <p:nvPr/>
        </p:nvSpPr>
        <p:spPr>
          <a:xfrm>
            <a:off x="457200" y="4892040"/>
            <a:ext cx="6400800" cy="22860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ADB5BD"/>
              </a:buClr>
              <a:buSzPts val="800"/>
              <a:buFont typeface="Calibri"/>
              <a:buNone/>
            </a:pPr>
            <a:r>
              <a:rPr b="0" i="0" lang="en-US" sz="800" u="none" cap="none" strike="noStrike">
                <a:solidFill>
                  <a:srgbClr val="ADB5BD"/>
                </a:solidFill>
                <a:latin typeface="Calibri"/>
                <a:ea typeface="Calibri"/>
                <a:cs typeface="Calibri"/>
                <a:sym typeface="Calibri"/>
              </a:rPr>
              <a:t>Claude Code  |  Ravn Production Team  |  Part 1</a:t>
            </a:r>
            <a:endParaRPr b="0" i="0" sz="800" u="none" cap="none" strike="noStrike">
              <a:solidFill>
                <a:schemeClr val="dk1"/>
              </a:solidFill>
              <a:latin typeface="Calibri"/>
              <a:ea typeface="Calibri"/>
              <a:cs typeface="Calibri"/>
              <a:sym typeface="Calibri"/>
            </a:endParaRPr>
          </a:p>
        </p:txBody>
      </p:sp>
      <p:sp>
        <p:nvSpPr>
          <p:cNvPr id="114" name="Google Shape;114;p5"/>
          <p:cNvSpPr/>
          <p:nvPr/>
        </p:nvSpPr>
        <p:spPr>
          <a:xfrm>
            <a:off x="7772400" y="4892040"/>
            <a:ext cx="914400" cy="228600"/>
          </a:xfrm>
          <a:prstGeom prst="rect">
            <a:avLst/>
          </a:prstGeom>
          <a:noFill/>
          <a:ln>
            <a:noFill/>
          </a:ln>
        </p:spPr>
        <p:txBody>
          <a:bodyPr anchorCtr="0" anchor="ctr" bIns="0" lIns="0" spcFirstLastPara="1" rIns="0" wrap="square" tIns="0">
            <a:noAutofit/>
          </a:bodyPr>
          <a:lstStyle/>
          <a:p>
            <a:pPr indent="0" lvl="0" marL="0" marR="0" rtl="0" algn="r">
              <a:spcBef>
                <a:spcPts val="0"/>
              </a:spcBef>
              <a:spcAft>
                <a:spcPts val="0"/>
              </a:spcAft>
              <a:buClr>
                <a:srgbClr val="ADB5BD"/>
              </a:buClr>
              <a:buSzPts val="800"/>
              <a:buFont typeface="Calibri"/>
              <a:buNone/>
            </a:pPr>
            <a:r>
              <a:rPr b="0" i="0" lang="en-US" sz="800" u="none" cap="none" strike="noStrike">
                <a:solidFill>
                  <a:srgbClr val="ADB5BD"/>
                </a:solidFill>
                <a:latin typeface="Calibri"/>
                <a:ea typeface="Calibri"/>
                <a:cs typeface="Calibri"/>
                <a:sym typeface="Calibri"/>
              </a:rPr>
              <a:t>5</a:t>
            </a:r>
            <a:endParaRPr b="0" i="0" sz="800" u="none" cap="none" strike="noStrike">
              <a:solidFill>
                <a:schemeClr val="dk1"/>
              </a:solidFill>
              <a:latin typeface="Calibri"/>
              <a:ea typeface="Calibri"/>
              <a:cs typeface="Calibri"/>
              <a:sym typeface="Calibri"/>
            </a:endParaRPr>
          </a:p>
        </p:txBody>
      </p:sp>
    </p:spTree>
  </p:cSld>
  <p:clrMapOvr>
    <a:masterClrMapping/>
  </p:clrMapOvr>
</p:sld>
</file>

<file path=ppt/slides/slide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161616"/>
        </a:solidFill>
      </p:bgPr>
    </p:bg>
    <p:spTree>
      <p:nvGrpSpPr>
        <p:cNvPr id="118" name="Shape 118"/>
        <p:cNvGrpSpPr/>
        <p:nvPr/>
      </p:nvGrpSpPr>
      <p:grpSpPr>
        <a:xfrm>
          <a:off x="0" y="0"/>
          <a:ext cx="0" cy="0"/>
          <a:chOff x="0" y="0"/>
          <a:chExt cx="0" cy="0"/>
        </a:xfrm>
      </p:grpSpPr>
      <p:sp>
        <p:nvSpPr>
          <p:cNvPr id="119" name="Google Shape;119;g3c5f130be4a_2_0"/>
          <p:cNvSpPr/>
          <p:nvPr/>
        </p:nvSpPr>
        <p:spPr>
          <a:xfrm>
            <a:off x="548640" y="457200"/>
            <a:ext cx="914400" cy="731520"/>
          </a:xfrm>
          <a:prstGeom prst="rect">
            <a:avLst/>
          </a:prstGeom>
          <a:no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000000"/>
              </a:buClr>
              <a:buSzPts val="6000"/>
              <a:buFont typeface="Arial"/>
              <a:buNone/>
            </a:pPr>
            <a:r>
              <a:rPr b="1" i="0" lang="en-US" sz="6000" u="none" cap="none" strike="noStrike">
                <a:solidFill>
                  <a:srgbClr val="B7986A"/>
                </a:solidFill>
                <a:latin typeface="Georgia"/>
                <a:ea typeface="Georgia"/>
                <a:cs typeface="Georgia"/>
                <a:sym typeface="Georgia"/>
              </a:rPr>
              <a:t>“</a:t>
            </a:r>
            <a:endParaRPr/>
          </a:p>
        </p:txBody>
      </p:sp>
      <p:sp>
        <p:nvSpPr>
          <p:cNvPr id="120" name="Google Shape;120;g3c5f130be4a_2_0"/>
          <p:cNvSpPr/>
          <p:nvPr/>
        </p:nvSpPr>
        <p:spPr>
          <a:xfrm>
            <a:off x="548640" y="1097280"/>
            <a:ext cx="54864" cy="3063240"/>
          </a:xfrm>
          <a:prstGeom prst="rect">
            <a:avLst/>
          </a:prstGeom>
          <a:solidFill>
            <a:srgbClr val="B7986A"/>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21" name="Google Shape;121;g3c5f130be4a_2_0"/>
          <p:cNvSpPr/>
          <p:nvPr/>
        </p:nvSpPr>
        <p:spPr>
          <a:xfrm>
            <a:off x="731520" y="1097280"/>
            <a:ext cx="7680960" cy="1645920"/>
          </a:xfrm>
          <a:prstGeom prst="rect">
            <a:avLst/>
          </a:prstGeom>
          <a:noFill/>
          <a:ln>
            <a:noFill/>
          </a:ln>
        </p:spPr>
        <p:txBody>
          <a:bodyPr anchorCtr="0" anchor="ctr" bIns="0" lIns="0" spcFirstLastPara="1" rIns="0" wrap="square" tIns="0">
            <a:noAutofit/>
          </a:bodyPr>
          <a:lstStyle/>
          <a:p>
            <a:pPr indent="0" lvl="0" marL="0" marR="0" rtl="0" algn="l">
              <a:lnSpc>
                <a:spcPct val="130000"/>
              </a:lnSpc>
              <a:spcBef>
                <a:spcPts val="0"/>
              </a:spcBef>
              <a:spcAft>
                <a:spcPts val="0"/>
              </a:spcAft>
              <a:buClr>
                <a:srgbClr val="000000"/>
              </a:buClr>
              <a:buSzPts val="2400"/>
              <a:buFont typeface="Arial"/>
              <a:buNone/>
            </a:pPr>
            <a:r>
              <a:rPr b="0" i="0" lang="en-US" sz="2400" u="none" cap="none" strike="noStrike">
                <a:solidFill>
                  <a:srgbClr val="F5F5F5"/>
                </a:solidFill>
                <a:latin typeface="Calibri"/>
                <a:ea typeface="Calibri"/>
                <a:cs typeface="Calibri"/>
                <a:sym typeface="Calibri"/>
              </a:rPr>
              <a:t>I thought AI-assisted development was lame. I rolled my eyes at the hype. I was convinced it would strip away everything I loved about coding.</a:t>
            </a:r>
            <a:endParaRPr/>
          </a:p>
        </p:txBody>
      </p:sp>
      <p:sp>
        <p:nvSpPr>
          <p:cNvPr id="122" name="Google Shape;122;g3c5f130be4a_2_0"/>
          <p:cNvSpPr/>
          <p:nvPr/>
        </p:nvSpPr>
        <p:spPr>
          <a:xfrm>
            <a:off x="731520" y="2926080"/>
            <a:ext cx="7680960" cy="548640"/>
          </a:xfrm>
          <a:prstGeom prst="rect">
            <a:avLst/>
          </a:prstGeom>
          <a:no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000000"/>
              </a:buClr>
              <a:buSzPts val="2800"/>
              <a:buFont typeface="Arial"/>
              <a:buNone/>
            </a:pPr>
            <a:r>
              <a:rPr b="1" i="0" lang="en-US" sz="2800" u="none" cap="none" strike="noStrike">
                <a:solidFill>
                  <a:srgbClr val="B7986A"/>
                </a:solidFill>
                <a:latin typeface="Trebuchet MS"/>
                <a:ea typeface="Trebuchet MS"/>
                <a:cs typeface="Trebuchet MS"/>
                <a:sym typeface="Trebuchet MS"/>
              </a:rPr>
              <a:t>Today, 90% of my code is written by AI.</a:t>
            </a:r>
            <a:endParaRPr/>
          </a:p>
        </p:txBody>
      </p:sp>
      <p:sp>
        <p:nvSpPr>
          <p:cNvPr id="123" name="Google Shape;123;g3c5f130be4a_2_0"/>
          <p:cNvSpPr/>
          <p:nvPr/>
        </p:nvSpPr>
        <p:spPr>
          <a:xfrm>
            <a:off x="731520" y="3611880"/>
            <a:ext cx="7680960" cy="548640"/>
          </a:xfrm>
          <a:prstGeom prst="rect">
            <a:avLst/>
          </a:prstGeom>
          <a:noFill/>
          <a:ln>
            <a:noFill/>
          </a:ln>
        </p:spPr>
        <p:txBody>
          <a:bodyPr anchorCtr="0" anchor="t" bIns="0" lIns="0" spcFirstLastPara="1" rIns="0" wrap="square" tIns="0">
            <a:noAutofit/>
          </a:bodyPr>
          <a:lstStyle/>
          <a:p>
            <a:pPr indent="0" lvl="0" marL="0" marR="0" rtl="0" algn="l">
              <a:lnSpc>
                <a:spcPct val="130000"/>
              </a:lnSpc>
              <a:spcBef>
                <a:spcPts val="0"/>
              </a:spcBef>
              <a:spcAft>
                <a:spcPts val="0"/>
              </a:spcAft>
              <a:buClr>
                <a:srgbClr val="000000"/>
              </a:buClr>
              <a:buSzPts val="1800"/>
              <a:buFont typeface="Arial"/>
              <a:buNone/>
            </a:pPr>
            <a:r>
              <a:rPr b="0" i="0" lang="en-US" sz="1800" u="none" cap="none" strike="noStrike">
                <a:solidFill>
                  <a:srgbClr val="ADB5BD"/>
                </a:solidFill>
                <a:latin typeface="Calibri"/>
                <a:ea typeface="Calibri"/>
                <a:cs typeface="Calibri"/>
                <a:sym typeface="Calibri"/>
              </a:rPr>
              <a:t>And I’ve never enjoyed building more than I do right now.</a:t>
            </a:r>
            <a:endParaRPr/>
          </a:p>
        </p:txBody>
      </p:sp>
    </p:spTree>
  </p:cSld>
  <p:clrMapOvr>
    <a:masterClrMapping/>
  </p:clrMapOvr>
</p:sld>
</file>

<file path=ppt/slides/slide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5F5F5"/>
        </a:solidFill>
      </p:bgPr>
    </p:bg>
    <p:spTree>
      <p:nvGrpSpPr>
        <p:cNvPr id="127" name="Shape 127"/>
        <p:cNvGrpSpPr/>
        <p:nvPr/>
      </p:nvGrpSpPr>
      <p:grpSpPr>
        <a:xfrm>
          <a:off x="0" y="0"/>
          <a:ext cx="0" cy="0"/>
          <a:chOff x="0" y="0"/>
          <a:chExt cx="0" cy="0"/>
        </a:xfrm>
      </p:grpSpPr>
      <p:sp>
        <p:nvSpPr>
          <p:cNvPr id="128" name="Google Shape;128;g3c5f130be4a_2_9"/>
          <p:cNvSpPr/>
          <p:nvPr/>
        </p:nvSpPr>
        <p:spPr>
          <a:xfrm>
            <a:off x="548640" y="274320"/>
            <a:ext cx="8229600" cy="548640"/>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000000"/>
              </a:buClr>
              <a:buSzPts val="3000"/>
              <a:buFont typeface="Arial"/>
              <a:buNone/>
            </a:pPr>
            <a:r>
              <a:rPr b="1" i="0" lang="en-US" sz="3000" u="none" cap="none" strike="noStrike">
                <a:solidFill>
                  <a:srgbClr val="161616"/>
                </a:solidFill>
                <a:latin typeface="Trebuchet MS"/>
                <a:ea typeface="Trebuchet MS"/>
                <a:cs typeface="Trebuchet MS"/>
                <a:sym typeface="Trebuchet MS"/>
              </a:rPr>
              <a:t>The Joy Doesn’t Go Away</a:t>
            </a:r>
            <a:endParaRPr/>
          </a:p>
        </p:txBody>
      </p:sp>
      <p:sp>
        <p:nvSpPr>
          <p:cNvPr id="129" name="Google Shape;129;g3c5f130be4a_2_9"/>
          <p:cNvSpPr/>
          <p:nvPr/>
        </p:nvSpPr>
        <p:spPr>
          <a:xfrm>
            <a:off x="548640" y="777240"/>
            <a:ext cx="8229600" cy="320040"/>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000000"/>
              </a:buClr>
              <a:buSzPts val="1400"/>
              <a:buFont typeface="Arial"/>
              <a:buNone/>
            </a:pPr>
            <a:r>
              <a:rPr b="0" i="0" lang="en-US" sz="1400" u="none" cap="none" strike="noStrike">
                <a:solidFill>
                  <a:srgbClr val="6B7280"/>
                </a:solidFill>
                <a:latin typeface="Calibri"/>
                <a:ea typeface="Calibri"/>
                <a:cs typeface="Calibri"/>
                <a:sym typeface="Calibri"/>
              </a:rPr>
              <a:t>It just comes faster and more often.</a:t>
            </a:r>
            <a:endParaRPr/>
          </a:p>
        </p:txBody>
      </p:sp>
      <p:sp>
        <p:nvSpPr>
          <p:cNvPr id="130" name="Google Shape;130;g3c5f130be4a_2_9"/>
          <p:cNvSpPr/>
          <p:nvPr/>
        </p:nvSpPr>
        <p:spPr>
          <a:xfrm>
            <a:off x="548640" y="1280160"/>
            <a:ext cx="3840480" cy="1645920"/>
          </a:xfrm>
          <a:prstGeom prst="rect">
            <a:avLst/>
          </a:prstGeom>
          <a:solidFill>
            <a:srgbClr val="FFFFFF"/>
          </a:solidFill>
          <a:ln>
            <a:noFill/>
          </a:ln>
          <a:effectLst>
            <a:outerShdw blurRad="76200" rotWithShape="0" algn="bl" dir="8100000" dist="25400">
              <a:srgbClr val="000000">
                <a:alpha val="11372"/>
              </a:srgbClr>
            </a:outerShdw>
          </a:effectLst>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31" name="Google Shape;131;g3c5f130be4a_2_9"/>
          <p:cNvSpPr/>
          <p:nvPr/>
        </p:nvSpPr>
        <p:spPr>
          <a:xfrm>
            <a:off x="548640" y="1280160"/>
            <a:ext cx="54864" cy="1645920"/>
          </a:xfrm>
          <a:prstGeom prst="rect">
            <a:avLst/>
          </a:prstGeom>
          <a:solidFill>
            <a:srgbClr val="B7986A"/>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32" name="Google Shape;132;g3c5f130be4a_2_9"/>
          <p:cNvSpPr/>
          <p:nvPr/>
        </p:nvSpPr>
        <p:spPr>
          <a:xfrm>
            <a:off x="731520" y="1371600"/>
            <a:ext cx="3474720" cy="365760"/>
          </a:xfrm>
          <a:prstGeom prst="rect">
            <a:avLst/>
          </a:prstGeom>
          <a:no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000000"/>
              </a:buClr>
              <a:buSzPts val="1800"/>
              <a:buFont typeface="Arial"/>
              <a:buNone/>
            </a:pPr>
            <a:r>
              <a:rPr b="1" i="0" lang="en-US" sz="1800" u="none" cap="none" strike="noStrike">
                <a:solidFill>
                  <a:srgbClr val="161616"/>
                </a:solidFill>
                <a:latin typeface="Trebuchet MS"/>
                <a:ea typeface="Trebuchet MS"/>
                <a:cs typeface="Trebuchet MS"/>
                <a:sym typeface="Trebuchet MS"/>
              </a:rPr>
              <a:t>That lit-up feeling</a:t>
            </a:r>
            <a:endParaRPr/>
          </a:p>
        </p:txBody>
      </p:sp>
      <p:sp>
        <p:nvSpPr>
          <p:cNvPr id="133" name="Google Shape;133;g3c5f130be4a_2_9"/>
          <p:cNvSpPr/>
          <p:nvPr/>
        </p:nvSpPr>
        <p:spPr>
          <a:xfrm>
            <a:off x="731520" y="1737360"/>
            <a:ext cx="3474720" cy="1005840"/>
          </a:xfrm>
          <a:prstGeom prst="rect">
            <a:avLst/>
          </a:prstGeom>
          <a:noFill/>
          <a:ln>
            <a:noFill/>
          </a:ln>
        </p:spPr>
        <p:txBody>
          <a:bodyPr anchorCtr="0" anchor="t" bIns="0" lIns="0" spcFirstLastPara="1" rIns="0" wrap="square" tIns="0">
            <a:noAutofit/>
          </a:bodyPr>
          <a:lstStyle/>
          <a:p>
            <a:pPr indent="0" lvl="0" marL="0" marR="0" rtl="0" algn="l">
              <a:lnSpc>
                <a:spcPct val="130000"/>
              </a:lnSpc>
              <a:spcBef>
                <a:spcPts val="0"/>
              </a:spcBef>
              <a:spcAft>
                <a:spcPts val="0"/>
              </a:spcAft>
              <a:buClr>
                <a:srgbClr val="000000"/>
              </a:buClr>
              <a:buSzPts val="1300"/>
              <a:buFont typeface="Arial"/>
              <a:buNone/>
            </a:pPr>
            <a:r>
              <a:rPr b="0" i="0" lang="en-US" sz="1200" u="none" cap="none" strike="noStrike">
                <a:solidFill>
                  <a:srgbClr val="6B7280"/>
                </a:solidFill>
                <a:latin typeface="Calibri"/>
                <a:ea typeface="Calibri"/>
                <a:cs typeface="Calibri"/>
                <a:sym typeface="Calibri"/>
              </a:rPr>
              <a:t>Programming has always been about building things and seeing them work. That moment when something you created comes alive — that doesn’t change. You still own the vision. You still architect the solution.</a:t>
            </a:r>
            <a:endParaRPr sz="1300"/>
          </a:p>
        </p:txBody>
      </p:sp>
      <p:sp>
        <p:nvSpPr>
          <p:cNvPr id="134" name="Google Shape;134;g3c5f130be4a_2_9"/>
          <p:cNvSpPr/>
          <p:nvPr/>
        </p:nvSpPr>
        <p:spPr>
          <a:xfrm>
            <a:off x="4572000" y="1280160"/>
            <a:ext cx="4023360" cy="1645920"/>
          </a:xfrm>
          <a:prstGeom prst="rect">
            <a:avLst/>
          </a:prstGeom>
          <a:solidFill>
            <a:srgbClr val="FFFFFF"/>
          </a:solidFill>
          <a:ln>
            <a:noFill/>
          </a:ln>
          <a:effectLst>
            <a:outerShdw blurRad="76200" rotWithShape="0" algn="bl" dir="8100000" dist="25400">
              <a:srgbClr val="000000">
                <a:alpha val="11372"/>
              </a:srgbClr>
            </a:outerShdw>
          </a:effectLst>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35" name="Google Shape;135;g3c5f130be4a_2_9"/>
          <p:cNvSpPr/>
          <p:nvPr/>
        </p:nvSpPr>
        <p:spPr>
          <a:xfrm>
            <a:off x="4572000" y="1280160"/>
            <a:ext cx="54864" cy="1645920"/>
          </a:xfrm>
          <a:prstGeom prst="rect">
            <a:avLst/>
          </a:prstGeom>
          <a:solidFill>
            <a:srgbClr val="B7986A"/>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36" name="Google Shape;136;g3c5f130be4a_2_9"/>
          <p:cNvSpPr/>
          <p:nvPr/>
        </p:nvSpPr>
        <p:spPr>
          <a:xfrm>
            <a:off x="4754880" y="1371600"/>
            <a:ext cx="3657600" cy="365760"/>
          </a:xfrm>
          <a:prstGeom prst="rect">
            <a:avLst/>
          </a:prstGeom>
          <a:no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000000"/>
              </a:buClr>
              <a:buSzPts val="1800"/>
              <a:buFont typeface="Arial"/>
              <a:buNone/>
            </a:pPr>
            <a:r>
              <a:rPr b="1" i="0" lang="en-US" sz="1800" u="none" cap="none" strike="noStrike">
                <a:solidFill>
                  <a:srgbClr val="161616"/>
                </a:solidFill>
                <a:latin typeface="Trebuchet MS"/>
                <a:ea typeface="Trebuchet MS"/>
                <a:cs typeface="Trebuchet MS"/>
                <a:sym typeface="Trebuchet MS"/>
              </a:rPr>
              <a:t>Same joy, faster loop</a:t>
            </a:r>
            <a:endParaRPr/>
          </a:p>
        </p:txBody>
      </p:sp>
      <p:sp>
        <p:nvSpPr>
          <p:cNvPr id="137" name="Google Shape;137;g3c5f130be4a_2_9"/>
          <p:cNvSpPr/>
          <p:nvPr/>
        </p:nvSpPr>
        <p:spPr>
          <a:xfrm>
            <a:off x="4754880" y="1737360"/>
            <a:ext cx="3657600" cy="1005840"/>
          </a:xfrm>
          <a:prstGeom prst="rect">
            <a:avLst/>
          </a:prstGeom>
          <a:noFill/>
          <a:ln>
            <a:noFill/>
          </a:ln>
        </p:spPr>
        <p:txBody>
          <a:bodyPr anchorCtr="0" anchor="t" bIns="0" lIns="0" spcFirstLastPara="1" rIns="0" wrap="square" tIns="0">
            <a:noAutofit/>
          </a:bodyPr>
          <a:lstStyle/>
          <a:p>
            <a:pPr indent="0" lvl="0" marL="0" marR="0" rtl="0" algn="l">
              <a:lnSpc>
                <a:spcPct val="130000"/>
              </a:lnSpc>
              <a:spcBef>
                <a:spcPts val="0"/>
              </a:spcBef>
              <a:spcAft>
                <a:spcPts val="0"/>
              </a:spcAft>
              <a:buClr>
                <a:srgbClr val="000000"/>
              </a:buClr>
              <a:buSzPts val="1300"/>
              <a:buFont typeface="Arial"/>
              <a:buNone/>
            </a:pPr>
            <a:r>
              <a:rPr b="0" i="0" lang="en-US" sz="1300" u="none" cap="none" strike="noStrike">
                <a:solidFill>
                  <a:srgbClr val="6B7280"/>
                </a:solidFill>
                <a:latin typeface="Calibri"/>
                <a:ea typeface="Calibri"/>
                <a:cs typeface="Calibri"/>
                <a:sym typeface="Calibri"/>
              </a:rPr>
              <a:t>The idea-to-working-thing cycle shrinks from days to hours. You get that hit — the thing you built, shining on screen — more often. You’re not losing agency. You’re gaining leverage.</a:t>
            </a:r>
            <a:endParaRPr/>
          </a:p>
        </p:txBody>
      </p:sp>
      <p:sp>
        <p:nvSpPr>
          <p:cNvPr id="138" name="Google Shape;138;g3c5f130be4a_2_9"/>
          <p:cNvSpPr/>
          <p:nvPr/>
        </p:nvSpPr>
        <p:spPr>
          <a:xfrm>
            <a:off x="548640" y="3108960"/>
            <a:ext cx="8046720" cy="1554480"/>
          </a:xfrm>
          <a:prstGeom prst="rect">
            <a:avLst/>
          </a:prstGeom>
          <a:solidFill>
            <a:schemeClr val="lt1"/>
          </a:solidFill>
          <a:ln>
            <a:noFill/>
          </a:ln>
          <a:effectLst>
            <a:outerShdw blurRad="76200" rotWithShape="0" algn="bl" dir="8100000" dist="25400">
              <a:srgbClr val="000000">
                <a:alpha val="11372"/>
              </a:srgbClr>
            </a:outerShdw>
          </a:effectLst>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39" name="Google Shape;139;g3c5f130be4a_2_9"/>
          <p:cNvSpPr/>
          <p:nvPr/>
        </p:nvSpPr>
        <p:spPr>
          <a:xfrm>
            <a:off x="548640" y="3108960"/>
            <a:ext cx="54864" cy="1554480"/>
          </a:xfrm>
          <a:prstGeom prst="rect">
            <a:avLst/>
          </a:prstGeom>
          <a:solidFill>
            <a:srgbClr val="B7986A"/>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40" name="Google Shape;140;g3c5f130be4a_2_9"/>
          <p:cNvSpPr/>
          <p:nvPr/>
        </p:nvSpPr>
        <p:spPr>
          <a:xfrm>
            <a:off x="731520" y="3200400"/>
            <a:ext cx="7680960" cy="365760"/>
          </a:xfrm>
          <a:prstGeom prst="rect">
            <a:avLst/>
          </a:prstGeom>
          <a:no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000000"/>
              </a:buClr>
              <a:buSzPts val="1800"/>
              <a:buFont typeface="Arial"/>
              <a:buNone/>
            </a:pPr>
            <a:r>
              <a:rPr b="1" i="0" lang="en-US" sz="1800" u="none" cap="none" strike="noStrike">
                <a:solidFill>
                  <a:srgbClr val="161616"/>
                </a:solidFill>
                <a:latin typeface="Trebuchet MS"/>
                <a:ea typeface="Trebuchet MS"/>
                <a:cs typeface="Trebuchet MS"/>
                <a:sym typeface="Trebuchet MS"/>
              </a:rPr>
              <a:t>Getting out of your bubble is more fun than you think</a:t>
            </a:r>
            <a:endParaRPr>
              <a:solidFill>
                <a:srgbClr val="161616"/>
              </a:solidFill>
            </a:endParaRPr>
          </a:p>
        </p:txBody>
      </p:sp>
      <p:sp>
        <p:nvSpPr>
          <p:cNvPr id="141" name="Google Shape;141;g3c5f130be4a_2_9"/>
          <p:cNvSpPr/>
          <p:nvPr/>
        </p:nvSpPr>
        <p:spPr>
          <a:xfrm>
            <a:off x="731520" y="3566160"/>
            <a:ext cx="7680960" cy="1005840"/>
          </a:xfrm>
          <a:prstGeom prst="rect">
            <a:avLst/>
          </a:prstGeom>
          <a:noFill/>
          <a:ln>
            <a:noFill/>
          </a:ln>
        </p:spPr>
        <p:txBody>
          <a:bodyPr anchorCtr="0" anchor="t" bIns="0" lIns="0" spcFirstLastPara="1" rIns="0" wrap="square" tIns="0">
            <a:noAutofit/>
          </a:bodyPr>
          <a:lstStyle/>
          <a:p>
            <a:pPr indent="0" lvl="0" marL="0" marR="0" rtl="0" algn="l">
              <a:lnSpc>
                <a:spcPct val="130000"/>
              </a:lnSpc>
              <a:spcBef>
                <a:spcPts val="0"/>
              </a:spcBef>
              <a:spcAft>
                <a:spcPts val="0"/>
              </a:spcAft>
              <a:buClr>
                <a:srgbClr val="000000"/>
              </a:buClr>
              <a:buSzPts val="1300"/>
              <a:buFont typeface="Arial"/>
              <a:buNone/>
            </a:pPr>
            <a:r>
              <a:rPr b="0" i="0" lang="en-US" sz="1300" u="none" cap="none" strike="noStrike">
                <a:solidFill>
                  <a:srgbClr val="6B7280"/>
                </a:solidFill>
                <a:latin typeface="Calibri"/>
                <a:ea typeface="Calibri"/>
                <a:cs typeface="Calibri"/>
                <a:sym typeface="Calibri"/>
              </a:rPr>
              <a:t>The comfort zone feels safe, but it’s shrinking. When you step outside it, you don’t lose autonomy — you gain superpowers. You’re still the one deciding what to build, how it works, and what “good” looks like. The AI just clears the path so you can spend more time on the parts that actually matter to you.</a:t>
            </a:r>
            <a:endParaRPr>
              <a:solidFill>
                <a:srgbClr val="6B7280"/>
              </a:solidFill>
            </a:endParaRPr>
          </a:p>
        </p:txBody>
      </p:sp>
      <p:cxnSp>
        <p:nvCxnSpPr>
          <p:cNvPr id="142" name="Google Shape;142;g3c5f130be4a_2_9"/>
          <p:cNvCxnSpPr/>
          <p:nvPr/>
        </p:nvCxnSpPr>
        <p:spPr>
          <a:xfrm>
            <a:off x="457200" y="4892040"/>
            <a:ext cx="8229600" cy="0"/>
          </a:xfrm>
          <a:prstGeom prst="straightConnector1">
            <a:avLst/>
          </a:prstGeom>
          <a:noFill/>
          <a:ln cap="flat" cmpd="sng" w="9525">
            <a:solidFill>
              <a:srgbClr val="B7986A"/>
            </a:solidFill>
            <a:prstDash val="solid"/>
            <a:round/>
            <a:headEnd len="sm" w="sm" type="none"/>
            <a:tailEnd len="sm" w="sm" type="none"/>
          </a:ln>
        </p:spPr>
      </p:cxnSp>
      <p:sp>
        <p:nvSpPr>
          <p:cNvPr id="143" name="Google Shape;143;g3c5f130be4a_2_9"/>
          <p:cNvSpPr/>
          <p:nvPr/>
        </p:nvSpPr>
        <p:spPr>
          <a:xfrm>
            <a:off x="457200" y="4892040"/>
            <a:ext cx="6400800" cy="228600"/>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000000"/>
              </a:buClr>
              <a:buSzPts val="800"/>
              <a:buFont typeface="Arial"/>
              <a:buNone/>
            </a:pPr>
            <a:r>
              <a:rPr b="0" i="0" lang="en-US" sz="800" u="none" cap="none" strike="noStrike">
                <a:solidFill>
                  <a:srgbClr val="ADB5BD"/>
                </a:solidFill>
                <a:latin typeface="Calibri"/>
                <a:ea typeface="Calibri"/>
                <a:cs typeface="Calibri"/>
                <a:sym typeface="Calibri"/>
              </a:rPr>
              <a:t>Claude Code  |  Ravn Production Team  |  Part 1</a:t>
            </a:r>
            <a:endParaRPr/>
          </a:p>
        </p:txBody>
      </p:sp>
    </p:spTree>
  </p:cSld>
  <p:clrMapOvr>
    <a:masterClrMapping/>
  </p:clrMapOvr>
</p:sld>
</file>

<file path=ppt/slides/slide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5F5F5"/>
        </a:solidFill>
      </p:bgPr>
    </p:bg>
    <p:spTree>
      <p:nvGrpSpPr>
        <p:cNvPr id="148" name="Shape 148"/>
        <p:cNvGrpSpPr/>
        <p:nvPr/>
      </p:nvGrpSpPr>
      <p:grpSpPr>
        <a:xfrm>
          <a:off x="0" y="0"/>
          <a:ext cx="0" cy="0"/>
          <a:chOff x="0" y="0"/>
          <a:chExt cx="0" cy="0"/>
        </a:xfrm>
      </p:grpSpPr>
      <p:sp>
        <p:nvSpPr>
          <p:cNvPr id="149" name="Google Shape;149;p6"/>
          <p:cNvSpPr/>
          <p:nvPr/>
        </p:nvSpPr>
        <p:spPr>
          <a:xfrm>
            <a:off x="548640" y="274320"/>
            <a:ext cx="8229600" cy="54864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161616"/>
              </a:buClr>
              <a:buSzPts val="3000"/>
              <a:buFont typeface="Trebuchet MS"/>
              <a:buNone/>
            </a:pPr>
            <a:r>
              <a:rPr b="1" i="0" lang="en-US" sz="3000" u="none" cap="none" strike="noStrike">
                <a:solidFill>
                  <a:srgbClr val="161616"/>
                </a:solidFill>
                <a:latin typeface="Trebuchet MS"/>
                <a:ea typeface="Trebuchet MS"/>
                <a:cs typeface="Trebuchet MS"/>
                <a:sym typeface="Trebuchet MS"/>
              </a:rPr>
              <a:t>Continuous Learning</a:t>
            </a:r>
            <a:endParaRPr b="0" i="0" sz="3000" u="none" cap="none" strike="noStrike">
              <a:solidFill>
                <a:schemeClr val="dk1"/>
              </a:solidFill>
              <a:latin typeface="Calibri"/>
              <a:ea typeface="Calibri"/>
              <a:cs typeface="Calibri"/>
              <a:sym typeface="Calibri"/>
            </a:endParaRPr>
          </a:p>
        </p:txBody>
      </p:sp>
      <p:sp>
        <p:nvSpPr>
          <p:cNvPr id="150" name="Google Shape;150;p6"/>
          <p:cNvSpPr/>
          <p:nvPr/>
        </p:nvSpPr>
        <p:spPr>
          <a:xfrm>
            <a:off x="548640" y="777240"/>
            <a:ext cx="8229600" cy="32004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6B7280"/>
              </a:buClr>
              <a:buSzPts val="1400"/>
              <a:buFont typeface="Calibri"/>
              <a:buNone/>
            </a:pPr>
            <a:r>
              <a:rPr b="0" i="0" lang="en-US" sz="1400" u="none" cap="none" strike="noStrike">
                <a:solidFill>
                  <a:srgbClr val="6B7280"/>
                </a:solidFill>
                <a:latin typeface="Calibri"/>
                <a:ea typeface="Calibri"/>
                <a:cs typeface="Calibri"/>
                <a:sym typeface="Calibri"/>
              </a:rPr>
              <a:t>Both you and the AI need to learn. Here's how.</a:t>
            </a:r>
            <a:endParaRPr b="0" i="0" sz="1400" u="none" cap="none" strike="noStrike">
              <a:solidFill>
                <a:schemeClr val="dk1"/>
              </a:solidFill>
              <a:latin typeface="Calibri"/>
              <a:ea typeface="Calibri"/>
              <a:cs typeface="Calibri"/>
              <a:sym typeface="Calibri"/>
            </a:endParaRPr>
          </a:p>
        </p:txBody>
      </p:sp>
      <p:sp>
        <p:nvSpPr>
          <p:cNvPr id="151" name="Google Shape;151;p6"/>
          <p:cNvSpPr/>
          <p:nvPr/>
        </p:nvSpPr>
        <p:spPr>
          <a:xfrm>
            <a:off x="548640" y="1280160"/>
            <a:ext cx="3886200" cy="3108960"/>
          </a:xfrm>
          <a:prstGeom prst="rect">
            <a:avLst/>
          </a:prstGeom>
          <a:solidFill>
            <a:srgbClr val="FFFFFF"/>
          </a:solidFill>
          <a:ln>
            <a:noFill/>
          </a:ln>
          <a:effectLst>
            <a:outerShdw blurRad="76200" rotWithShape="0" algn="bl" dir="8100000" dist="25400">
              <a:srgbClr val="000000">
                <a:alpha val="11764"/>
              </a:srgbClr>
            </a:outerShdw>
          </a:effectLst>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52" name="Google Shape;152;p6"/>
          <p:cNvSpPr/>
          <p:nvPr/>
        </p:nvSpPr>
        <p:spPr>
          <a:xfrm>
            <a:off x="548640" y="1280160"/>
            <a:ext cx="54864" cy="3108960"/>
          </a:xfrm>
          <a:prstGeom prst="rect">
            <a:avLst/>
          </a:prstGeom>
          <a:solidFill>
            <a:srgbClr val="B7986A"/>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pic>
        <p:nvPicPr>
          <p:cNvPr descr="preencoded.png" id="153" name="Google Shape;153;p6"/>
          <p:cNvPicPr preferRelativeResize="0"/>
          <p:nvPr/>
        </p:nvPicPr>
        <p:blipFill rotWithShape="1">
          <a:blip r:embed="rId3">
            <a:alphaModFix/>
          </a:blip>
          <a:srcRect b="0" l="0" r="0" t="0"/>
          <a:stretch/>
        </p:blipFill>
        <p:spPr>
          <a:xfrm>
            <a:off x="777240" y="1417320"/>
            <a:ext cx="365760" cy="365760"/>
          </a:xfrm>
          <a:prstGeom prst="rect">
            <a:avLst/>
          </a:prstGeom>
          <a:noFill/>
          <a:ln>
            <a:noFill/>
          </a:ln>
        </p:spPr>
      </p:pic>
      <p:sp>
        <p:nvSpPr>
          <p:cNvPr id="154" name="Google Shape;154;p6"/>
          <p:cNvSpPr/>
          <p:nvPr/>
        </p:nvSpPr>
        <p:spPr>
          <a:xfrm>
            <a:off x="1234440" y="1417320"/>
            <a:ext cx="3017520" cy="36576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161616"/>
              </a:buClr>
              <a:buSzPts val="1600"/>
              <a:buFont typeface="Trebuchet MS"/>
              <a:buNone/>
            </a:pPr>
            <a:r>
              <a:rPr b="1" i="0" lang="en-US" sz="1600" u="none" cap="none" strike="noStrike">
                <a:solidFill>
                  <a:srgbClr val="161616"/>
                </a:solidFill>
                <a:latin typeface="Trebuchet MS"/>
                <a:ea typeface="Trebuchet MS"/>
                <a:cs typeface="Trebuchet MS"/>
                <a:sym typeface="Trebuchet MS"/>
              </a:rPr>
              <a:t>You Learn</a:t>
            </a:r>
            <a:endParaRPr b="0" i="0" sz="1600" u="none" cap="none" strike="noStrike">
              <a:solidFill>
                <a:schemeClr val="dk1"/>
              </a:solidFill>
              <a:latin typeface="Calibri"/>
              <a:ea typeface="Calibri"/>
              <a:cs typeface="Calibri"/>
              <a:sym typeface="Calibri"/>
            </a:endParaRPr>
          </a:p>
        </p:txBody>
      </p:sp>
      <p:pic>
        <p:nvPicPr>
          <p:cNvPr descr="preencoded.png" id="155" name="Google Shape;155;p6"/>
          <p:cNvPicPr preferRelativeResize="0"/>
          <p:nvPr/>
        </p:nvPicPr>
        <p:blipFill rotWithShape="1">
          <a:blip r:embed="rId4">
            <a:alphaModFix/>
          </a:blip>
          <a:srcRect b="0" l="0" r="0" t="0"/>
          <a:stretch/>
        </p:blipFill>
        <p:spPr>
          <a:xfrm>
            <a:off x="777240" y="1920240"/>
            <a:ext cx="201168" cy="201168"/>
          </a:xfrm>
          <a:prstGeom prst="rect">
            <a:avLst/>
          </a:prstGeom>
          <a:noFill/>
          <a:ln>
            <a:noFill/>
          </a:ln>
        </p:spPr>
      </p:pic>
      <p:sp>
        <p:nvSpPr>
          <p:cNvPr id="156" name="Google Shape;156;p6"/>
          <p:cNvSpPr/>
          <p:nvPr/>
        </p:nvSpPr>
        <p:spPr>
          <a:xfrm>
            <a:off x="1051560" y="1874520"/>
            <a:ext cx="3200400" cy="41148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161616"/>
              </a:buClr>
              <a:buSzPts val="1200"/>
              <a:buFont typeface="Calibri"/>
              <a:buNone/>
            </a:pPr>
            <a:r>
              <a:rPr b="0" i="0" lang="en-US" sz="1200" u="none" cap="none" strike="noStrike">
                <a:solidFill>
                  <a:srgbClr val="161616"/>
                </a:solidFill>
                <a:latin typeface="Calibri"/>
                <a:ea typeface="Calibri"/>
                <a:cs typeface="Calibri"/>
                <a:sym typeface="Calibri"/>
              </a:rPr>
              <a:t>Take ownership of your own learning</a:t>
            </a:r>
            <a:endParaRPr b="0" i="0" sz="1200" u="none" cap="none" strike="noStrike">
              <a:solidFill>
                <a:schemeClr val="dk1"/>
              </a:solidFill>
              <a:latin typeface="Calibri"/>
              <a:ea typeface="Calibri"/>
              <a:cs typeface="Calibri"/>
              <a:sym typeface="Calibri"/>
            </a:endParaRPr>
          </a:p>
        </p:txBody>
      </p:sp>
      <p:pic>
        <p:nvPicPr>
          <p:cNvPr descr="preencoded.png" id="157" name="Google Shape;157;p6"/>
          <p:cNvPicPr preferRelativeResize="0"/>
          <p:nvPr/>
        </p:nvPicPr>
        <p:blipFill rotWithShape="1">
          <a:blip r:embed="rId4">
            <a:alphaModFix/>
          </a:blip>
          <a:srcRect b="0" l="0" r="0" t="0"/>
          <a:stretch/>
        </p:blipFill>
        <p:spPr>
          <a:xfrm>
            <a:off x="777240" y="2395728"/>
            <a:ext cx="201168" cy="201168"/>
          </a:xfrm>
          <a:prstGeom prst="rect">
            <a:avLst/>
          </a:prstGeom>
          <a:noFill/>
          <a:ln>
            <a:noFill/>
          </a:ln>
        </p:spPr>
      </p:pic>
      <p:sp>
        <p:nvSpPr>
          <p:cNvPr id="158" name="Google Shape;158;p6"/>
          <p:cNvSpPr/>
          <p:nvPr/>
        </p:nvSpPr>
        <p:spPr>
          <a:xfrm>
            <a:off x="1051560" y="2350008"/>
            <a:ext cx="3200400" cy="41148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161616"/>
              </a:buClr>
              <a:buSzPts val="1200"/>
              <a:buFont typeface="Calibri"/>
              <a:buNone/>
            </a:pPr>
            <a:r>
              <a:rPr b="0" i="0" lang="en-US" sz="1200" u="none" cap="none" strike="noStrike">
                <a:solidFill>
                  <a:srgbClr val="161616"/>
                </a:solidFill>
                <a:latin typeface="Calibri"/>
                <a:ea typeface="Calibri"/>
                <a:cs typeface="Calibri"/>
                <a:sym typeface="Calibri"/>
              </a:rPr>
              <a:t>Experiment — try things that might fail</a:t>
            </a:r>
            <a:endParaRPr b="0" i="0" sz="1200" u="none" cap="none" strike="noStrike">
              <a:solidFill>
                <a:schemeClr val="dk1"/>
              </a:solidFill>
              <a:latin typeface="Calibri"/>
              <a:ea typeface="Calibri"/>
              <a:cs typeface="Calibri"/>
              <a:sym typeface="Calibri"/>
            </a:endParaRPr>
          </a:p>
        </p:txBody>
      </p:sp>
      <p:pic>
        <p:nvPicPr>
          <p:cNvPr descr="preencoded.png" id="159" name="Google Shape;159;p6"/>
          <p:cNvPicPr preferRelativeResize="0"/>
          <p:nvPr/>
        </p:nvPicPr>
        <p:blipFill rotWithShape="1">
          <a:blip r:embed="rId4">
            <a:alphaModFix/>
          </a:blip>
          <a:srcRect b="0" l="0" r="0" t="0"/>
          <a:stretch/>
        </p:blipFill>
        <p:spPr>
          <a:xfrm>
            <a:off x="777240" y="2871216"/>
            <a:ext cx="201168" cy="201168"/>
          </a:xfrm>
          <a:prstGeom prst="rect">
            <a:avLst/>
          </a:prstGeom>
          <a:noFill/>
          <a:ln>
            <a:noFill/>
          </a:ln>
        </p:spPr>
      </p:pic>
      <p:sp>
        <p:nvSpPr>
          <p:cNvPr id="160" name="Google Shape;160;p6"/>
          <p:cNvSpPr/>
          <p:nvPr/>
        </p:nvSpPr>
        <p:spPr>
          <a:xfrm>
            <a:off x="1051560" y="2825496"/>
            <a:ext cx="3200400" cy="41148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161616"/>
              </a:buClr>
              <a:buSzPts val="1200"/>
              <a:buFont typeface="Calibri"/>
              <a:buNone/>
            </a:pPr>
            <a:r>
              <a:rPr b="0" i="0" lang="en-US" sz="1200" u="none" cap="none" strike="noStrike">
                <a:solidFill>
                  <a:srgbClr val="161616"/>
                </a:solidFill>
                <a:latin typeface="Calibri"/>
                <a:ea typeface="Calibri"/>
                <a:cs typeface="Calibri"/>
                <a:sym typeface="Calibri"/>
              </a:rPr>
              <a:t>Understand why it works (or doesn't)</a:t>
            </a:r>
            <a:endParaRPr b="0" i="0" sz="1200" u="none" cap="none" strike="noStrike">
              <a:solidFill>
                <a:schemeClr val="dk1"/>
              </a:solidFill>
              <a:latin typeface="Calibri"/>
              <a:ea typeface="Calibri"/>
              <a:cs typeface="Calibri"/>
              <a:sym typeface="Calibri"/>
            </a:endParaRPr>
          </a:p>
        </p:txBody>
      </p:sp>
      <p:pic>
        <p:nvPicPr>
          <p:cNvPr descr="preencoded.png" id="161" name="Google Shape;161;p6"/>
          <p:cNvPicPr preferRelativeResize="0"/>
          <p:nvPr/>
        </p:nvPicPr>
        <p:blipFill rotWithShape="1">
          <a:blip r:embed="rId4">
            <a:alphaModFix/>
          </a:blip>
          <a:srcRect b="0" l="0" r="0" t="0"/>
          <a:stretch/>
        </p:blipFill>
        <p:spPr>
          <a:xfrm>
            <a:off x="777240" y="3346704"/>
            <a:ext cx="201168" cy="201168"/>
          </a:xfrm>
          <a:prstGeom prst="rect">
            <a:avLst/>
          </a:prstGeom>
          <a:noFill/>
          <a:ln>
            <a:noFill/>
          </a:ln>
        </p:spPr>
      </p:pic>
      <p:sp>
        <p:nvSpPr>
          <p:cNvPr id="162" name="Google Shape;162;p6"/>
          <p:cNvSpPr/>
          <p:nvPr/>
        </p:nvSpPr>
        <p:spPr>
          <a:xfrm>
            <a:off x="1051560" y="3300984"/>
            <a:ext cx="3200400" cy="41148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161616"/>
              </a:buClr>
              <a:buSzPts val="1200"/>
              <a:buFont typeface="Calibri"/>
              <a:buNone/>
            </a:pPr>
            <a:r>
              <a:rPr b="0" i="0" lang="en-US" sz="1200" u="none" cap="none" strike="noStrike">
                <a:solidFill>
                  <a:srgbClr val="161616"/>
                </a:solidFill>
                <a:latin typeface="Calibri"/>
                <a:ea typeface="Calibri"/>
                <a:cs typeface="Calibri"/>
                <a:sym typeface="Calibri"/>
              </a:rPr>
              <a:t>Talk to Claude more than you think</a:t>
            </a:r>
            <a:endParaRPr b="0" i="0" sz="1200" u="none" cap="none" strike="noStrike">
              <a:solidFill>
                <a:schemeClr val="dk1"/>
              </a:solidFill>
              <a:latin typeface="Calibri"/>
              <a:ea typeface="Calibri"/>
              <a:cs typeface="Calibri"/>
              <a:sym typeface="Calibri"/>
            </a:endParaRPr>
          </a:p>
        </p:txBody>
      </p:sp>
      <p:pic>
        <p:nvPicPr>
          <p:cNvPr descr="preencoded.png" id="163" name="Google Shape;163;p6"/>
          <p:cNvPicPr preferRelativeResize="0"/>
          <p:nvPr/>
        </p:nvPicPr>
        <p:blipFill rotWithShape="1">
          <a:blip r:embed="rId4">
            <a:alphaModFix/>
          </a:blip>
          <a:srcRect b="0" l="0" r="0" t="0"/>
          <a:stretch/>
        </p:blipFill>
        <p:spPr>
          <a:xfrm>
            <a:off x="777240" y="3822192"/>
            <a:ext cx="201168" cy="201168"/>
          </a:xfrm>
          <a:prstGeom prst="rect">
            <a:avLst/>
          </a:prstGeom>
          <a:noFill/>
          <a:ln>
            <a:noFill/>
          </a:ln>
        </p:spPr>
      </p:pic>
      <p:sp>
        <p:nvSpPr>
          <p:cNvPr id="164" name="Google Shape;164;p6"/>
          <p:cNvSpPr/>
          <p:nvPr/>
        </p:nvSpPr>
        <p:spPr>
          <a:xfrm>
            <a:off x="1051560" y="3776472"/>
            <a:ext cx="3200400" cy="41148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161616"/>
              </a:buClr>
              <a:buSzPts val="1200"/>
              <a:buFont typeface="Calibri"/>
              <a:buNone/>
            </a:pPr>
            <a:r>
              <a:rPr b="0" i="0" lang="en-US" sz="1200" u="none" cap="none" strike="noStrike">
                <a:solidFill>
                  <a:srgbClr val="161616"/>
                </a:solidFill>
                <a:latin typeface="Calibri"/>
                <a:ea typeface="Calibri"/>
                <a:cs typeface="Calibri"/>
                <a:sym typeface="Calibri"/>
              </a:rPr>
              <a:t>Ask "why did you do that?"</a:t>
            </a:r>
            <a:endParaRPr b="0" i="0" sz="1200" u="none" cap="none" strike="noStrike">
              <a:solidFill>
                <a:schemeClr val="dk1"/>
              </a:solidFill>
              <a:latin typeface="Calibri"/>
              <a:ea typeface="Calibri"/>
              <a:cs typeface="Calibri"/>
              <a:sym typeface="Calibri"/>
            </a:endParaRPr>
          </a:p>
        </p:txBody>
      </p:sp>
      <p:sp>
        <p:nvSpPr>
          <p:cNvPr id="165" name="Google Shape;165;p6"/>
          <p:cNvSpPr/>
          <p:nvPr/>
        </p:nvSpPr>
        <p:spPr>
          <a:xfrm>
            <a:off x="4709160" y="1280160"/>
            <a:ext cx="3886200" cy="3108960"/>
          </a:xfrm>
          <a:prstGeom prst="rect">
            <a:avLst/>
          </a:prstGeom>
          <a:solidFill>
            <a:srgbClr val="FFFFFF"/>
          </a:solidFill>
          <a:ln>
            <a:noFill/>
          </a:ln>
          <a:effectLst>
            <a:outerShdw blurRad="76200" rotWithShape="0" algn="bl" dir="8100000" dist="25400">
              <a:srgbClr val="000000">
                <a:alpha val="11764"/>
              </a:srgbClr>
            </a:outerShdw>
          </a:effectLst>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66" name="Google Shape;166;p6"/>
          <p:cNvSpPr/>
          <p:nvPr/>
        </p:nvSpPr>
        <p:spPr>
          <a:xfrm>
            <a:off x="4709160" y="1280160"/>
            <a:ext cx="54864" cy="3108960"/>
          </a:xfrm>
          <a:prstGeom prst="rect">
            <a:avLst/>
          </a:prstGeom>
          <a:solidFill>
            <a:srgbClr val="ADB5BD"/>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pic>
        <p:nvPicPr>
          <p:cNvPr descr="preencoded.png" id="167" name="Google Shape;167;p6"/>
          <p:cNvPicPr preferRelativeResize="0"/>
          <p:nvPr/>
        </p:nvPicPr>
        <p:blipFill rotWithShape="1">
          <a:blip r:embed="rId5">
            <a:alphaModFix/>
          </a:blip>
          <a:srcRect b="0" l="0" r="0" t="0"/>
          <a:stretch/>
        </p:blipFill>
        <p:spPr>
          <a:xfrm>
            <a:off x="4937760" y="1417320"/>
            <a:ext cx="365760" cy="365760"/>
          </a:xfrm>
          <a:prstGeom prst="rect">
            <a:avLst/>
          </a:prstGeom>
          <a:noFill/>
          <a:ln>
            <a:noFill/>
          </a:ln>
        </p:spPr>
      </p:pic>
      <p:sp>
        <p:nvSpPr>
          <p:cNvPr id="168" name="Google Shape;168;p6"/>
          <p:cNvSpPr/>
          <p:nvPr/>
        </p:nvSpPr>
        <p:spPr>
          <a:xfrm>
            <a:off x="5394960" y="1417320"/>
            <a:ext cx="3017520" cy="36576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161616"/>
              </a:buClr>
              <a:buSzPts val="1600"/>
              <a:buFont typeface="Trebuchet MS"/>
              <a:buNone/>
            </a:pPr>
            <a:r>
              <a:rPr b="1" i="0" lang="en-US" sz="1600" u="none" cap="none" strike="noStrike">
                <a:solidFill>
                  <a:srgbClr val="161616"/>
                </a:solidFill>
                <a:latin typeface="Trebuchet MS"/>
                <a:ea typeface="Trebuchet MS"/>
                <a:cs typeface="Trebuchet MS"/>
                <a:sym typeface="Trebuchet MS"/>
              </a:rPr>
              <a:t>The AI Learns</a:t>
            </a:r>
            <a:endParaRPr b="0" i="0" sz="1600" u="none" cap="none" strike="noStrike">
              <a:solidFill>
                <a:schemeClr val="dk1"/>
              </a:solidFill>
              <a:latin typeface="Calibri"/>
              <a:ea typeface="Calibri"/>
              <a:cs typeface="Calibri"/>
              <a:sym typeface="Calibri"/>
            </a:endParaRPr>
          </a:p>
        </p:txBody>
      </p:sp>
      <p:sp>
        <p:nvSpPr>
          <p:cNvPr id="169" name="Google Shape;169;p6"/>
          <p:cNvSpPr/>
          <p:nvPr/>
        </p:nvSpPr>
        <p:spPr>
          <a:xfrm>
            <a:off x="4937760" y="1874520"/>
            <a:ext cx="3474720" cy="32004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6B7280"/>
              </a:buClr>
              <a:buSzPts val="1200"/>
              <a:buFont typeface="Calibri"/>
              <a:buNone/>
            </a:pPr>
            <a:r>
              <a:rPr b="0" i="1" lang="en-US" sz="1200" u="none" cap="none" strike="noStrike">
                <a:solidFill>
                  <a:srgbClr val="6B7280"/>
                </a:solidFill>
                <a:latin typeface="Calibri"/>
                <a:ea typeface="Calibri"/>
                <a:cs typeface="Calibri"/>
                <a:sym typeface="Calibri"/>
              </a:rPr>
              <a:t>CLAUDE.md is your project's memory.</a:t>
            </a:r>
            <a:endParaRPr b="0" i="0" sz="1200" u="none" cap="none" strike="noStrike">
              <a:solidFill>
                <a:schemeClr val="dk1"/>
              </a:solidFill>
              <a:latin typeface="Calibri"/>
              <a:ea typeface="Calibri"/>
              <a:cs typeface="Calibri"/>
              <a:sym typeface="Calibri"/>
            </a:endParaRPr>
          </a:p>
        </p:txBody>
      </p:sp>
      <p:sp>
        <p:nvSpPr>
          <p:cNvPr id="170" name="Google Shape;170;p6"/>
          <p:cNvSpPr/>
          <p:nvPr/>
        </p:nvSpPr>
        <p:spPr>
          <a:xfrm>
            <a:off x="4937760" y="2286000"/>
            <a:ext cx="3474720" cy="22860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6B7280"/>
              </a:buClr>
              <a:buSzPts val="1000"/>
              <a:buFont typeface="Calibri"/>
              <a:buNone/>
            </a:pPr>
            <a:r>
              <a:rPr b="0" i="0" lang="en-US" sz="1000" u="none" cap="none" strike="noStrike">
                <a:solidFill>
                  <a:srgbClr val="6B7280"/>
                </a:solidFill>
                <a:latin typeface="Calibri"/>
                <a:ea typeface="Calibri"/>
                <a:cs typeface="Calibri"/>
                <a:sym typeface="Calibri"/>
              </a:rPr>
              <a:t>When Claude makes a mistake:</a:t>
            </a:r>
            <a:endParaRPr b="0" i="0" sz="1000" u="none" cap="none" strike="noStrike">
              <a:solidFill>
                <a:schemeClr val="dk1"/>
              </a:solidFill>
              <a:latin typeface="Calibri"/>
              <a:ea typeface="Calibri"/>
              <a:cs typeface="Calibri"/>
              <a:sym typeface="Calibri"/>
            </a:endParaRPr>
          </a:p>
        </p:txBody>
      </p:sp>
      <p:sp>
        <p:nvSpPr>
          <p:cNvPr id="171" name="Google Shape;171;p6"/>
          <p:cNvSpPr/>
          <p:nvPr/>
        </p:nvSpPr>
        <p:spPr>
          <a:xfrm>
            <a:off x="4937760" y="2514600"/>
            <a:ext cx="3474720" cy="640080"/>
          </a:xfrm>
          <a:prstGeom prst="rect">
            <a:avLst/>
          </a:prstGeom>
          <a:solidFill>
            <a:srgbClr val="E8E8E8"/>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72" name="Google Shape;172;p6"/>
          <p:cNvSpPr/>
          <p:nvPr/>
        </p:nvSpPr>
        <p:spPr>
          <a:xfrm>
            <a:off x="5029200" y="2560320"/>
            <a:ext cx="3291840" cy="548640"/>
          </a:xfrm>
          <a:prstGeom prst="rect">
            <a:avLst/>
          </a:prstGeom>
          <a:noFill/>
          <a:ln>
            <a:noFill/>
          </a:ln>
        </p:spPr>
        <p:txBody>
          <a:bodyPr anchorCtr="0" anchor="ctr" bIns="0" lIns="0" spcFirstLastPara="1" rIns="0" wrap="square" tIns="0">
            <a:noAutofit/>
          </a:bodyPr>
          <a:lstStyle/>
          <a:p>
            <a:pPr indent="0" lvl="0" marL="0" marR="0" rtl="0" algn="l">
              <a:lnSpc>
                <a:spcPct val="120000"/>
              </a:lnSpc>
              <a:spcBef>
                <a:spcPts val="0"/>
              </a:spcBef>
              <a:spcAft>
                <a:spcPts val="0"/>
              </a:spcAft>
              <a:buClr>
                <a:srgbClr val="161616"/>
              </a:buClr>
              <a:buSzPts val="1000"/>
              <a:buFont typeface="Consolas"/>
              <a:buNone/>
            </a:pPr>
            <a:r>
              <a:rPr b="0" i="0" lang="en-US" sz="1000" u="none" cap="none" strike="noStrike">
                <a:solidFill>
                  <a:srgbClr val="161616"/>
                </a:solidFill>
                <a:latin typeface="Consolas"/>
                <a:ea typeface="Consolas"/>
                <a:cs typeface="Consolas"/>
                <a:sym typeface="Consolas"/>
              </a:rPr>
              <a:t>"Fix it, and add a rule to</a:t>
            </a:r>
            <a:endParaRPr b="0" i="0" sz="1000" u="none" cap="none" strike="noStrike">
              <a:solidFill>
                <a:schemeClr val="dk1"/>
              </a:solidFill>
              <a:latin typeface="Calibri"/>
              <a:ea typeface="Calibri"/>
              <a:cs typeface="Calibri"/>
              <a:sym typeface="Calibri"/>
            </a:endParaRPr>
          </a:p>
          <a:p>
            <a:pPr indent="0" lvl="0" marL="0" marR="0" rtl="0" algn="l">
              <a:lnSpc>
                <a:spcPct val="120000"/>
              </a:lnSpc>
              <a:spcBef>
                <a:spcPts val="0"/>
              </a:spcBef>
              <a:spcAft>
                <a:spcPts val="0"/>
              </a:spcAft>
              <a:buClr>
                <a:srgbClr val="161616"/>
              </a:buClr>
              <a:buSzPts val="1000"/>
              <a:buFont typeface="Consolas"/>
              <a:buNone/>
            </a:pPr>
            <a:r>
              <a:rPr b="0" i="0" lang="en-US" sz="1000" u="none" cap="none" strike="noStrike">
                <a:solidFill>
                  <a:srgbClr val="161616"/>
                </a:solidFill>
                <a:latin typeface="Consolas"/>
                <a:ea typeface="Consolas"/>
                <a:cs typeface="Consolas"/>
                <a:sym typeface="Consolas"/>
              </a:rPr>
              <a:t>CLAUDE.md so this doesn't</a:t>
            </a:r>
            <a:endParaRPr b="0" i="0" sz="1000" u="none" cap="none" strike="noStrike">
              <a:solidFill>
                <a:schemeClr val="dk1"/>
              </a:solidFill>
              <a:latin typeface="Calibri"/>
              <a:ea typeface="Calibri"/>
              <a:cs typeface="Calibri"/>
              <a:sym typeface="Calibri"/>
            </a:endParaRPr>
          </a:p>
          <a:p>
            <a:pPr indent="0" lvl="0" marL="0" marR="0" rtl="0" algn="l">
              <a:lnSpc>
                <a:spcPct val="120000"/>
              </a:lnSpc>
              <a:spcBef>
                <a:spcPts val="0"/>
              </a:spcBef>
              <a:spcAft>
                <a:spcPts val="0"/>
              </a:spcAft>
              <a:buClr>
                <a:srgbClr val="161616"/>
              </a:buClr>
              <a:buSzPts val="1000"/>
              <a:buFont typeface="Consolas"/>
              <a:buNone/>
            </a:pPr>
            <a:r>
              <a:rPr b="0" i="0" lang="en-US" sz="1000" u="none" cap="none" strike="noStrike">
                <a:solidFill>
                  <a:srgbClr val="161616"/>
                </a:solidFill>
                <a:latin typeface="Consolas"/>
                <a:ea typeface="Consolas"/>
                <a:cs typeface="Consolas"/>
                <a:sym typeface="Consolas"/>
              </a:rPr>
              <a:t>happen again."</a:t>
            </a:r>
            <a:endParaRPr b="0" i="0" sz="1000" u="none" cap="none" strike="noStrike">
              <a:solidFill>
                <a:schemeClr val="dk1"/>
              </a:solidFill>
              <a:latin typeface="Calibri"/>
              <a:ea typeface="Calibri"/>
              <a:cs typeface="Calibri"/>
              <a:sym typeface="Calibri"/>
            </a:endParaRPr>
          </a:p>
        </p:txBody>
      </p:sp>
      <p:sp>
        <p:nvSpPr>
          <p:cNvPr id="173" name="Google Shape;173;p6"/>
          <p:cNvSpPr/>
          <p:nvPr/>
        </p:nvSpPr>
        <p:spPr>
          <a:xfrm>
            <a:off x="4937760" y="3291840"/>
            <a:ext cx="3474720" cy="457200"/>
          </a:xfrm>
          <a:prstGeom prst="rect">
            <a:avLst/>
          </a:prstGeom>
          <a:noFill/>
          <a:ln>
            <a:noFill/>
          </a:ln>
        </p:spPr>
        <p:txBody>
          <a:bodyPr anchorCtr="0" anchor="ctr" bIns="0" lIns="0" spcFirstLastPara="1" rIns="0" wrap="square" tIns="0">
            <a:noAutofit/>
          </a:bodyPr>
          <a:lstStyle/>
          <a:p>
            <a:pPr indent="0" lvl="0" marL="0" marR="0" rtl="0" algn="l">
              <a:lnSpc>
                <a:spcPct val="125000"/>
              </a:lnSpc>
              <a:spcBef>
                <a:spcPts val="0"/>
              </a:spcBef>
              <a:spcAft>
                <a:spcPts val="0"/>
              </a:spcAft>
              <a:buClr>
                <a:srgbClr val="161616"/>
              </a:buClr>
              <a:buSzPts val="1100"/>
              <a:buFont typeface="Calibri"/>
              <a:buNone/>
            </a:pPr>
            <a:r>
              <a:rPr b="1" i="0" lang="en-US" sz="1100" u="none" cap="none" strike="noStrike">
                <a:solidFill>
                  <a:srgbClr val="161616"/>
                </a:solidFill>
                <a:latin typeface="Calibri"/>
                <a:ea typeface="Calibri"/>
                <a:cs typeface="Calibri"/>
                <a:sym typeface="Calibri"/>
              </a:rPr>
              <a:t>Over time: fewer corrections,</a:t>
            </a:r>
            <a:endParaRPr b="0" i="0" sz="1100" u="none" cap="none" strike="noStrike">
              <a:solidFill>
                <a:schemeClr val="dk1"/>
              </a:solidFill>
              <a:latin typeface="Calibri"/>
              <a:ea typeface="Calibri"/>
              <a:cs typeface="Calibri"/>
              <a:sym typeface="Calibri"/>
            </a:endParaRPr>
          </a:p>
          <a:p>
            <a:pPr indent="0" lvl="0" marL="0" marR="0" rtl="0" algn="l">
              <a:lnSpc>
                <a:spcPct val="125000"/>
              </a:lnSpc>
              <a:spcBef>
                <a:spcPts val="0"/>
              </a:spcBef>
              <a:spcAft>
                <a:spcPts val="0"/>
              </a:spcAft>
              <a:buClr>
                <a:srgbClr val="161616"/>
              </a:buClr>
              <a:buSzPts val="1100"/>
              <a:buFont typeface="Calibri"/>
              <a:buNone/>
            </a:pPr>
            <a:r>
              <a:rPr b="1" i="0" lang="en-US" sz="1100" u="none" cap="none" strike="noStrike">
                <a:solidFill>
                  <a:srgbClr val="161616"/>
                </a:solidFill>
                <a:latin typeface="Calibri"/>
                <a:ea typeface="Calibri"/>
                <a:cs typeface="Calibri"/>
                <a:sym typeface="Calibri"/>
              </a:rPr>
              <a:t>cleaner PRs, faster shipping.</a:t>
            </a:r>
            <a:endParaRPr b="0" i="0" sz="1100" u="none" cap="none" strike="noStrike">
              <a:solidFill>
                <a:schemeClr val="dk1"/>
              </a:solidFill>
              <a:latin typeface="Calibri"/>
              <a:ea typeface="Calibri"/>
              <a:cs typeface="Calibri"/>
              <a:sym typeface="Calibri"/>
            </a:endParaRPr>
          </a:p>
        </p:txBody>
      </p:sp>
      <p:pic>
        <p:nvPicPr>
          <p:cNvPr descr="preencoded.png" id="174" name="Google Shape;174;p6"/>
          <p:cNvPicPr preferRelativeResize="0"/>
          <p:nvPr/>
        </p:nvPicPr>
        <p:blipFill rotWithShape="1">
          <a:blip r:embed="rId6">
            <a:alphaModFix/>
          </a:blip>
          <a:srcRect b="0" l="0" r="0" t="0"/>
          <a:stretch/>
        </p:blipFill>
        <p:spPr>
          <a:xfrm>
            <a:off x="4937760" y="3840480"/>
            <a:ext cx="228600" cy="228600"/>
          </a:xfrm>
          <a:prstGeom prst="rect">
            <a:avLst/>
          </a:prstGeom>
          <a:noFill/>
          <a:ln>
            <a:noFill/>
          </a:ln>
        </p:spPr>
      </p:pic>
      <p:sp>
        <p:nvSpPr>
          <p:cNvPr id="175" name="Google Shape;175;p6"/>
          <p:cNvSpPr/>
          <p:nvPr/>
        </p:nvSpPr>
        <p:spPr>
          <a:xfrm>
            <a:off x="5257800" y="3822192"/>
            <a:ext cx="3108960" cy="32004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6B7280"/>
              </a:buClr>
              <a:buSzPts val="1100"/>
              <a:buFont typeface="Calibri"/>
              <a:buNone/>
            </a:pPr>
            <a:r>
              <a:rPr b="0" i="1" lang="en-US" sz="1100" u="none" cap="none" strike="noStrike">
                <a:solidFill>
                  <a:srgbClr val="6B7280"/>
                </a:solidFill>
                <a:latin typeface="Calibri"/>
                <a:ea typeface="Calibri"/>
                <a:cs typeface="Calibri"/>
                <a:sym typeface="Calibri"/>
              </a:rPr>
              <a:t>The repo becomes a well-oiled machine.</a:t>
            </a:r>
            <a:endParaRPr b="0" i="0" sz="1100" u="none" cap="none" strike="noStrike">
              <a:solidFill>
                <a:schemeClr val="dk1"/>
              </a:solidFill>
              <a:latin typeface="Calibri"/>
              <a:ea typeface="Calibri"/>
              <a:cs typeface="Calibri"/>
              <a:sym typeface="Calibri"/>
            </a:endParaRPr>
          </a:p>
        </p:txBody>
      </p:sp>
      <p:cxnSp>
        <p:nvCxnSpPr>
          <p:cNvPr id="176" name="Google Shape;176;p6"/>
          <p:cNvCxnSpPr/>
          <p:nvPr/>
        </p:nvCxnSpPr>
        <p:spPr>
          <a:xfrm>
            <a:off x="457200" y="4892040"/>
            <a:ext cx="8229600" cy="0"/>
          </a:xfrm>
          <a:prstGeom prst="straightConnector1">
            <a:avLst/>
          </a:prstGeom>
          <a:noFill/>
          <a:ln cap="flat" cmpd="sng" w="9525">
            <a:solidFill>
              <a:srgbClr val="B7986A"/>
            </a:solidFill>
            <a:prstDash val="solid"/>
            <a:round/>
            <a:headEnd len="sm" w="sm" type="none"/>
            <a:tailEnd len="sm" w="sm" type="none"/>
          </a:ln>
        </p:spPr>
      </p:cxnSp>
      <p:sp>
        <p:nvSpPr>
          <p:cNvPr id="177" name="Google Shape;177;p6"/>
          <p:cNvSpPr/>
          <p:nvPr/>
        </p:nvSpPr>
        <p:spPr>
          <a:xfrm>
            <a:off x="457200" y="4892040"/>
            <a:ext cx="6400800" cy="22860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ADB5BD"/>
              </a:buClr>
              <a:buSzPts val="800"/>
              <a:buFont typeface="Calibri"/>
              <a:buNone/>
            </a:pPr>
            <a:r>
              <a:rPr b="0" i="0" lang="en-US" sz="800" u="none" cap="none" strike="noStrike">
                <a:solidFill>
                  <a:srgbClr val="ADB5BD"/>
                </a:solidFill>
                <a:latin typeface="Calibri"/>
                <a:ea typeface="Calibri"/>
                <a:cs typeface="Calibri"/>
                <a:sym typeface="Calibri"/>
              </a:rPr>
              <a:t>Claude Code  |  Ravn Production Team  |  Part 1</a:t>
            </a:r>
            <a:endParaRPr b="0" i="0" sz="800" u="none" cap="none" strike="noStrike">
              <a:solidFill>
                <a:schemeClr val="dk1"/>
              </a:solidFill>
              <a:latin typeface="Calibri"/>
              <a:ea typeface="Calibri"/>
              <a:cs typeface="Calibri"/>
              <a:sym typeface="Calibri"/>
            </a:endParaRPr>
          </a:p>
        </p:txBody>
      </p:sp>
      <p:sp>
        <p:nvSpPr>
          <p:cNvPr id="178" name="Google Shape;178;p6"/>
          <p:cNvSpPr/>
          <p:nvPr/>
        </p:nvSpPr>
        <p:spPr>
          <a:xfrm>
            <a:off x="7772400" y="4892040"/>
            <a:ext cx="914400" cy="228600"/>
          </a:xfrm>
          <a:prstGeom prst="rect">
            <a:avLst/>
          </a:prstGeom>
          <a:noFill/>
          <a:ln>
            <a:noFill/>
          </a:ln>
        </p:spPr>
        <p:txBody>
          <a:bodyPr anchorCtr="0" anchor="ctr" bIns="0" lIns="0" spcFirstLastPara="1" rIns="0" wrap="square" tIns="0">
            <a:noAutofit/>
          </a:bodyPr>
          <a:lstStyle/>
          <a:p>
            <a:pPr indent="0" lvl="0" marL="0" marR="0" rtl="0" algn="r">
              <a:spcBef>
                <a:spcPts val="0"/>
              </a:spcBef>
              <a:spcAft>
                <a:spcPts val="0"/>
              </a:spcAft>
              <a:buClr>
                <a:srgbClr val="ADB5BD"/>
              </a:buClr>
              <a:buSzPts val="800"/>
              <a:buFont typeface="Calibri"/>
              <a:buNone/>
            </a:pPr>
            <a:r>
              <a:rPr b="0" i="0" lang="en-US" sz="800" u="none" cap="none" strike="noStrike">
                <a:solidFill>
                  <a:srgbClr val="ADB5BD"/>
                </a:solidFill>
                <a:latin typeface="Calibri"/>
                <a:ea typeface="Calibri"/>
                <a:cs typeface="Calibri"/>
                <a:sym typeface="Calibri"/>
              </a:rPr>
              <a:t>6</a:t>
            </a:r>
            <a:endParaRPr b="0" i="0" sz="800" u="none" cap="none" strike="noStrike">
              <a:solidFill>
                <a:schemeClr val="dk1"/>
              </a:solidFill>
              <a:latin typeface="Calibri"/>
              <a:ea typeface="Calibri"/>
              <a:cs typeface="Calibri"/>
              <a:sym typeface="Calibri"/>
            </a:endParaRPr>
          </a:p>
        </p:txBody>
      </p:sp>
    </p:spTree>
  </p:cSld>
  <p:clrMapOvr>
    <a:masterClrMapping/>
  </p:clrMapOvr>
</p:sld>
</file>

<file path=ppt/slides/slide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161616"/>
        </a:solidFill>
      </p:bgPr>
    </p:bg>
    <p:spTree>
      <p:nvGrpSpPr>
        <p:cNvPr id="183" name="Shape 183"/>
        <p:cNvGrpSpPr/>
        <p:nvPr/>
      </p:nvGrpSpPr>
      <p:grpSpPr>
        <a:xfrm>
          <a:off x="0" y="0"/>
          <a:ext cx="0" cy="0"/>
          <a:chOff x="0" y="0"/>
          <a:chExt cx="0" cy="0"/>
        </a:xfrm>
      </p:grpSpPr>
      <p:sp>
        <p:nvSpPr>
          <p:cNvPr id="184" name="Google Shape;184;p7"/>
          <p:cNvSpPr/>
          <p:nvPr/>
        </p:nvSpPr>
        <p:spPr>
          <a:xfrm>
            <a:off x="548640" y="274320"/>
            <a:ext cx="8229600" cy="54864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FFFFFF"/>
              </a:buClr>
              <a:buSzPts val="3000"/>
              <a:buFont typeface="Trebuchet MS"/>
              <a:buNone/>
            </a:pPr>
            <a:r>
              <a:rPr b="1" i="0" lang="en-US" sz="3000" u="none" cap="none" strike="noStrike">
                <a:solidFill>
                  <a:srgbClr val="FFFFFF"/>
                </a:solidFill>
                <a:latin typeface="Trebuchet MS"/>
                <a:ea typeface="Trebuchet MS"/>
                <a:cs typeface="Trebuchet MS"/>
                <a:sym typeface="Trebuchet MS"/>
              </a:rPr>
              <a:t>Talk to Claude</a:t>
            </a:r>
            <a:endParaRPr b="0" i="0" sz="3000" u="none" cap="none" strike="noStrike">
              <a:solidFill>
                <a:schemeClr val="dk1"/>
              </a:solidFill>
              <a:latin typeface="Calibri"/>
              <a:ea typeface="Calibri"/>
              <a:cs typeface="Calibri"/>
              <a:sym typeface="Calibri"/>
            </a:endParaRPr>
          </a:p>
        </p:txBody>
      </p:sp>
      <p:sp>
        <p:nvSpPr>
          <p:cNvPr id="185" name="Google Shape;185;p7"/>
          <p:cNvSpPr/>
          <p:nvPr/>
        </p:nvSpPr>
        <p:spPr>
          <a:xfrm>
            <a:off x="548640" y="777240"/>
            <a:ext cx="8229600" cy="32004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ADB5BD"/>
              </a:buClr>
              <a:buSzPts val="1400"/>
              <a:buFont typeface="Calibri"/>
              <a:buNone/>
            </a:pPr>
            <a:r>
              <a:rPr b="0" i="0" lang="en-US" sz="1400" u="none" cap="none" strike="noStrike">
                <a:solidFill>
                  <a:srgbClr val="ADB5BD"/>
                </a:solidFill>
                <a:latin typeface="Calibri"/>
                <a:ea typeface="Calibri"/>
                <a:cs typeface="Calibri"/>
                <a:sym typeface="Calibri"/>
              </a:rPr>
              <a:t>More than you think you should. It's a conversation, not a command line.</a:t>
            </a:r>
            <a:endParaRPr b="0" i="0" sz="1400" u="none" cap="none" strike="noStrike">
              <a:solidFill>
                <a:schemeClr val="dk1"/>
              </a:solidFill>
              <a:latin typeface="Calibri"/>
              <a:ea typeface="Calibri"/>
              <a:cs typeface="Calibri"/>
              <a:sym typeface="Calibri"/>
            </a:endParaRPr>
          </a:p>
        </p:txBody>
      </p:sp>
      <p:sp>
        <p:nvSpPr>
          <p:cNvPr id="186" name="Google Shape;186;p7"/>
          <p:cNvSpPr/>
          <p:nvPr/>
        </p:nvSpPr>
        <p:spPr>
          <a:xfrm>
            <a:off x="548640" y="1280160"/>
            <a:ext cx="4023360" cy="914400"/>
          </a:xfrm>
          <a:prstGeom prst="rect">
            <a:avLst/>
          </a:prstGeom>
          <a:solidFill>
            <a:srgbClr val="1E1E1E"/>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87" name="Google Shape;187;p7"/>
          <p:cNvSpPr/>
          <p:nvPr/>
        </p:nvSpPr>
        <p:spPr>
          <a:xfrm>
            <a:off x="548640" y="1280160"/>
            <a:ext cx="45720" cy="914400"/>
          </a:xfrm>
          <a:prstGeom prst="rect">
            <a:avLst/>
          </a:prstGeom>
          <a:solidFill>
            <a:srgbClr val="B7986A"/>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88" name="Google Shape;188;p7"/>
          <p:cNvSpPr/>
          <p:nvPr/>
        </p:nvSpPr>
        <p:spPr>
          <a:xfrm>
            <a:off x="731520" y="1389888"/>
            <a:ext cx="3657600" cy="36576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FFFFFF"/>
              </a:buClr>
              <a:buSzPts val="1200"/>
              <a:buFont typeface="Calibri"/>
              <a:buNone/>
            </a:pPr>
            <a:r>
              <a:rPr b="0" i="1" lang="en-US" sz="1200" u="none" cap="none" strike="noStrike">
                <a:solidFill>
                  <a:srgbClr val="FFFFFF"/>
                </a:solidFill>
                <a:latin typeface="Calibri"/>
                <a:ea typeface="Calibri"/>
                <a:cs typeface="Calibri"/>
                <a:sym typeface="Calibri"/>
              </a:rPr>
              <a:t>"Why did you do it that way?"</a:t>
            </a:r>
            <a:endParaRPr b="0" i="0" sz="1200" u="none" cap="none" strike="noStrike">
              <a:solidFill>
                <a:schemeClr val="dk1"/>
              </a:solidFill>
              <a:latin typeface="Calibri"/>
              <a:ea typeface="Calibri"/>
              <a:cs typeface="Calibri"/>
              <a:sym typeface="Calibri"/>
            </a:endParaRPr>
          </a:p>
        </p:txBody>
      </p:sp>
      <p:sp>
        <p:nvSpPr>
          <p:cNvPr id="189" name="Google Shape;189;p7"/>
          <p:cNvSpPr/>
          <p:nvPr/>
        </p:nvSpPr>
        <p:spPr>
          <a:xfrm>
            <a:off x="731520" y="1783080"/>
            <a:ext cx="3657600" cy="32004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ADB5BD"/>
              </a:buClr>
              <a:buSzPts val="1000"/>
              <a:buFont typeface="Calibri"/>
              <a:buNone/>
            </a:pPr>
            <a:r>
              <a:rPr b="0" i="0" lang="en-US" sz="1000" u="none" cap="none" strike="noStrike">
                <a:solidFill>
                  <a:srgbClr val="ADB5BD"/>
                </a:solidFill>
                <a:latin typeface="Calibri"/>
                <a:ea typeface="Calibri"/>
                <a:cs typeface="Calibri"/>
                <a:sym typeface="Calibri"/>
              </a:rPr>
              <a:t>Understand the reasoning</a:t>
            </a:r>
            <a:endParaRPr b="0" i="0" sz="1000" u="none" cap="none" strike="noStrike">
              <a:solidFill>
                <a:schemeClr val="dk1"/>
              </a:solidFill>
              <a:latin typeface="Calibri"/>
              <a:ea typeface="Calibri"/>
              <a:cs typeface="Calibri"/>
              <a:sym typeface="Calibri"/>
            </a:endParaRPr>
          </a:p>
        </p:txBody>
      </p:sp>
      <p:sp>
        <p:nvSpPr>
          <p:cNvPr id="190" name="Google Shape;190;p7"/>
          <p:cNvSpPr/>
          <p:nvPr/>
        </p:nvSpPr>
        <p:spPr>
          <a:xfrm>
            <a:off x="4846320" y="1280160"/>
            <a:ext cx="4023360" cy="914400"/>
          </a:xfrm>
          <a:prstGeom prst="rect">
            <a:avLst/>
          </a:prstGeom>
          <a:solidFill>
            <a:srgbClr val="1E1E1E"/>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91" name="Google Shape;191;p7"/>
          <p:cNvSpPr/>
          <p:nvPr/>
        </p:nvSpPr>
        <p:spPr>
          <a:xfrm>
            <a:off x="4846320" y="1280160"/>
            <a:ext cx="45720" cy="914400"/>
          </a:xfrm>
          <a:prstGeom prst="rect">
            <a:avLst/>
          </a:prstGeom>
          <a:solidFill>
            <a:srgbClr val="B7986A"/>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92" name="Google Shape;192;p7"/>
          <p:cNvSpPr/>
          <p:nvPr/>
        </p:nvSpPr>
        <p:spPr>
          <a:xfrm>
            <a:off x="5029200" y="1389888"/>
            <a:ext cx="3657600" cy="36576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FFFFFF"/>
              </a:buClr>
              <a:buSzPts val="1200"/>
              <a:buFont typeface="Calibri"/>
              <a:buNone/>
            </a:pPr>
            <a:r>
              <a:rPr b="0" i="1" lang="en-US" sz="1200" u="none" cap="none" strike="noStrike">
                <a:solidFill>
                  <a:srgbClr val="FFFFFF"/>
                </a:solidFill>
                <a:latin typeface="Calibri"/>
                <a:ea typeface="Calibri"/>
                <a:cs typeface="Calibri"/>
                <a:sym typeface="Calibri"/>
              </a:rPr>
              <a:t>"What other approaches did you consider?"</a:t>
            </a:r>
            <a:endParaRPr b="0" i="0" sz="1200" u="none" cap="none" strike="noStrike">
              <a:solidFill>
                <a:schemeClr val="dk1"/>
              </a:solidFill>
              <a:latin typeface="Calibri"/>
              <a:ea typeface="Calibri"/>
              <a:cs typeface="Calibri"/>
              <a:sym typeface="Calibri"/>
            </a:endParaRPr>
          </a:p>
        </p:txBody>
      </p:sp>
      <p:sp>
        <p:nvSpPr>
          <p:cNvPr id="193" name="Google Shape;193;p7"/>
          <p:cNvSpPr/>
          <p:nvPr/>
        </p:nvSpPr>
        <p:spPr>
          <a:xfrm>
            <a:off x="5029200" y="1783080"/>
            <a:ext cx="3657600" cy="32004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ADB5BD"/>
              </a:buClr>
              <a:buSzPts val="1000"/>
              <a:buFont typeface="Calibri"/>
              <a:buNone/>
            </a:pPr>
            <a:r>
              <a:rPr b="0" i="0" lang="en-US" sz="1000" u="none" cap="none" strike="noStrike">
                <a:solidFill>
                  <a:srgbClr val="ADB5BD"/>
                </a:solidFill>
                <a:latin typeface="Calibri"/>
                <a:ea typeface="Calibri"/>
                <a:cs typeface="Calibri"/>
                <a:sym typeface="Calibri"/>
              </a:rPr>
              <a:t>Learn alternatives</a:t>
            </a:r>
            <a:endParaRPr b="0" i="0" sz="1000" u="none" cap="none" strike="noStrike">
              <a:solidFill>
                <a:schemeClr val="dk1"/>
              </a:solidFill>
              <a:latin typeface="Calibri"/>
              <a:ea typeface="Calibri"/>
              <a:cs typeface="Calibri"/>
              <a:sym typeface="Calibri"/>
            </a:endParaRPr>
          </a:p>
        </p:txBody>
      </p:sp>
      <p:sp>
        <p:nvSpPr>
          <p:cNvPr id="194" name="Google Shape;194;p7"/>
          <p:cNvSpPr/>
          <p:nvPr/>
        </p:nvSpPr>
        <p:spPr>
          <a:xfrm>
            <a:off x="548640" y="2423160"/>
            <a:ext cx="4023360" cy="914400"/>
          </a:xfrm>
          <a:prstGeom prst="rect">
            <a:avLst/>
          </a:prstGeom>
          <a:solidFill>
            <a:srgbClr val="1E1E1E"/>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95" name="Google Shape;195;p7"/>
          <p:cNvSpPr/>
          <p:nvPr/>
        </p:nvSpPr>
        <p:spPr>
          <a:xfrm>
            <a:off x="548640" y="2423160"/>
            <a:ext cx="45720" cy="914400"/>
          </a:xfrm>
          <a:prstGeom prst="rect">
            <a:avLst/>
          </a:prstGeom>
          <a:solidFill>
            <a:srgbClr val="B7986A"/>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96" name="Google Shape;196;p7"/>
          <p:cNvSpPr/>
          <p:nvPr/>
        </p:nvSpPr>
        <p:spPr>
          <a:xfrm>
            <a:off x="731520" y="2532888"/>
            <a:ext cx="3657600" cy="36576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FFFFFF"/>
              </a:buClr>
              <a:buSzPts val="1200"/>
              <a:buFont typeface="Calibri"/>
              <a:buNone/>
            </a:pPr>
            <a:r>
              <a:rPr b="0" i="1" lang="en-US" sz="1200" u="none" cap="none" strike="noStrike">
                <a:solidFill>
                  <a:srgbClr val="FFFFFF"/>
                </a:solidFill>
                <a:latin typeface="Calibri"/>
                <a:ea typeface="Calibri"/>
                <a:cs typeface="Calibri"/>
                <a:sym typeface="Calibri"/>
              </a:rPr>
              <a:t>"I don't understand this part — explain it"</a:t>
            </a:r>
            <a:endParaRPr b="0" i="0" sz="1200" u="none" cap="none" strike="noStrike">
              <a:solidFill>
                <a:schemeClr val="dk1"/>
              </a:solidFill>
              <a:latin typeface="Calibri"/>
              <a:ea typeface="Calibri"/>
              <a:cs typeface="Calibri"/>
              <a:sym typeface="Calibri"/>
            </a:endParaRPr>
          </a:p>
        </p:txBody>
      </p:sp>
      <p:sp>
        <p:nvSpPr>
          <p:cNvPr id="197" name="Google Shape;197;p7"/>
          <p:cNvSpPr/>
          <p:nvPr/>
        </p:nvSpPr>
        <p:spPr>
          <a:xfrm>
            <a:off x="731520" y="2926080"/>
            <a:ext cx="3657600" cy="32004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ADB5BD"/>
              </a:buClr>
              <a:buSzPts val="1000"/>
              <a:buFont typeface="Calibri"/>
              <a:buNone/>
            </a:pPr>
            <a:r>
              <a:rPr b="0" i="0" lang="en-US" sz="1000" u="none" cap="none" strike="noStrike">
                <a:solidFill>
                  <a:srgbClr val="ADB5BD"/>
                </a:solidFill>
                <a:latin typeface="Calibri"/>
                <a:ea typeface="Calibri"/>
                <a:cs typeface="Calibri"/>
                <a:sym typeface="Calibri"/>
              </a:rPr>
              <a:t>Don't pretend</a:t>
            </a:r>
            <a:endParaRPr b="0" i="0" sz="1000" u="none" cap="none" strike="noStrike">
              <a:solidFill>
                <a:schemeClr val="dk1"/>
              </a:solidFill>
              <a:latin typeface="Calibri"/>
              <a:ea typeface="Calibri"/>
              <a:cs typeface="Calibri"/>
              <a:sym typeface="Calibri"/>
            </a:endParaRPr>
          </a:p>
        </p:txBody>
      </p:sp>
      <p:sp>
        <p:nvSpPr>
          <p:cNvPr id="198" name="Google Shape;198;p7"/>
          <p:cNvSpPr/>
          <p:nvPr/>
        </p:nvSpPr>
        <p:spPr>
          <a:xfrm>
            <a:off x="4846320" y="2423160"/>
            <a:ext cx="4023360" cy="914400"/>
          </a:xfrm>
          <a:prstGeom prst="rect">
            <a:avLst/>
          </a:prstGeom>
          <a:solidFill>
            <a:srgbClr val="1E1E1E"/>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99" name="Google Shape;199;p7"/>
          <p:cNvSpPr/>
          <p:nvPr/>
        </p:nvSpPr>
        <p:spPr>
          <a:xfrm>
            <a:off x="4846320" y="2423160"/>
            <a:ext cx="45720" cy="914400"/>
          </a:xfrm>
          <a:prstGeom prst="rect">
            <a:avLst/>
          </a:prstGeom>
          <a:solidFill>
            <a:srgbClr val="B7986A"/>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00" name="Google Shape;200;p7"/>
          <p:cNvSpPr/>
          <p:nvPr/>
        </p:nvSpPr>
        <p:spPr>
          <a:xfrm>
            <a:off x="5029200" y="2532888"/>
            <a:ext cx="3657600" cy="36576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FFFFFF"/>
              </a:buClr>
              <a:buSzPts val="1200"/>
              <a:buFont typeface="Calibri"/>
              <a:buNone/>
            </a:pPr>
            <a:r>
              <a:rPr b="0" i="1" lang="en-US" sz="1200" u="none" cap="none" strike="noStrike">
                <a:solidFill>
                  <a:srgbClr val="FFFFFF"/>
                </a:solidFill>
                <a:latin typeface="Calibri"/>
                <a:ea typeface="Calibri"/>
                <a:cs typeface="Calibri"/>
                <a:sym typeface="Calibri"/>
              </a:rPr>
              <a:t>"That's not how we do it here — here's why..."</a:t>
            </a:r>
            <a:endParaRPr b="0" i="0" sz="1200" u="none" cap="none" strike="noStrike">
              <a:solidFill>
                <a:schemeClr val="dk1"/>
              </a:solidFill>
              <a:latin typeface="Calibri"/>
              <a:ea typeface="Calibri"/>
              <a:cs typeface="Calibri"/>
              <a:sym typeface="Calibri"/>
            </a:endParaRPr>
          </a:p>
        </p:txBody>
      </p:sp>
      <p:sp>
        <p:nvSpPr>
          <p:cNvPr id="201" name="Google Shape;201;p7"/>
          <p:cNvSpPr/>
          <p:nvPr/>
        </p:nvSpPr>
        <p:spPr>
          <a:xfrm>
            <a:off x="5029200" y="2926080"/>
            <a:ext cx="3657600" cy="32004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ADB5BD"/>
              </a:buClr>
              <a:buSzPts val="1000"/>
              <a:buFont typeface="Calibri"/>
              <a:buNone/>
            </a:pPr>
            <a:r>
              <a:rPr b="0" i="0" lang="en-US" sz="1000" u="none" cap="none" strike="noStrike">
                <a:solidFill>
                  <a:srgbClr val="ADB5BD"/>
                </a:solidFill>
                <a:latin typeface="Calibri"/>
                <a:ea typeface="Calibri"/>
                <a:cs typeface="Calibri"/>
                <a:sym typeface="Calibri"/>
              </a:rPr>
              <a:t>Teach it your standards</a:t>
            </a:r>
            <a:endParaRPr b="0" i="0" sz="1000" u="none" cap="none" strike="noStrike">
              <a:solidFill>
                <a:schemeClr val="dk1"/>
              </a:solidFill>
              <a:latin typeface="Calibri"/>
              <a:ea typeface="Calibri"/>
              <a:cs typeface="Calibri"/>
              <a:sym typeface="Calibri"/>
            </a:endParaRPr>
          </a:p>
        </p:txBody>
      </p:sp>
      <p:sp>
        <p:nvSpPr>
          <p:cNvPr id="202" name="Google Shape;202;p7"/>
          <p:cNvSpPr/>
          <p:nvPr/>
        </p:nvSpPr>
        <p:spPr>
          <a:xfrm>
            <a:off x="548640" y="3566160"/>
            <a:ext cx="4023360" cy="914400"/>
          </a:xfrm>
          <a:prstGeom prst="rect">
            <a:avLst/>
          </a:prstGeom>
          <a:solidFill>
            <a:srgbClr val="1E1E1E"/>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03" name="Google Shape;203;p7"/>
          <p:cNvSpPr/>
          <p:nvPr/>
        </p:nvSpPr>
        <p:spPr>
          <a:xfrm>
            <a:off x="548640" y="3566160"/>
            <a:ext cx="45720" cy="914400"/>
          </a:xfrm>
          <a:prstGeom prst="rect">
            <a:avLst/>
          </a:prstGeom>
          <a:solidFill>
            <a:srgbClr val="B7986A"/>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04" name="Google Shape;204;p7"/>
          <p:cNvSpPr/>
          <p:nvPr/>
        </p:nvSpPr>
        <p:spPr>
          <a:xfrm>
            <a:off x="731520" y="3675888"/>
            <a:ext cx="3657600" cy="36576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FFFFFF"/>
              </a:buClr>
              <a:buSzPts val="1200"/>
              <a:buFont typeface="Calibri"/>
              <a:buNone/>
            </a:pPr>
            <a:r>
              <a:rPr b="0" i="1" lang="en-US" sz="1200" u="none" cap="none" strike="noStrike">
                <a:solidFill>
                  <a:srgbClr val="FFFFFF"/>
                </a:solidFill>
                <a:latin typeface="Calibri"/>
                <a:ea typeface="Calibri"/>
                <a:cs typeface="Calibri"/>
                <a:sym typeface="Calibri"/>
              </a:rPr>
              <a:t>"What could go wrong with this?"</a:t>
            </a:r>
            <a:endParaRPr b="0" i="0" sz="1200" u="none" cap="none" strike="noStrike">
              <a:solidFill>
                <a:schemeClr val="dk1"/>
              </a:solidFill>
              <a:latin typeface="Calibri"/>
              <a:ea typeface="Calibri"/>
              <a:cs typeface="Calibri"/>
              <a:sym typeface="Calibri"/>
            </a:endParaRPr>
          </a:p>
        </p:txBody>
      </p:sp>
      <p:sp>
        <p:nvSpPr>
          <p:cNvPr id="205" name="Google Shape;205;p7"/>
          <p:cNvSpPr/>
          <p:nvPr/>
        </p:nvSpPr>
        <p:spPr>
          <a:xfrm>
            <a:off x="731520" y="4069080"/>
            <a:ext cx="3657600" cy="32004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ADB5BD"/>
              </a:buClr>
              <a:buSzPts val="1000"/>
              <a:buFont typeface="Calibri"/>
              <a:buNone/>
            </a:pPr>
            <a:r>
              <a:rPr b="0" i="0" lang="en-US" sz="1000" u="none" cap="none" strike="noStrike">
                <a:solidFill>
                  <a:srgbClr val="ADB5BD"/>
                </a:solidFill>
                <a:latin typeface="Calibri"/>
                <a:ea typeface="Calibri"/>
                <a:cs typeface="Calibri"/>
                <a:sym typeface="Calibri"/>
              </a:rPr>
              <a:t>Surface edge cases</a:t>
            </a:r>
            <a:endParaRPr b="0" i="0" sz="1000" u="none" cap="none" strike="noStrike">
              <a:solidFill>
                <a:schemeClr val="dk1"/>
              </a:solidFill>
              <a:latin typeface="Calibri"/>
              <a:ea typeface="Calibri"/>
              <a:cs typeface="Calibri"/>
              <a:sym typeface="Calibri"/>
            </a:endParaRPr>
          </a:p>
        </p:txBody>
      </p:sp>
      <p:sp>
        <p:nvSpPr>
          <p:cNvPr id="206" name="Google Shape;206;p7"/>
          <p:cNvSpPr/>
          <p:nvPr/>
        </p:nvSpPr>
        <p:spPr>
          <a:xfrm>
            <a:off x="4846320" y="3566160"/>
            <a:ext cx="4023360" cy="914400"/>
          </a:xfrm>
          <a:prstGeom prst="rect">
            <a:avLst/>
          </a:prstGeom>
          <a:solidFill>
            <a:srgbClr val="1E1E1E"/>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07" name="Google Shape;207;p7"/>
          <p:cNvSpPr/>
          <p:nvPr/>
        </p:nvSpPr>
        <p:spPr>
          <a:xfrm>
            <a:off x="4846320" y="3566160"/>
            <a:ext cx="45720" cy="914400"/>
          </a:xfrm>
          <a:prstGeom prst="rect">
            <a:avLst/>
          </a:prstGeom>
          <a:solidFill>
            <a:srgbClr val="B7986A"/>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08" name="Google Shape;208;p7"/>
          <p:cNvSpPr/>
          <p:nvPr/>
        </p:nvSpPr>
        <p:spPr>
          <a:xfrm>
            <a:off x="5029200" y="3675888"/>
            <a:ext cx="3657600" cy="36576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FFFFFF"/>
              </a:buClr>
              <a:buSzPts val="1200"/>
              <a:buFont typeface="Calibri"/>
              <a:buNone/>
            </a:pPr>
            <a:r>
              <a:rPr b="0" i="1" lang="en-US" sz="1200" u="none" cap="none" strike="noStrike">
                <a:solidFill>
                  <a:srgbClr val="FFFFFF"/>
                </a:solidFill>
                <a:latin typeface="Calibri"/>
                <a:ea typeface="Calibri"/>
                <a:cs typeface="Calibri"/>
                <a:sym typeface="Calibri"/>
              </a:rPr>
              <a:t>"Before you write code, let's talk through the plan"</a:t>
            </a:r>
            <a:endParaRPr b="0" i="0" sz="1200" u="none" cap="none" strike="noStrike">
              <a:solidFill>
                <a:schemeClr val="dk1"/>
              </a:solidFill>
              <a:latin typeface="Calibri"/>
              <a:ea typeface="Calibri"/>
              <a:cs typeface="Calibri"/>
              <a:sym typeface="Calibri"/>
            </a:endParaRPr>
          </a:p>
        </p:txBody>
      </p:sp>
      <p:sp>
        <p:nvSpPr>
          <p:cNvPr id="209" name="Google Shape;209;p7"/>
          <p:cNvSpPr/>
          <p:nvPr/>
        </p:nvSpPr>
        <p:spPr>
          <a:xfrm>
            <a:off x="5029200" y="4069080"/>
            <a:ext cx="3657600" cy="32004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ADB5BD"/>
              </a:buClr>
              <a:buSzPts val="1000"/>
              <a:buFont typeface="Calibri"/>
              <a:buNone/>
            </a:pPr>
            <a:r>
              <a:rPr b="0" i="0" lang="en-US" sz="1000" u="none" cap="none" strike="noStrike">
                <a:solidFill>
                  <a:srgbClr val="ADB5BD"/>
                </a:solidFill>
                <a:latin typeface="Calibri"/>
                <a:ea typeface="Calibri"/>
                <a:cs typeface="Calibri"/>
                <a:sym typeface="Calibri"/>
              </a:rPr>
              <a:t>Plan first</a:t>
            </a:r>
            <a:endParaRPr b="0" i="0" sz="1000" u="none" cap="none" strike="noStrike">
              <a:solidFill>
                <a:schemeClr val="dk1"/>
              </a:solidFill>
              <a:latin typeface="Calibri"/>
              <a:ea typeface="Calibri"/>
              <a:cs typeface="Calibri"/>
              <a:sym typeface="Calibri"/>
            </a:endParaRPr>
          </a:p>
        </p:txBody>
      </p:sp>
      <p:pic>
        <p:nvPicPr>
          <p:cNvPr descr="preencoded.png" id="210" name="Google Shape;210;p7"/>
          <p:cNvPicPr preferRelativeResize="0"/>
          <p:nvPr/>
        </p:nvPicPr>
        <p:blipFill rotWithShape="1">
          <a:blip r:embed="rId3">
            <a:alphaModFix/>
          </a:blip>
          <a:srcRect b="0" l="0" r="0" t="0"/>
          <a:stretch/>
        </p:blipFill>
        <p:spPr>
          <a:xfrm>
            <a:off x="548640" y="4572000"/>
            <a:ext cx="228600" cy="228600"/>
          </a:xfrm>
          <a:prstGeom prst="rect">
            <a:avLst/>
          </a:prstGeom>
          <a:noFill/>
          <a:ln>
            <a:noFill/>
          </a:ln>
        </p:spPr>
      </p:pic>
      <p:sp>
        <p:nvSpPr>
          <p:cNvPr id="211" name="Google Shape;211;p7"/>
          <p:cNvSpPr/>
          <p:nvPr/>
        </p:nvSpPr>
        <p:spPr>
          <a:xfrm>
            <a:off x="868680" y="4553712"/>
            <a:ext cx="7315200" cy="27432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E8E8E8"/>
              </a:buClr>
              <a:buSzPts val="1200"/>
              <a:buFont typeface="Calibri"/>
              <a:buNone/>
            </a:pPr>
            <a:r>
              <a:rPr b="0" i="0" lang="en-US" sz="1200" u="none" cap="none" strike="noStrike">
                <a:solidFill>
                  <a:srgbClr val="E8E8E8"/>
                </a:solidFill>
                <a:latin typeface="Calibri"/>
                <a:ea typeface="Calibri"/>
                <a:cs typeface="Calibri"/>
                <a:sym typeface="Calibri"/>
              </a:rPr>
              <a:t>The more you communicate, the better the output.</a:t>
            </a:r>
            <a:endParaRPr b="0" i="0" sz="1200" u="none" cap="none" strike="noStrike">
              <a:solidFill>
                <a:schemeClr val="dk1"/>
              </a:solidFill>
              <a:latin typeface="Calibri"/>
              <a:ea typeface="Calibri"/>
              <a:cs typeface="Calibri"/>
              <a:sym typeface="Calibri"/>
            </a:endParaRPr>
          </a:p>
        </p:txBody>
      </p:sp>
      <p:cxnSp>
        <p:nvCxnSpPr>
          <p:cNvPr id="212" name="Google Shape;212;p7"/>
          <p:cNvCxnSpPr/>
          <p:nvPr/>
        </p:nvCxnSpPr>
        <p:spPr>
          <a:xfrm>
            <a:off x="457200" y="4892040"/>
            <a:ext cx="8229600" cy="0"/>
          </a:xfrm>
          <a:prstGeom prst="straightConnector1">
            <a:avLst/>
          </a:prstGeom>
          <a:noFill/>
          <a:ln cap="flat" cmpd="sng" w="9525">
            <a:solidFill>
              <a:srgbClr val="B7986A"/>
            </a:solidFill>
            <a:prstDash val="solid"/>
            <a:round/>
            <a:headEnd len="sm" w="sm" type="none"/>
            <a:tailEnd len="sm" w="sm" type="none"/>
          </a:ln>
        </p:spPr>
      </p:cxnSp>
      <p:sp>
        <p:nvSpPr>
          <p:cNvPr id="213" name="Google Shape;213;p7"/>
          <p:cNvSpPr/>
          <p:nvPr/>
        </p:nvSpPr>
        <p:spPr>
          <a:xfrm>
            <a:off x="457200" y="4892040"/>
            <a:ext cx="6400800" cy="22860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ADB5BD"/>
              </a:buClr>
              <a:buSzPts val="800"/>
              <a:buFont typeface="Calibri"/>
              <a:buNone/>
            </a:pPr>
            <a:r>
              <a:rPr b="0" i="0" lang="en-US" sz="800" u="none" cap="none" strike="noStrike">
                <a:solidFill>
                  <a:srgbClr val="ADB5BD"/>
                </a:solidFill>
                <a:latin typeface="Calibri"/>
                <a:ea typeface="Calibri"/>
                <a:cs typeface="Calibri"/>
                <a:sym typeface="Calibri"/>
              </a:rPr>
              <a:t>Claude Code  |  Ravn Production Team  |  Part 1</a:t>
            </a:r>
            <a:endParaRPr b="0" i="0" sz="800" u="none" cap="none" strike="noStrike">
              <a:solidFill>
                <a:schemeClr val="dk1"/>
              </a:solidFill>
              <a:latin typeface="Calibri"/>
              <a:ea typeface="Calibri"/>
              <a:cs typeface="Calibri"/>
              <a:sym typeface="Calibri"/>
            </a:endParaRPr>
          </a:p>
        </p:txBody>
      </p:sp>
      <p:sp>
        <p:nvSpPr>
          <p:cNvPr id="214" name="Google Shape;214;p7"/>
          <p:cNvSpPr/>
          <p:nvPr/>
        </p:nvSpPr>
        <p:spPr>
          <a:xfrm>
            <a:off x="7772400" y="4892040"/>
            <a:ext cx="914400" cy="228600"/>
          </a:xfrm>
          <a:prstGeom prst="rect">
            <a:avLst/>
          </a:prstGeom>
          <a:noFill/>
          <a:ln>
            <a:noFill/>
          </a:ln>
        </p:spPr>
        <p:txBody>
          <a:bodyPr anchorCtr="0" anchor="ctr" bIns="0" lIns="0" spcFirstLastPara="1" rIns="0" wrap="square" tIns="0">
            <a:noAutofit/>
          </a:bodyPr>
          <a:lstStyle/>
          <a:p>
            <a:pPr indent="0" lvl="0" marL="0" marR="0" rtl="0" algn="r">
              <a:spcBef>
                <a:spcPts val="0"/>
              </a:spcBef>
              <a:spcAft>
                <a:spcPts val="0"/>
              </a:spcAft>
              <a:buClr>
                <a:srgbClr val="ADB5BD"/>
              </a:buClr>
              <a:buSzPts val="800"/>
              <a:buFont typeface="Calibri"/>
              <a:buNone/>
            </a:pPr>
            <a:r>
              <a:rPr b="0" i="0" lang="en-US" sz="800" u="none" cap="none" strike="noStrike">
                <a:solidFill>
                  <a:srgbClr val="ADB5BD"/>
                </a:solidFill>
                <a:latin typeface="Calibri"/>
                <a:ea typeface="Calibri"/>
                <a:cs typeface="Calibri"/>
                <a:sym typeface="Calibri"/>
              </a:rPr>
              <a:t>7</a:t>
            </a:r>
            <a:endParaRPr b="0" i="0" sz="800" u="none" cap="none" strike="noStrike">
              <a:solidFill>
                <a:schemeClr val="dk1"/>
              </a:solidFill>
              <a:latin typeface="Calibri"/>
              <a:ea typeface="Calibri"/>
              <a:cs typeface="Calibri"/>
              <a:sym typeface="Calibri"/>
            </a:endParaRPr>
          </a:p>
        </p:txBody>
      </p:sp>
    </p:spTree>
  </p:cSld>
  <p:clrMapOvr>
    <a:masterClrMapping/>
  </p:clrMapOvr>
</p:sld>
</file>

<file path=ppt/slides/slide1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5F5F5"/>
        </a:solidFill>
      </p:bgPr>
    </p:bg>
    <p:spTree>
      <p:nvGrpSpPr>
        <p:cNvPr id="219" name="Shape 219"/>
        <p:cNvGrpSpPr/>
        <p:nvPr/>
      </p:nvGrpSpPr>
      <p:grpSpPr>
        <a:xfrm>
          <a:off x="0" y="0"/>
          <a:ext cx="0" cy="0"/>
          <a:chOff x="0" y="0"/>
          <a:chExt cx="0" cy="0"/>
        </a:xfrm>
      </p:grpSpPr>
      <p:sp>
        <p:nvSpPr>
          <p:cNvPr id="220" name="Google Shape;220;p8"/>
          <p:cNvSpPr/>
          <p:nvPr/>
        </p:nvSpPr>
        <p:spPr>
          <a:xfrm>
            <a:off x="548640" y="274320"/>
            <a:ext cx="8229600" cy="54864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161616"/>
              </a:buClr>
              <a:buSzPts val="3000"/>
              <a:buFont typeface="Trebuchet MS"/>
              <a:buNone/>
            </a:pPr>
            <a:r>
              <a:rPr b="1" i="0" lang="en-US" sz="3000" u="none" cap="none" strike="noStrike">
                <a:solidFill>
                  <a:srgbClr val="161616"/>
                </a:solidFill>
                <a:latin typeface="Trebuchet MS"/>
                <a:ea typeface="Trebuchet MS"/>
                <a:cs typeface="Trebuchet MS"/>
                <a:sym typeface="Trebuchet MS"/>
              </a:rPr>
              <a:t>We Learn Faster Together</a:t>
            </a:r>
            <a:endParaRPr b="0" i="0" sz="3000" u="none" cap="none" strike="noStrike">
              <a:solidFill>
                <a:schemeClr val="dk1"/>
              </a:solidFill>
              <a:latin typeface="Calibri"/>
              <a:ea typeface="Calibri"/>
              <a:cs typeface="Calibri"/>
              <a:sym typeface="Calibri"/>
            </a:endParaRPr>
          </a:p>
        </p:txBody>
      </p:sp>
      <p:sp>
        <p:nvSpPr>
          <p:cNvPr id="221" name="Google Shape;221;p8"/>
          <p:cNvSpPr/>
          <p:nvPr/>
        </p:nvSpPr>
        <p:spPr>
          <a:xfrm>
            <a:off x="548640" y="777240"/>
            <a:ext cx="8229600" cy="32004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6B7280"/>
              </a:buClr>
              <a:buSzPts val="1400"/>
              <a:buFont typeface="Calibri"/>
              <a:buNone/>
            </a:pPr>
            <a:r>
              <a:rPr b="0" i="0" lang="en-US" sz="1400" u="none" cap="none" strike="noStrike">
                <a:solidFill>
                  <a:srgbClr val="6B7280"/>
                </a:solidFill>
                <a:latin typeface="Calibri"/>
                <a:ea typeface="Calibri"/>
                <a:cs typeface="Calibri"/>
                <a:sym typeface="Calibri"/>
              </a:rPr>
              <a:t>200+ people experimenting independently, then cross-pollinating.</a:t>
            </a:r>
            <a:endParaRPr b="0" i="0" sz="1400" u="none" cap="none" strike="noStrike">
              <a:solidFill>
                <a:schemeClr val="dk1"/>
              </a:solidFill>
              <a:latin typeface="Calibri"/>
              <a:ea typeface="Calibri"/>
              <a:cs typeface="Calibri"/>
              <a:sym typeface="Calibri"/>
            </a:endParaRPr>
          </a:p>
        </p:txBody>
      </p:sp>
      <p:sp>
        <p:nvSpPr>
          <p:cNvPr id="222" name="Google Shape;222;p8"/>
          <p:cNvSpPr/>
          <p:nvPr/>
        </p:nvSpPr>
        <p:spPr>
          <a:xfrm>
            <a:off x="548640" y="1280160"/>
            <a:ext cx="3886200" cy="2926080"/>
          </a:xfrm>
          <a:prstGeom prst="rect">
            <a:avLst/>
          </a:prstGeom>
          <a:solidFill>
            <a:srgbClr val="FFFFFF"/>
          </a:solidFill>
          <a:ln>
            <a:noFill/>
          </a:ln>
          <a:effectLst>
            <a:outerShdw blurRad="76200" rotWithShape="0" algn="bl" dir="8100000" dist="25400">
              <a:srgbClr val="000000">
                <a:alpha val="11764"/>
              </a:srgbClr>
            </a:outerShdw>
          </a:effectLst>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23" name="Google Shape;223;p8"/>
          <p:cNvSpPr/>
          <p:nvPr/>
        </p:nvSpPr>
        <p:spPr>
          <a:xfrm>
            <a:off x="548640" y="1280160"/>
            <a:ext cx="54864" cy="2926080"/>
          </a:xfrm>
          <a:prstGeom prst="rect">
            <a:avLst/>
          </a:prstGeom>
          <a:solidFill>
            <a:srgbClr val="B7986A"/>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pic>
        <p:nvPicPr>
          <p:cNvPr descr="preencoded.png" id="224" name="Google Shape;224;p8"/>
          <p:cNvPicPr preferRelativeResize="0"/>
          <p:nvPr/>
        </p:nvPicPr>
        <p:blipFill rotWithShape="1">
          <a:blip r:embed="rId3">
            <a:alphaModFix/>
          </a:blip>
          <a:srcRect b="0" l="0" r="0" t="0"/>
          <a:stretch/>
        </p:blipFill>
        <p:spPr>
          <a:xfrm>
            <a:off x="777240" y="1417320"/>
            <a:ext cx="365760" cy="365760"/>
          </a:xfrm>
          <a:prstGeom prst="rect">
            <a:avLst/>
          </a:prstGeom>
          <a:noFill/>
          <a:ln>
            <a:noFill/>
          </a:ln>
        </p:spPr>
      </p:pic>
      <p:sp>
        <p:nvSpPr>
          <p:cNvPr id="225" name="Google Shape;225;p8"/>
          <p:cNvSpPr/>
          <p:nvPr/>
        </p:nvSpPr>
        <p:spPr>
          <a:xfrm>
            <a:off x="1234440" y="1417320"/>
            <a:ext cx="3017520" cy="36576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161616"/>
              </a:buClr>
              <a:buSzPts val="1600"/>
              <a:buFont typeface="Trebuchet MS"/>
              <a:buNone/>
            </a:pPr>
            <a:r>
              <a:rPr b="1" i="0" lang="en-US" sz="1600" u="none" cap="none" strike="noStrike">
                <a:solidFill>
                  <a:srgbClr val="161616"/>
                </a:solidFill>
                <a:latin typeface="Trebuchet MS"/>
                <a:ea typeface="Trebuchet MS"/>
                <a:cs typeface="Trebuchet MS"/>
                <a:sym typeface="Trebuchet MS"/>
              </a:rPr>
              <a:t>Team Level</a:t>
            </a:r>
            <a:endParaRPr b="0" i="0" sz="1600" u="none" cap="none" strike="noStrike">
              <a:solidFill>
                <a:schemeClr val="dk1"/>
              </a:solidFill>
              <a:latin typeface="Calibri"/>
              <a:ea typeface="Calibri"/>
              <a:cs typeface="Calibri"/>
              <a:sym typeface="Calibri"/>
            </a:endParaRPr>
          </a:p>
        </p:txBody>
      </p:sp>
      <p:sp>
        <p:nvSpPr>
          <p:cNvPr id="226" name="Google Shape;226;p8"/>
          <p:cNvSpPr/>
          <p:nvPr/>
        </p:nvSpPr>
        <p:spPr>
          <a:xfrm>
            <a:off x="777240" y="1920240"/>
            <a:ext cx="3383280" cy="36576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161616"/>
              </a:buClr>
              <a:buSzPts val="1200"/>
              <a:buFont typeface="Calibri"/>
              <a:buNone/>
            </a:pPr>
            <a:r>
              <a:rPr b="0" i="0" lang="en-US" sz="1200" u="none" cap="none" strike="noStrike">
                <a:solidFill>
                  <a:srgbClr val="161616"/>
                </a:solidFill>
                <a:latin typeface="Calibri"/>
                <a:ea typeface="Calibri"/>
                <a:cs typeface="Calibri"/>
                <a:sym typeface="Calibri"/>
              </a:rPr>
              <a:t>Share in your team channel:</a:t>
            </a:r>
            <a:endParaRPr b="0" i="0" sz="1200" u="none" cap="none" strike="noStrike">
              <a:solidFill>
                <a:schemeClr val="dk1"/>
              </a:solidFill>
              <a:latin typeface="Calibri"/>
              <a:ea typeface="Calibri"/>
              <a:cs typeface="Calibri"/>
              <a:sym typeface="Calibri"/>
            </a:endParaRPr>
          </a:p>
        </p:txBody>
      </p:sp>
      <p:sp>
        <p:nvSpPr>
          <p:cNvPr id="227" name="Google Shape;227;p8"/>
          <p:cNvSpPr/>
          <p:nvPr/>
        </p:nvSpPr>
        <p:spPr>
          <a:xfrm>
            <a:off x="1005840" y="2331720"/>
            <a:ext cx="3383280" cy="36576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6B7280"/>
              </a:buClr>
              <a:buSzPts val="1200"/>
              <a:buFont typeface="Calibri"/>
              <a:buNone/>
            </a:pPr>
            <a:r>
              <a:rPr b="0" i="1" lang="en-US" sz="1200" u="none" cap="none" strike="noStrike">
                <a:solidFill>
                  <a:srgbClr val="6B7280"/>
                </a:solidFill>
                <a:latin typeface="Calibri"/>
                <a:ea typeface="Calibri"/>
                <a:cs typeface="Calibri"/>
                <a:sym typeface="Calibri"/>
              </a:rPr>
              <a:t>"Here's what worked"</a:t>
            </a:r>
            <a:endParaRPr b="0" i="0" sz="1200" u="none" cap="none" strike="noStrike">
              <a:solidFill>
                <a:schemeClr val="dk1"/>
              </a:solidFill>
              <a:latin typeface="Calibri"/>
              <a:ea typeface="Calibri"/>
              <a:cs typeface="Calibri"/>
              <a:sym typeface="Calibri"/>
            </a:endParaRPr>
          </a:p>
        </p:txBody>
      </p:sp>
      <p:sp>
        <p:nvSpPr>
          <p:cNvPr id="228" name="Google Shape;228;p8"/>
          <p:cNvSpPr/>
          <p:nvPr/>
        </p:nvSpPr>
        <p:spPr>
          <a:xfrm>
            <a:off x="1005840" y="2743200"/>
            <a:ext cx="3383280" cy="36576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6B7280"/>
              </a:buClr>
              <a:buSzPts val="1200"/>
              <a:buFont typeface="Calibri"/>
              <a:buNone/>
            </a:pPr>
            <a:r>
              <a:rPr b="0" i="1" lang="en-US" sz="1200" u="none" cap="none" strike="noStrike">
                <a:solidFill>
                  <a:srgbClr val="6B7280"/>
                </a:solidFill>
                <a:latin typeface="Calibri"/>
                <a:ea typeface="Calibri"/>
                <a:cs typeface="Calibri"/>
                <a:sym typeface="Calibri"/>
              </a:rPr>
              <a:t>"Here's what failed"</a:t>
            </a:r>
            <a:endParaRPr b="0" i="0" sz="1200" u="none" cap="none" strike="noStrike">
              <a:solidFill>
                <a:schemeClr val="dk1"/>
              </a:solidFill>
              <a:latin typeface="Calibri"/>
              <a:ea typeface="Calibri"/>
              <a:cs typeface="Calibri"/>
              <a:sym typeface="Calibri"/>
            </a:endParaRPr>
          </a:p>
        </p:txBody>
      </p:sp>
      <p:sp>
        <p:nvSpPr>
          <p:cNvPr id="229" name="Google Shape;229;p8"/>
          <p:cNvSpPr/>
          <p:nvPr/>
        </p:nvSpPr>
        <p:spPr>
          <a:xfrm>
            <a:off x="1005840" y="3154680"/>
            <a:ext cx="3383280" cy="36576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6B7280"/>
              </a:buClr>
              <a:buSzPts val="1200"/>
              <a:buFont typeface="Calibri"/>
              <a:buNone/>
            </a:pPr>
            <a:r>
              <a:rPr b="0" i="1" lang="en-US" sz="1200" u="none" cap="none" strike="noStrike">
                <a:solidFill>
                  <a:srgbClr val="6B7280"/>
                </a:solidFill>
                <a:latin typeface="Calibri"/>
                <a:ea typeface="Calibri"/>
                <a:cs typeface="Calibri"/>
                <a:sym typeface="Calibri"/>
              </a:rPr>
              <a:t>"Here's a CLAUDE.md rule I added"</a:t>
            </a:r>
            <a:endParaRPr b="0" i="0" sz="1200" u="none" cap="none" strike="noStrike">
              <a:solidFill>
                <a:schemeClr val="dk1"/>
              </a:solidFill>
              <a:latin typeface="Calibri"/>
              <a:ea typeface="Calibri"/>
              <a:cs typeface="Calibri"/>
              <a:sym typeface="Calibri"/>
            </a:endParaRPr>
          </a:p>
        </p:txBody>
      </p:sp>
      <p:sp>
        <p:nvSpPr>
          <p:cNvPr id="230" name="Google Shape;230;p8"/>
          <p:cNvSpPr/>
          <p:nvPr/>
        </p:nvSpPr>
        <p:spPr>
          <a:xfrm>
            <a:off x="777240" y="3566160"/>
            <a:ext cx="3383280" cy="36576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161616"/>
              </a:buClr>
              <a:buSzPts val="1200"/>
              <a:buFont typeface="Calibri"/>
              <a:buNone/>
            </a:pPr>
            <a:r>
              <a:rPr b="0" i="0" lang="en-US" sz="1200" u="none" cap="none" strike="noStrike">
                <a:solidFill>
                  <a:srgbClr val="161616"/>
                </a:solidFill>
                <a:latin typeface="Calibri"/>
                <a:ea typeface="Calibri"/>
                <a:cs typeface="Calibri"/>
                <a:sym typeface="Calibri"/>
              </a:rPr>
              <a:t>•  60-sec AI share in standups</a:t>
            </a:r>
            <a:endParaRPr b="0" i="0" sz="1200" u="none" cap="none" strike="noStrike">
              <a:solidFill>
                <a:schemeClr val="dk1"/>
              </a:solidFill>
              <a:latin typeface="Calibri"/>
              <a:ea typeface="Calibri"/>
              <a:cs typeface="Calibri"/>
              <a:sym typeface="Calibri"/>
            </a:endParaRPr>
          </a:p>
        </p:txBody>
      </p:sp>
      <p:sp>
        <p:nvSpPr>
          <p:cNvPr id="231" name="Google Shape;231;p8"/>
          <p:cNvSpPr/>
          <p:nvPr/>
        </p:nvSpPr>
        <p:spPr>
          <a:xfrm>
            <a:off x="4709160" y="1280160"/>
            <a:ext cx="3886200" cy="2926080"/>
          </a:xfrm>
          <a:prstGeom prst="rect">
            <a:avLst/>
          </a:prstGeom>
          <a:solidFill>
            <a:srgbClr val="FFFFFF"/>
          </a:solidFill>
          <a:ln>
            <a:noFill/>
          </a:ln>
          <a:effectLst>
            <a:outerShdw blurRad="76200" rotWithShape="0" algn="bl" dir="8100000" dist="25400">
              <a:srgbClr val="000000">
                <a:alpha val="11764"/>
              </a:srgbClr>
            </a:outerShdw>
          </a:effectLst>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32" name="Google Shape;232;p8"/>
          <p:cNvSpPr/>
          <p:nvPr/>
        </p:nvSpPr>
        <p:spPr>
          <a:xfrm>
            <a:off x="4709160" y="1280160"/>
            <a:ext cx="54864" cy="2926080"/>
          </a:xfrm>
          <a:prstGeom prst="rect">
            <a:avLst/>
          </a:prstGeom>
          <a:solidFill>
            <a:srgbClr val="B7986A"/>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pic>
        <p:nvPicPr>
          <p:cNvPr descr="preencoded.png" id="233" name="Google Shape;233;p8"/>
          <p:cNvPicPr preferRelativeResize="0"/>
          <p:nvPr/>
        </p:nvPicPr>
        <p:blipFill rotWithShape="1">
          <a:blip r:embed="rId4">
            <a:alphaModFix/>
          </a:blip>
          <a:srcRect b="0" l="0" r="0" t="0"/>
          <a:stretch/>
        </p:blipFill>
        <p:spPr>
          <a:xfrm>
            <a:off x="4937760" y="1417320"/>
            <a:ext cx="365760" cy="365760"/>
          </a:xfrm>
          <a:prstGeom prst="rect">
            <a:avLst/>
          </a:prstGeom>
          <a:noFill/>
          <a:ln>
            <a:noFill/>
          </a:ln>
        </p:spPr>
      </p:pic>
      <p:sp>
        <p:nvSpPr>
          <p:cNvPr id="234" name="Google Shape;234;p8"/>
          <p:cNvSpPr/>
          <p:nvPr/>
        </p:nvSpPr>
        <p:spPr>
          <a:xfrm>
            <a:off x="5394960" y="1417320"/>
            <a:ext cx="3017520" cy="36576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161616"/>
              </a:buClr>
              <a:buSzPts val="1600"/>
              <a:buFont typeface="Trebuchet MS"/>
              <a:buNone/>
            </a:pPr>
            <a:r>
              <a:rPr b="1" i="0" lang="en-US" sz="1600" u="none" cap="none" strike="noStrike">
                <a:solidFill>
                  <a:srgbClr val="161616"/>
                </a:solidFill>
                <a:latin typeface="Trebuchet MS"/>
                <a:ea typeface="Trebuchet MS"/>
                <a:cs typeface="Trebuchet MS"/>
                <a:sym typeface="Trebuchet MS"/>
              </a:rPr>
              <a:t>Company Level</a:t>
            </a:r>
            <a:endParaRPr b="0" i="0" sz="1600" u="none" cap="none" strike="noStrike">
              <a:solidFill>
                <a:schemeClr val="dk1"/>
              </a:solidFill>
              <a:latin typeface="Calibri"/>
              <a:ea typeface="Calibri"/>
              <a:cs typeface="Calibri"/>
              <a:sym typeface="Calibri"/>
            </a:endParaRPr>
          </a:p>
        </p:txBody>
      </p:sp>
      <p:sp>
        <p:nvSpPr>
          <p:cNvPr id="235" name="Google Shape;235;p8"/>
          <p:cNvSpPr/>
          <p:nvPr/>
        </p:nvSpPr>
        <p:spPr>
          <a:xfrm>
            <a:off x="4937760" y="1920240"/>
            <a:ext cx="3474720" cy="36576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161616"/>
              </a:buClr>
              <a:buSzPts val="1200"/>
              <a:buFont typeface="Calibri"/>
              <a:buNone/>
            </a:pPr>
            <a:r>
              <a:rPr b="0" i="0" lang="en-US" sz="1200" u="none" cap="none" strike="noStrike">
                <a:solidFill>
                  <a:srgbClr val="161616"/>
                </a:solidFill>
                <a:latin typeface="Calibri"/>
                <a:ea typeface="Calibri"/>
                <a:cs typeface="Calibri"/>
                <a:sym typeface="Calibri"/>
              </a:rPr>
              <a:t>•  Bi-weekly sessions (this series)</a:t>
            </a:r>
            <a:endParaRPr b="0" i="0" sz="1200" u="none" cap="none" strike="noStrike">
              <a:solidFill>
                <a:schemeClr val="dk1"/>
              </a:solidFill>
              <a:latin typeface="Calibri"/>
              <a:ea typeface="Calibri"/>
              <a:cs typeface="Calibri"/>
              <a:sym typeface="Calibri"/>
            </a:endParaRPr>
          </a:p>
        </p:txBody>
      </p:sp>
      <p:sp>
        <p:nvSpPr>
          <p:cNvPr id="236" name="Google Shape;236;p8"/>
          <p:cNvSpPr/>
          <p:nvPr/>
        </p:nvSpPr>
        <p:spPr>
          <a:xfrm>
            <a:off x="4937760" y="2377440"/>
            <a:ext cx="3474720" cy="36576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161616"/>
              </a:buClr>
              <a:buSzPts val="1200"/>
              <a:buFont typeface="Calibri"/>
              <a:buNone/>
            </a:pPr>
            <a:r>
              <a:rPr b="0" i="0" lang="en-US" sz="1200" u="none" cap="none" strike="noStrike">
                <a:solidFill>
                  <a:srgbClr val="161616"/>
                </a:solidFill>
                <a:latin typeface="Calibri"/>
                <a:ea typeface="Calibri"/>
                <a:cs typeface="Calibri"/>
                <a:sym typeface="Calibri"/>
              </a:rPr>
              <a:t>•  Spread wins across teams</a:t>
            </a:r>
            <a:endParaRPr b="0" i="0" sz="1200" u="none" cap="none" strike="noStrike">
              <a:solidFill>
                <a:schemeClr val="dk1"/>
              </a:solidFill>
              <a:latin typeface="Calibri"/>
              <a:ea typeface="Calibri"/>
              <a:cs typeface="Calibri"/>
              <a:sym typeface="Calibri"/>
            </a:endParaRPr>
          </a:p>
        </p:txBody>
      </p:sp>
      <p:sp>
        <p:nvSpPr>
          <p:cNvPr id="237" name="Google Shape;237;p8"/>
          <p:cNvSpPr/>
          <p:nvPr/>
        </p:nvSpPr>
        <p:spPr>
          <a:xfrm>
            <a:off x="4937760" y="2834640"/>
            <a:ext cx="3474720" cy="36576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161616"/>
              </a:buClr>
              <a:buSzPts val="1200"/>
              <a:buFont typeface="Calibri"/>
              <a:buNone/>
            </a:pPr>
            <a:r>
              <a:rPr b="0" i="0" lang="en-US" sz="1200" u="none" cap="none" strike="noStrike">
                <a:solidFill>
                  <a:srgbClr val="161616"/>
                </a:solidFill>
                <a:latin typeface="Calibri"/>
                <a:ea typeface="Calibri"/>
                <a:cs typeface="Calibri"/>
                <a:sym typeface="Calibri"/>
              </a:rPr>
              <a:t>•  Surface blockers early</a:t>
            </a:r>
            <a:endParaRPr b="0" i="0" sz="1200" u="none" cap="none" strike="noStrike">
              <a:solidFill>
                <a:schemeClr val="dk1"/>
              </a:solidFill>
              <a:latin typeface="Calibri"/>
              <a:ea typeface="Calibri"/>
              <a:cs typeface="Calibri"/>
              <a:sym typeface="Calibri"/>
            </a:endParaRPr>
          </a:p>
        </p:txBody>
      </p:sp>
      <p:sp>
        <p:nvSpPr>
          <p:cNvPr id="238" name="Google Shape;238;p8"/>
          <p:cNvSpPr/>
          <p:nvPr/>
        </p:nvSpPr>
        <p:spPr>
          <a:xfrm>
            <a:off x="4937760" y="3291840"/>
            <a:ext cx="3474720" cy="36576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161616"/>
              </a:buClr>
              <a:buSzPts val="1200"/>
              <a:buFont typeface="Calibri"/>
              <a:buNone/>
            </a:pPr>
            <a:r>
              <a:rPr b="0" i="0" lang="en-US" sz="1200" u="none" cap="none" strike="noStrike">
                <a:solidFill>
                  <a:srgbClr val="161616"/>
                </a:solidFill>
                <a:latin typeface="Calibri"/>
                <a:ea typeface="Calibri"/>
                <a:cs typeface="Calibri"/>
                <a:sym typeface="Calibri"/>
              </a:rPr>
              <a:t>•  Patterns that work → everyone</a:t>
            </a:r>
            <a:endParaRPr b="0" i="0" sz="1200" u="none" cap="none" strike="noStrike">
              <a:solidFill>
                <a:schemeClr val="dk1"/>
              </a:solidFill>
              <a:latin typeface="Calibri"/>
              <a:ea typeface="Calibri"/>
              <a:cs typeface="Calibri"/>
              <a:sym typeface="Calibri"/>
            </a:endParaRPr>
          </a:p>
        </p:txBody>
      </p:sp>
      <p:cxnSp>
        <p:nvCxnSpPr>
          <p:cNvPr id="239" name="Google Shape;239;p8"/>
          <p:cNvCxnSpPr/>
          <p:nvPr/>
        </p:nvCxnSpPr>
        <p:spPr>
          <a:xfrm>
            <a:off x="457200" y="4892040"/>
            <a:ext cx="8229600" cy="0"/>
          </a:xfrm>
          <a:prstGeom prst="straightConnector1">
            <a:avLst/>
          </a:prstGeom>
          <a:noFill/>
          <a:ln cap="flat" cmpd="sng" w="9525">
            <a:solidFill>
              <a:srgbClr val="B7986A"/>
            </a:solidFill>
            <a:prstDash val="solid"/>
            <a:round/>
            <a:headEnd len="sm" w="sm" type="none"/>
            <a:tailEnd len="sm" w="sm" type="none"/>
          </a:ln>
        </p:spPr>
      </p:cxnSp>
      <p:sp>
        <p:nvSpPr>
          <p:cNvPr id="240" name="Google Shape;240;p8"/>
          <p:cNvSpPr/>
          <p:nvPr/>
        </p:nvSpPr>
        <p:spPr>
          <a:xfrm>
            <a:off x="457200" y="4892040"/>
            <a:ext cx="6400800" cy="22860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ADB5BD"/>
              </a:buClr>
              <a:buSzPts val="800"/>
              <a:buFont typeface="Calibri"/>
              <a:buNone/>
            </a:pPr>
            <a:r>
              <a:rPr b="0" i="0" lang="en-US" sz="800" u="none" cap="none" strike="noStrike">
                <a:solidFill>
                  <a:srgbClr val="ADB5BD"/>
                </a:solidFill>
                <a:latin typeface="Calibri"/>
                <a:ea typeface="Calibri"/>
                <a:cs typeface="Calibri"/>
                <a:sym typeface="Calibri"/>
              </a:rPr>
              <a:t>Claude Code  |  Ravn Production Team  |  Part 1</a:t>
            </a:r>
            <a:endParaRPr b="0" i="0" sz="800" u="none" cap="none" strike="noStrike">
              <a:solidFill>
                <a:schemeClr val="dk1"/>
              </a:solidFill>
              <a:latin typeface="Calibri"/>
              <a:ea typeface="Calibri"/>
              <a:cs typeface="Calibri"/>
              <a:sym typeface="Calibri"/>
            </a:endParaRPr>
          </a:p>
        </p:txBody>
      </p:sp>
      <p:sp>
        <p:nvSpPr>
          <p:cNvPr id="241" name="Google Shape;241;p8"/>
          <p:cNvSpPr/>
          <p:nvPr/>
        </p:nvSpPr>
        <p:spPr>
          <a:xfrm>
            <a:off x="7772400" y="4892040"/>
            <a:ext cx="914400" cy="228600"/>
          </a:xfrm>
          <a:prstGeom prst="rect">
            <a:avLst/>
          </a:prstGeom>
          <a:noFill/>
          <a:ln>
            <a:noFill/>
          </a:ln>
        </p:spPr>
        <p:txBody>
          <a:bodyPr anchorCtr="0" anchor="ctr" bIns="0" lIns="0" spcFirstLastPara="1" rIns="0" wrap="square" tIns="0">
            <a:noAutofit/>
          </a:bodyPr>
          <a:lstStyle/>
          <a:p>
            <a:pPr indent="0" lvl="0" marL="0" marR="0" rtl="0" algn="r">
              <a:spcBef>
                <a:spcPts val="0"/>
              </a:spcBef>
              <a:spcAft>
                <a:spcPts val="0"/>
              </a:spcAft>
              <a:buClr>
                <a:srgbClr val="ADB5BD"/>
              </a:buClr>
              <a:buSzPts val="800"/>
              <a:buFont typeface="Calibri"/>
              <a:buNone/>
            </a:pPr>
            <a:r>
              <a:rPr b="0" i="0" lang="en-US" sz="800" u="none" cap="none" strike="noStrike">
                <a:solidFill>
                  <a:srgbClr val="ADB5BD"/>
                </a:solidFill>
                <a:latin typeface="Calibri"/>
                <a:ea typeface="Calibri"/>
                <a:cs typeface="Calibri"/>
                <a:sym typeface="Calibri"/>
              </a:rPr>
              <a:t>8</a:t>
            </a:r>
            <a:endParaRPr b="0" i="0" sz="800" u="none" cap="none" strike="noStrike">
              <a:solidFill>
                <a:schemeClr val="dk1"/>
              </a:solidFill>
              <a:latin typeface="Calibri"/>
              <a:ea typeface="Calibri"/>
              <a:cs typeface="Calibri"/>
              <a:sym typeface="Calibri"/>
            </a:endParaRPr>
          </a:p>
        </p:txBody>
      </p:sp>
    </p:spTree>
  </p:cSld>
  <p:clrMapOvr>
    <a:masterClrMapping/>
  </p:clrMapOvr>
</p:sld>
</file>

<file path=ppt/slides/slide1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5F5F5"/>
        </a:solidFill>
      </p:bgPr>
    </p:bg>
    <p:spTree>
      <p:nvGrpSpPr>
        <p:cNvPr id="246" name="Shape 246"/>
        <p:cNvGrpSpPr/>
        <p:nvPr/>
      </p:nvGrpSpPr>
      <p:grpSpPr>
        <a:xfrm>
          <a:off x="0" y="0"/>
          <a:ext cx="0" cy="0"/>
          <a:chOff x="0" y="0"/>
          <a:chExt cx="0" cy="0"/>
        </a:xfrm>
      </p:grpSpPr>
      <p:sp>
        <p:nvSpPr>
          <p:cNvPr id="247" name="Google Shape;247;p9"/>
          <p:cNvSpPr/>
          <p:nvPr/>
        </p:nvSpPr>
        <p:spPr>
          <a:xfrm>
            <a:off x="548640" y="274320"/>
            <a:ext cx="8229600" cy="54864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161616"/>
              </a:buClr>
              <a:buSzPts val="3000"/>
              <a:buFont typeface="Trebuchet MS"/>
              <a:buNone/>
            </a:pPr>
            <a:r>
              <a:rPr b="1" i="0" lang="en-US" sz="3000" u="none" cap="none" strike="noStrike">
                <a:solidFill>
                  <a:srgbClr val="161616"/>
                </a:solidFill>
                <a:latin typeface="Trebuchet MS"/>
                <a:ea typeface="Trebuchet MS"/>
                <a:cs typeface="Trebuchet MS"/>
                <a:sym typeface="Trebuchet MS"/>
              </a:rPr>
              <a:t>Get Started Today</a:t>
            </a:r>
            <a:endParaRPr b="0" i="0" sz="3000" u="none" cap="none" strike="noStrike">
              <a:solidFill>
                <a:schemeClr val="dk1"/>
              </a:solidFill>
              <a:latin typeface="Calibri"/>
              <a:ea typeface="Calibri"/>
              <a:cs typeface="Calibri"/>
              <a:sym typeface="Calibri"/>
            </a:endParaRPr>
          </a:p>
        </p:txBody>
      </p:sp>
      <p:sp>
        <p:nvSpPr>
          <p:cNvPr id="248" name="Google Shape;248;p9"/>
          <p:cNvSpPr/>
          <p:nvPr/>
        </p:nvSpPr>
        <p:spPr>
          <a:xfrm>
            <a:off x="548640" y="914400"/>
            <a:ext cx="2651760" cy="3474720"/>
          </a:xfrm>
          <a:prstGeom prst="rect">
            <a:avLst/>
          </a:prstGeom>
          <a:solidFill>
            <a:srgbClr val="FFFFFF"/>
          </a:solidFill>
          <a:ln>
            <a:noFill/>
          </a:ln>
          <a:effectLst>
            <a:outerShdw blurRad="76200" rotWithShape="0" algn="bl" dir="8100000" dist="25400">
              <a:srgbClr val="000000">
                <a:alpha val="11764"/>
              </a:srgbClr>
            </a:outerShdw>
          </a:effectLst>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49" name="Google Shape;249;p9"/>
          <p:cNvSpPr/>
          <p:nvPr/>
        </p:nvSpPr>
        <p:spPr>
          <a:xfrm>
            <a:off x="548640" y="914400"/>
            <a:ext cx="54864" cy="3474720"/>
          </a:xfrm>
          <a:prstGeom prst="rect">
            <a:avLst/>
          </a:prstGeom>
          <a:solidFill>
            <a:srgbClr val="B7986A"/>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50" name="Google Shape;250;p9"/>
          <p:cNvSpPr/>
          <p:nvPr/>
        </p:nvSpPr>
        <p:spPr>
          <a:xfrm>
            <a:off x="731520" y="1005840"/>
            <a:ext cx="457200" cy="45720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B7986A"/>
              </a:buClr>
              <a:buSzPts val="2800"/>
              <a:buFont typeface="Trebuchet MS"/>
              <a:buNone/>
            </a:pPr>
            <a:r>
              <a:rPr b="1" i="0" lang="en-US" sz="2800" u="none" cap="none" strike="noStrike">
                <a:solidFill>
                  <a:srgbClr val="B7986A"/>
                </a:solidFill>
                <a:latin typeface="Trebuchet MS"/>
                <a:ea typeface="Trebuchet MS"/>
                <a:cs typeface="Trebuchet MS"/>
                <a:sym typeface="Trebuchet MS"/>
              </a:rPr>
              <a:t>1</a:t>
            </a:r>
            <a:endParaRPr b="0" i="0" sz="2800" u="none" cap="none" strike="noStrike">
              <a:solidFill>
                <a:schemeClr val="dk1"/>
              </a:solidFill>
              <a:latin typeface="Calibri"/>
              <a:ea typeface="Calibri"/>
              <a:cs typeface="Calibri"/>
              <a:sym typeface="Calibri"/>
            </a:endParaRPr>
          </a:p>
        </p:txBody>
      </p:sp>
      <p:sp>
        <p:nvSpPr>
          <p:cNvPr id="251" name="Google Shape;251;p9"/>
          <p:cNvSpPr/>
          <p:nvPr/>
        </p:nvSpPr>
        <p:spPr>
          <a:xfrm>
            <a:off x="731520" y="1463040"/>
            <a:ext cx="2286000" cy="36576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161616"/>
              </a:buClr>
              <a:buSzPts val="1400"/>
              <a:buFont typeface="Trebuchet MS"/>
              <a:buNone/>
            </a:pPr>
            <a:r>
              <a:rPr b="1" i="0" lang="en-US" sz="1400" u="none" cap="none" strike="noStrike">
                <a:solidFill>
                  <a:srgbClr val="161616"/>
                </a:solidFill>
                <a:latin typeface="Trebuchet MS"/>
                <a:ea typeface="Trebuchet MS"/>
                <a:cs typeface="Trebuchet MS"/>
                <a:sym typeface="Trebuchet MS"/>
              </a:rPr>
              <a:t>Pick one task</a:t>
            </a:r>
            <a:endParaRPr b="0" i="0" sz="1400" u="none" cap="none" strike="noStrike">
              <a:solidFill>
                <a:schemeClr val="dk1"/>
              </a:solidFill>
              <a:latin typeface="Calibri"/>
              <a:ea typeface="Calibri"/>
              <a:cs typeface="Calibri"/>
              <a:sym typeface="Calibri"/>
            </a:endParaRPr>
          </a:p>
        </p:txBody>
      </p:sp>
      <p:sp>
        <p:nvSpPr>
          <p:cNvPr id="252" name="Google Shape;252;p9"/>
          <p:cNvSpPr/>
          <p:nvPr/>
        </p:nvSpPr>
        <p:spPr>
          <a:xfrm>
            <a:off x="731520" y="1828800"/>
            <a:ext cx="2286000" cy="32004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6B7280"/>
              </a:buClr>
              <a:buSzPts val="1100"/>
              <a:buFont typeface="Calibri"/>
              <a:buNone/>
            </a:pPr>
            <a:r>
              <a:rPr b="0" i="0" lang="en-US" sz="1100" u="none" cap="none" strike="noStrike">
                <a:solidFill>
                  <a:srgbClr val="6B7280"/>
                </a:solidFill>
                <a:latin typeface="Calibri"/>
                <a:ea typeface="Calibri"/>
                <a:cs typeface="Calibri"/>
                <a:sym typeface="Calibri"/>
              </a:rPr>
              <a:t>Something small but real.</a:t>
            </a:r>
            <a:endParaRPr b="0" i="0" sz="1100" u="none" cap="none" strike="noStrike">
              <a:solidFill>
                <a:schemeClr val="dk1"/>
              </a:solidFill>
              <a:latin typeface="Calibri"/>
              <a:ea typeface="Calibri"/>
              <a:cs typeface="Calibri"/>
              <a:sym typeface="Calibri"/>
            </a:endParaRPr>
          </a:p>
        </p:txBody>
      </p:sp>
      <p:sp>
        <p:nvSpPr>
          <p:cNvPr id="253" name="Google Shape;253;p9"/>
          <p:cNvSpPr/>
          <p:nvPr/>
        </p:nvSpPr>
        <p:spPr>
          <a:xfrm>
            <a:off x="731520" y="2286000"/>
            <a:ext cx="2286000" cy="1783080"/>
          </a:xfrm>
          <a:prstGeom prst="rect">
            <a:avLst/>
          </a:prstGeom>
          <a:solidFill>
            <a:srgbClr val="E8E8E8"/>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54" name="Google Shape;254;p9"/>
          <p:cNvSpPr/>
          <p:nvPr/>
        </p:nvSpPr>
        <p:spPr>
          <a:xfrm>
            <a:off x="868680" y="2377440"/>
            <a:ext cx="2011680" cy="45720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161616"/>
              </a:buClr>
              <a:buSzPts val="1000"/>
              <a:buFont typeface="Calibri"/>
              <a:buNone/>
            </a:pPr>
            <a:r>
              <a:rPr b="0" i="0" lang="en-US" sz="1000" u="none" cap="none" strike="noStrike">
                <a:solidFill>
                  <a:srgbClr val="161616"/>
                </a:solidFill>
                <a:latin typeface="Calibri"/>
                <a:ea typeface="Calibri"/>
                <a:cs typeface="Calibri"/>
                <a:sym typeface="Calibri"/>
              </a:rPr>
              <a:t>"Help me understand this codebase"</a:t>
            </a:r>
            <a:endParaRPr b="0" i="0" sz="1000" u="none" cap="none" strike="noStrike">
              <a:solidFill>
                <a:schemeClr val="dk1"/>
              </a:solidFill>
              <a:latin typeface="Calibri"/>
              <a:ea typeface="Calibri"/>
              <a:cs typeface="Calibri"/>
              <a:sym typeface="Calibri"/>
            </a:endParaRPr>
          </a:p>
        </p:txBody>
      </p:sp>
      <p:sp>
        <p:nvSpPr>
          <p:cNvPr id="255" name="Google Shape;255;p9"/>
          <p:cNvSpPr/>
          <p:nvPr/>
        </p:nvSpPr>
        <p:spPr>
          <a:xfrm>
            <a:off x="868680" y="2880360"/>
            <a:ext cx="2011680" cy="45720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161616"/>
              </a:buClr>
              <a:buSzPts val="1000"/>
              <a:buFont typeface="Calibri"/>
              <a:buNone/>
            </a:pPr>
            <a:r>
              <a:rPr b="0" i="0" lang="en-US" sz="1000" u="none" cap="none" strike="noStrike">
                <a:solidFill>
                  <a:srgbClr val="161616"/>
                </a:solidFill>
                <a:latin typeface="Calibri"/>
                <a:ea typeface="Calibri"/>
                <a:cs typeface="Calibri"/>
                <a:sym typeface="Calibri"/>
              </a:rPr>
              <a:t>"Write tests for this function"</a:t>
            </a:r>
            <a:endParaRPr b="0" i="0" sz="1000" u="none" cap="none" strike="noStrike">
              <a:solidFill>
                <a:schemeClr val="dk1"/>
              </a:solidFill>
              <a:latin typeface="Calibri"/>
              <a:ea typeface="Calibri"/>
              <a:cs typeface="Calibri"/>
              <a:sym typeface="Calibri"/>
            </a:endParaRPr>
          </a:p>
        </p:txBody>
      </p:sp>
      <p:sp>
        <p:nvSpPr>
          <p:cNvPr id="256" name="Google Shape;256;p9"/>
          <p:cNvSpPr/>
          <p:nvPr/>
        </p:nvSpPr>
        <p:spPr>
          <a:xfrm>
            <a:off x="868680" y="3383280"/>
            <a:ext cx="2011680" cy="45720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161616"/>
              </a:buClr>
              <a:buSzPts val="1000"/>
              <a:buFont typeface="Calibri"/>
              <a:buNone/>
            </a:pPr>
            <a:r>
              <a:rPr b="0" i="0" lang="en-US" sz="1000" u="none" cap="none" strike="noStrike">
                <a:solidFill>
                  <a:srgbClr val="161616"/>
                </a:solidFill>
                <a:latin typeface="Calibri"/>
                <a:ea typeface="Calibri"/>
                <a:cs typeface="Calibri"/>
                <a:sym typeface="Calibri"/>
              </a:rPr>
              <a:t>"Draft the spec for this feature"</a:t>
            </a:r>
            <a:endParaRPr b="0" i="0" sz="1000" u="none" cap="none" strike="noStrike">
              <a:solidFill>
                <a:schemeClr val="dk1"/>
              </a:solidFill>
              <a:latin typeface="Calibri"/>
              <a:ea typeface="Calibri"/>
              <a:cs typeface="Calibri"/>
              <a:sym typeface="Calibri"/>
            </a:endParaRPr>
          </a:p>
        </p:txBody>
      </p:sp>
      <p:sp>
        <p:nvSpPr>
          <p:cNvPr id="257" name="Google Shape;257;p9"/>
          <p:cNvSpPr/>
          <p:nvPr/>
        </p:nvSpPr>
        <p:spPr>
          <a:xfrm>
            <a:off x="3383280" y="914400"/>
            <a:ext cx="2651760" cy="3474720"/>
          </a:xfrm>
          <a:prstGeom prst="rect">
            <a:avLst/>
          </a:prstGeom>
          <a:solidFill>
            <a:srgbClr val="FFFFFF"/>
          </a:solidFill>
          <a:ln>
            <a:noFill/>
          </a:ln>
          <a:effectLst>
            <a:outerShdw blurRad="76200" rotWithShape="0" algn="bl" dir="8100000" dist="25400">
              <a:srgbClr val="000000">
                <a:alpha val="11764"/>
              </a:srgbClr>
            </a:outerShdw>
          </a:effectLst>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58" name="Google Shape;258;p9"/>
          <p:cNvSpPr/>
          <p:nvPr/>
        </p:nvSpPr>
        <p:spPr>
          <a:xfrm>
            <a:off x="3383280" y="914400"/>
            <a:ext cx="54864" cy="3474720"/>
          </a:xfrm>
          <a:prstGeom prst="rect">
            <a:avLst/>
          </a:prstGeom>
          <a:solidFill>
            <a:srgbClr val="B7986A"/>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59" name="Google Shape;259;p9"/>
          <p:cNvSpPr/>
          <p:nvPr/>
        </p:nvSpPr>
        <p:spPr>
          <a:xfrm>
            <a:off x="3566160" y="1005840"/>
            <a:ext cx="457200" cy="45720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B7986A"/>
              </a:buClr>
              <a:buSzPts val="2800"/>
              <a:buFont typeface="Trebuchet MS"/>
              <a:buNone/>
            </a:pPr>
            <a:r>
              <a:rPr b="1" i="0" lang="en-US" sz="2800" u="none" cap="none" strike="noStrike">
                <a:solidFill>
                  <a:srgbClr val="B7986A"/>
                </a:solidFill>
                <a:latin typeface="Trebuchet MS"/>
                <a:ea typeface="Trebuchet MS"/>
                <a:cs typeface="Trebuchet MS"/>
                <a:sym typeface="Trebuchet MS"/>
              </a:rPr>
              <a:t>2</a:t>
            </a:r>
            <a:endParaRPr b="0" i="0" sz="2800" u="none" cap="none" strike="noStrike">
              <a:solidFill>
                <a:schemeClr val="dk1"/>
              </a:solidFill>
              <a:latin typeface="Calibri"/>
              <a:ea typeface="Calibri"/>
              <a:cs typeface="Calibri"/>
              <a:sym typeface="Calibri"/>
            </a:endParaRPr>
          </a:p>
        </p:txBody>
      </p:sp>
      <p:sp>
        <p:nvSpPr>
          <p:cNvPr id="260" name="Google Shape;260;p9"/>
          <p:cNvSpPr/>
          <p:nvPr/>
        </p:nvSpPr>
        <p:spPr>
          <a:xfrm>
            <a:off x="3566160" y="1463040"/>
            <a:ext cx="2286000" cy="36576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161616"/>
              </a:buClr>
              <a:buSzPts val="1400"/>
              <a:buFont typeface="Trebuchet MS"/>
              <a:buNone/>
            </a:pPr>
            <a:r>
              <a:rPr b="1" i="0" lang="en-US" sz="1400" u="none" cap="none" strike="noStrike">
                <a:solidFill>
                  <a:srgbClr val="161616"/>
                </a:solidFill>
                <a:latin typeface="Trebuchet MS"/>
                <a:ea typeface="Trebuchet MS"/>
                <a:cs typeface="Trebuchet MS"/>
                <a:sym typeface="Trebuchet MS"/>
              </a:rPr>
              <a:t>Plan first</a:t>
            </a:r>
            <a:endParaRPr b="0" i="0" sz="1400" u="none" cap="none" strike="noStrike">
              <a:solidFill>
                <a:schemeClr val="dk1"/>
              </a:solidFill>
              <a:latin typeface="Calibri"/>
              <a:ea typeface="Calibri"/>
              <a:cs typeface="Calibri"/>
              <a:sym typeface="Calibri"/>
            </a:endParaRPr>
          </a:p>
        </p:txBody>
      </p:sp>
      <p:sp>
        <p:nvSpPr>
          <p:cNvPr id="261" name="Google Shape;261;p9"/>
          <p:cNvSpPr/>
          <p:nvPr/>
        </p:nvSpPr>
        <p:spPr>
          <a:xfrm>
            <a:off x="3566160" y="1828800"/>
            <a:ext cx="2286000" cy="32004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6B7280"/>
              </a:buClr>
              <a:buSzPts val="1100"/>
              <a:buFont typeface="Calibri"/>
              <a:buNone/>
            </a:pPr>
            <a:r>
              <a:rPr b="0" i="0" lang="en-US" sz="1100" u="none" cap="none" strike="noStrike">
                <a:solidFill>
                  <a:srgbClr val="6B7280"/>
                </a:solidFill>
                <a:latin typeface="Calibri"/>
                <a:ea typeface="Calibri"/>
                <a:cs typeface="Calibri"/>
                <a:sym typeface="Calibri"/>
              </a:rPr>
              <a:t>More time than feels natural.</a:t>
            </a:r>
            <a:endParaRPr b="0" i="0" sz="1100" u="none" cap="none" strike="noStrike">
              <a:solidFill>
                <a:schemeClr val="dk1"/>
              </a:solidFill>
              <a:latin typeface="Calibri"/>
              <a:ea typeface="Calibri"/>
              <a:cs typeface="Calibri"/>
              <a:sym typeface="Calibri"/>
            </a:endParaRPr>
          </a:p>
        </p:txBody>
      </p:sp>
      <p:sp>
        <p:nvSpPr>
          <p:cNvPr id="262" name="Google Shape;262;p9"/>
          <p:cNvSpPr/>
          <p:nvPr/>
        </p:nvSpPr>
        <p:spPr>
          <a:xfrm>
            <a:off x="3566160" y="2286000"/>
            <a:ext cx="2286000" cy="1783080"/>
          </a:xfrm>
          <a:prstGeom prst="rect">
            <a:avLst/>
          </a:prstGeom>
          <a:solidFill>
            <a:srgbClr val="E8E8E8"/>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63" name="Google Shape;263;p9"/>
          <p:cNvSpPr/>
          <p:nvPr/>
        </p:nvSpPr>
        <p:spPr>
          <a:xfrm>
            <a:off x="3703320" y="2377440"/>
            <a:ext cx="2011680" cy="45720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161616"/>
              </a:buClr>
              <a:buSzPts val="1000"/>
              <a:buFont typeface="Calibri"/>
              <a:buNone/>
            </a:pPr>
            <a:r>
              <a:rPr b="0" i="0" lang="en-US" sz="1000" u="none" cap="none" strike="noStrike">
                <a:solidFill>
                  <a:srgbClr val="161616"/>
                </a:solidFill>
                <a:latin typeface="Calibri"/>
                <a:ea typeface="Calibri"/>
                <a:cs typeface="Calibri"/>
                <a:sym typeface="Calibri"/>
              </a:rPr>
              <a:t>Ask Claude to ask you questions</a:t>
            </a:r>
            <a:endParaRPr b="0" i="0" sz="1000" u="none" cap="none" strike="noStrike">
              <a:solidFill>
                <a:schemeClr val="dk1"/>
              </a:solidFill>
              <a:latin typeface="Calibri"/>
              <a:ea typeface="Calibri"/>
              <a:cs typeface="Calibri"/>
              <a:sym typeface="Calibri"/>
            </a:endParaRPr>
          </a:p>
        </p:txBody>
      </p:sp>
      <p:sp>
        <p:nvSpPr>
          <p:cNvPr id="264" name="Google Shape;264;p9"/>
          <p:cNvSpPr/>
          <p:nvPr/>
        </p:nvSpPr>
        <p:spPr>
          <a:xfrm>
            <a:off x="3703320" y="2880360"/>
            <a:ext cx="2011680" cy="45720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161616"/>
              </a:buClr>
              <a:buSzPts val="1000"/>
              <a:buFont typeface="Calibri"/>
              <a:buNone/>
            </a:pPr>
            <a:r>
              <a:rPr b="0" i="0" lang="en-US" sz="1000" u="none" cap="none" strike="noStrike">
                <a:solidFill>
                  <a:srgbClr val="161616"/>
                </a:solidFill>
                <a:latin typeface="Calibri"/>
                <a:ea typeface="Calibri"/>
                <a:cs typeface="Calibri"/>
                <a:sym typeface="Calibri"/>
              </a:rPr>
              <a:t>Refine until the plan is clear</a:t>
            </a:r>
            <a:endParaRPr b="0" i="0" sz="1000" u="none" cap="none" strike="noStrike">
              <a:solidFill>
                <a:schemeClr val="dk1"/>
              </a:solidFill>
              <a:latin typeface="Calibri"/>
              <a:ea typeface="Calibri"/>
              <a:cs typeface="Calibri"/>
              <a:sym typeface="Calibri"/>
            </a:endParaRPr>
          </a:p>
        </p:txBody>
      </p:sp>
      <p:sp>
        <p:nvSpPr>
          <p:cNvPr id="265" name="Google Shape;265;p9"/>
          <p:cNvSpPr/>
          <p:nvPr/>
        </p:nvSpPr>
        <p:spPr>
          <a:xfrm>
            <a:off x="3703320" y="3383280"/>
            <a:ext cx="2011680" cy="45720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161616"/>
              </a:buClr>
              <a:buSzPts val="1000"/>
              <a:buFont typeface="Calibri"/>
              <a:buNone/>
            </a:pPr>
            <a:r>
              <a:rPr b="0" i="0" lang="en-US" sz="1000" u="none" cap="none" strike="noStrike">
                <a:solidFill>
                  <a:srgbClr val="161616"/>
                </a:solidFill>
                <a:latin typeface="Calibri"/>
                <a:ea typeface="Calibri"/>
                <a:cs typeface="Calibri"/>
                <a:sym typeface="Calibri"/>
              </a:rPr>
              <a:t>Then execute</a:t>
            </a:r>
            <a:endParaRPr b="0" i="0" sz="1000" u="none" cap="none" strike="noStrike">
              <a:solidFill>
                <a:schemeClr val="dk1"/>
              </a:solidFill>
              <a:latin typeface="Calibri"/>
              <a:ea typeface="Calibri"/>
              <a:cs typeface="Calibri"/>
              <a:sym typeface="Calibri"/>
            </a:endParaRPr>
          </a:p>
        </p:txBody>
      </p:sp>
      <p:sp>
        <p:nvSpPr>
          <p:cNvPr id="266" name="Google Shape;266;p9"/>
          <p:cNvSpPr/>
          <p:nvPr/>
        </p:nvSpPr>
        <p:spPr>
          <a:xfrm>
            <a:off x="6217920" y="914400"/>
            <a:ext cx="2651760" cy="3474720"/>
          </a:xfrm>
          <a:prstGeom prst="rect">
            <a:avLst/>
          </a:prstGeom>
          <a:solidFill>
            <a:srgbClr val="FFFFFF"/>
          </a:solidFill>
          <a:ln>
            <a:noFill/>
          </a:ln>
          <a:effectLst>
            <a:outerShdw blurRad="76200" rotWithShape="0" algn="bl" dir="8100000" dist="25400">
              <a:srgbClr val="000000">
                <a:alpha val="11764"/>
              </a:srgbClr>
            </a:outerShdw>
          </a:effectLst>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67" name="Google Shape;267;p9"/>
          <p:cNvSpPr/>
          <p:nvPr/>
        </p:nvSpPr>
        <p:spPr>
          <a:xfrm>
            <a:off x="6217920" y="914400"/>
            <a:ext cx="54864" cy="3474720"/>
          </a:xfrm>
          <a:prstGeom prst="rect">
            <a:avLst/>
          </a:prstGeom>
          <a:solidFill>
            <a:srgbClr val="B7986A"/>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68" name="Google Shape;268;p9"/>
          <p:cNvSpPr/>
          <p:nvPr/>
        </p:nvSpPr>
        <p:spPr>
          <a:xfrm>
            <a:off x="6400800" y="1005840"/>
            <a:ext cx="457200" cy="45720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B7986A"/>
              </a:buClr>
              <a:buSzPts val="2800"/>
              <a:buFont typeface="Trebuchet MS"/>
              <a:buNone/>
            </a:pPr>
            <a:r>
              <a:rPr b="1" i="0" lang="en-US" sz="2800" u="none" cap="none" strike="noStrike">
                <a:solidFill>
                  <a:srgbClr val="B7986A"/>
                </a:solidFill>
                <a:latin typeface="Trebuchet MS"/>
                <a:ea typeface="Trebuchet MS"/>
                <a:cs typeface="Trebuchet MS"/>
                <a:sym typeface="Trebuchet MS"/>
              </a:rPr>
              <a:t>3</a:t>
            </a:r>
            <a:endParaRPr b="0" i="0" sz="2800" u="none" cap="none" strike="noStrike">
              <a:solidFill>
                <a:schemeClr val="dk1"/>
              </a:solidFill>
              <a:latin typeface="Calibri"/>
              <a:ea typeface="Calibri"/>
              <a:cs typeface="Calibri"/>
              <a:sym typeface="Calibri"/>
            </a:endParaRPr>
          </a:p>
        </p:txBody>
      </p:sp>
      <p:sp>
        <p:nvSpPr>
          <p:cNvPr id="269" name="Google Shape;269;p9"/>
          <p:cNvSpPr/>
          <p:nvPr/>
        </p:nvSpPr>
        <p:spPr>
          <a:xfrm>
            <a:off x="6400800" y="1463040"/>
            <a:ext cx="2286000" cy="36576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161616"/>
              </a:buClr>
              <a:buSzPts val="1400"/>
              <a:buFont typeface="Trebuchet MS"/>
              <a:buNone/>
            </a:pPr>
            <a:r>
              <a:rPr b="1" i="0" lang="en-US" sz="1400" u="none" cap="none" strike="noStrike">
                <a:solidFill>
                  <a:srgbClr val="161616"/>
                </a:solidFill>
                <a:latin typeface="Trebuchet MS"/>
                <a:ea typeface="Trebuchet MS"/>
                <a:cs typeface="Trebuchet MS"/>
                <a:sym typeface="Trebuchet MS"/>
              </a:rPr>
              <a:t>Verify everything</a:t>
            </a:r>
            <a:endParaRPr b="0" i="0" sz="1400" u="none" cap="none" strike="noStrike">
              <a:solidFill>
                <a:schemeClr val="dk1"/>
              </a:solidFill>
              <a:latin typeface="Calibri"/>
              <a:ea typeface="Calibri"/>
              <a:cs typeface="Calibri"/>
              <a:sym typeface="Calibri"/>
            </a:endParaRPr>
          </a:p>
        </p:txBody>
      </p:sp>
      <p:sp>
        <p:nvSpPr>
          <p:cNvPr id="270" name="Google Shape;270;p9"/>
          <p:cNvSpPr/>
          <p:nvPr/>
        </p:nvSpPr>
        <p:spPr>
          <a:xfrm>
            <a:off x="6400800" y="1828800"/>
            <a:ext cx="2286000" cy="32004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6B7280"/>
              </a:buClr>
              <a:buSzPts val="1100"/>
              <a:buFont typeface="Calibri"/>
              <a:buNone/>
            </a:pPr>
            <a:r>
              <a:rPr b="0" i="0" lang="en-US" sz="1100" u="none" cap="none" strike="noStrike">
                <a:solidFill>
                  <a:srgbClr val="6B7280"/>
                </a:solidFill>
                <a:latin typeface="Calibri"/>
                <a:ea typeface="Calibri"/>
                <a:cs typeface="Calibri"/>
                <a:sym typeface="Calibri"/>
              </a:rPr>
              <a:t>Run tests. Read diffs.</a:t>
            </a:r>
            <a:endParaRPr b="0" i="0" sz="1100" u="none" cap="none" strike="noStrike">
              <a:solidFill>
                <a:schemeClr val="dk1"/>
              </a:solidFill>
              <a:latin typeface="Calibri"/>
              <a:ea typeface="Calibri"/>
              <a:cs typeface="Calibri"/>
              <a:sym typeface="Calibri"/>
            </a:endParaRPr>
          </a:p>
        </p:txBody>
      </p:sp>
      <p:sp>
        <p:nvSpPr>
          <p:cNvPr id="271" name="Google Shape;271;p9"/>
          <p:cNvSpPr/>
          <p:nvPr/>
        </p:nvSpPr>
        <p:spPr>
          <a:xfrm>
            <a:off x="6400800" y="2286000"/>
            <a:ext cx="2286000" cy="1783080"/>
          </a:xfrm>
          <a:prstGeom prst="rect">
            <a:avLst/>
          </a:prstGeom>
          <a:solidFill>
            <a:srgbClr val="E8E8E8"/>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72" name="Google Shape;272;p9"/>
          <p:cNvSpPr/>
          <p:nvPr/>
        </p:nvSpPr>
        <p:spPr>
          <a:xfrm>
            <a:off x="6537960" y="2377440"/>
            <a:ext cx="2011680" cy="45720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161616"/>
              </a:buClr>
              <a:buSzPts val="1000"/>
              <a:buFont typeface="Calibri"/>
              <a:buNone/>
            </a:pPr>
            <a:r>
              <a:rPr b="0" i="0" lang="en-US" sz="1000" u="none" cap="none" strike="noStrike">
                <a:solidFill>
                  <a:srgbClr val="161616"/>
                </a:solidFill>
                <a:latin typeface="Calibri"/>
                <a:ea typeface="Calibri"/>
                <a:cs typeface="Calibri"/>
                <a:sym typeface="Calibri"/>
              </a:rPr>
              <a:t>Speed comes from rigor</a:t>
            </a:r>
            <a:endParaRPr b="0" i="0" sz="1000" u="none" cap="none" strike="noStrike">
              <a:solidFill>
                <a:schemeClr val="dk1"/>
              </a:solidFill>
              <a:latin typeface="Calibri"/>
              <a:ea typeface="Calibri"/>
              <a:cs typeface="Calibri"/>
              <a:sym typeface="Calibri"/>
            </a:endParaRPr>
          </a:p>
        </p:txBody>
      </p:sp>
      <p:sp>
        <p:nvSpPr>
          <p:cNvPr id="273" name="Google Shape;273;p9"/>
          <p:cNvSpPr/>
          <p:nvPr/>
        </p:nvSpPr>
        <p:spPr>
          <a:xfrm>
            <a:off x="6537960" y="2880360"/>
            <a:ext cx="2011680" cy="45720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161616"/>
              </a:buClr>
              <a:buSzPts val="1000"/>
              <a:buFont typeface="Calibri"/>
              <a:buNone/>
            </a:pPr>
            <a:r>
              <a:rPr b="0" i="0" lang="en-US" sz="1000" u="none" cap="none" strike="noStrike">
                <a:solidFill>
                  <a:srgbClr val="161616"/>
                </a:solidFill>
                <a:latin typeface="Calibri"/>
                <a:ea typeface="Calibri"/>
                <a:cs typeface="Calibri"/>
                <a:sym typeface="Calibri"/>
              </a:rPr>
              <a:t>Not from skipping steps</a:t>
            </a:r>
            <a:endParaRPr b="0" i="0" sz="1000" u="none" cap="none" strike="noStrike">
              <a:solidFill>
                <a:schemeClr val="dk1"/>
              </a:solidFill>
              <a:latin typeface="Calibri"/>
              <a:ea typeface="Calibri"/>
              <a:cs typeface="Calibri"/>
              <a:sym typeface="Calibri"/>
            </a:endParaRPr>
          </a:p>
        </p:txBody>
      </p:sp>
      <p:sp>
        <p:nvSpPr>
          <p:cNvPr id="274" name="Google Shape;274;p9"/>
          <p:cNvSpPr/>
          <p:nvPr/>
        </p:nvSpPr>
        <p:spPr>
          <a:xfrm>
            <a:off x="6537960" y="3383280"/>
            <a:ext cx="2011680" cy="45720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161616"/>
              </a:buClr>
              <a:buSzPts val="1000"/>
              <a:buFont typeface="Calibri"/>
              <a:buNone/>
            </a:pPr>
            <a:r>
              <a:rPr b="0" i="0" lang="en-US" sz="1000" u="none" cap="none" strike="noStrike">
                <a:solidFill>
                  <a:srgbClr val="161616"/>
                </a:solidFill>
                <a:latin typeface="Calibri"/>
                <a:ea typeface="Calibri"/>
                <a:cs typeface="Calibri"/>
                <a:sym typeface="Calibri"/>
              </a:rPr>
              <a:t>Don't YOLO</a:t>
            </a:r>
            <a:endParaRPr b="0" i="0" sz="1000" u="none" cap="none" strike="noStrike">
              <a:solidFill>
                <a:schemeClr val="dk1"/>
              </a:solidFill>
              <a:latin typeface="Calibri"/>
              <a:ea typeface="Calibri"/>
              <a:cs typeface="Calibri"/>
              <a:sym typeface="Calibri"/>
            </a:endParaRPr>
          </a:p>
        </p:txBody>
      </p:sp>
      <p:cxnSp>
        <p:nvCxnSpPr>
          <p:cNvPr id="275" name="Google Shape;275;p9"/>
          <p:cNvCxnSpPr/>
          <p:nvPr/>
        </p:nvCxnSpPr>
        <p:spPr>
          <a:xfrm>
            <a:off x="457200" y="4892040"/>
            <a:ext cx="8229600" cy="0"/>
          </a:xfrm>
          <a:prstGeom prst="straightConnector1">
            <a:avLst/>
          </a:prstGeom>
          <a:noFill/>
          <a:ln cap="flat" cmpd="sng" w="9525">
            <a:solidFill>
              <a:srgbClr val="B7986A"/>
            </a:solidFill>
            <a:prstDash val="solid"/>
            <a:round/>
            <a:headEnd len="sm" w="sm" type="none"/>
            <a:tailEnd len="sm" w="sm" type="none"/>
          </a:ln>
        </p:spPr>
      </p:cxnSp>
      <p:sp>
        <p:nvSpPr>
          <p:cNvPr id="276" name="Google Shape;276;p9"/>
          <p:cNvSpPr/>
          <p:nvPr/>
        </p:nvSpPr>
        <p:spPr>
          <a:xfrm>
            <a:off x="457200" y="4892040"/>
            <a:ext cx="6400800" cy="22860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ADB5BD"/>
              </a:buClr>
              <a:buSzPts val="800"/>
              <a:buFont typeface="Calibri"/>
              <a:buNone/>
            </a:pPr>
            <a:r>
              <a:rPr b="0" i="0" lang="en-US" sz="800" u="none" cap="none" strike="noStrike">
                <a:solidFill>
                  <a:srgbClr val="ADB5BD"/>
                </a:solidFill>
                <a:latin typeface="Calibri"/>
                <a:ea typeface="Calibri"/>
                <a:cs typeface="Calibri"/>
                <a:sym typeface="Calibri"/>
              </a:rPr>
              <a:t>Claude Code  |  Ravn Production Team  |  Part 1</a:t>
            </a:r>
            <a:endParaRPr b="0" i="0" sz="800" u="none" cap="none" strike="noStrike">
              <a:solidFill>
                <a:schemeClr val="dk1"/>
              </a:solidFill>
              <a:latin typeface="Calibri"/>
              <a:ea typeface="Calibri"/>
              <a:cs typeface="Calibri"/>
              <a:sym typeface="Calibri"/>
            </a:endParaRPr>
          </a:p>
        </p:txBody>
      </p:sp>
      <p:sp>
        <p:nvSpPr>
          <p:cNvPr id="277" name="Google Shape;277;p9"/>
          <p:cNvSpPr/>
          <p:nvPr/>
        </p:nvSpPr>
        <p:spPr>
          <a:xfrm>
            <a:off x="7772400" y="4892040"/>
            <a:ext cx="914400" cy="228600"/>
          </a:xfrm>
          <a:prstGeom prst="rect">
            <a:avLst/>
          </a:prstGeom>
          <a:noFill/>
          <a:ln>
            <a:noFill/>
          </a:ln>
        </p:spPr>
        <p:txBody>
          <a:bodyPr anchorCtr="0" anchor="ctr" bIns="0" lIns="0" spcFirstLastPara="1" rIns="0" wrap="square" tIns="0">
            <a:noAutofit/>
          </a:bodyPr>
          <a:lstStyle/>
          <a:p>
            <a:pPr indent="0" lvl="0" marL="0" marR="0" rtl="0" algn="r">
              <a:spcBef>
                <a:spcPts val="0"/>
              </a:spcBef>
              <a:spcAft>
                <a:spcPts val="0"/>
              </a:spcAft>
              <a:buClr>
                <a:srgbClr val="ADB5BD"/>
              </a:buClr>
              <a:buSzPts val="800"/>
              <a:buFont typeface="Calibri"/>
              <a:buNone/>
            </a:pPr>
            <a:r>
              <a:rPr b="0" i="0" lang="en-US" sz="800" u="none" cap="none" strike="noStrike">
                <a:solidFill>
                  <a:srgbClr val="ADB5BD"/>
                </a:solidFill>
                <a:latin typeface="Calibri"/>
                <a:ea typeface="Calibri"/>
                <a:cs typeface="Calibri"/>
                <a:sym typeface="Calibri"/>
              </a:rPr>
              <a:t>9</a:t>
            </a:r>
            <a:endParaRPr b="0" i="0" sz="800" u="none" cap="none" strike="noStrike">
              <a:solidFill>
                <a:schemeClr val="dk1"/>
              </a:solidFill>
              <a:latin typeface="Calibri"/>
              <a:ea typeface="Calibri"/>
              <a:cs typeface="Calibri"/>
              <a:sym typeface="Calibri"/>
            </a:endParaRPr>
          </a:p>
        </p:txBody>
      </p:sp>
    </p:spTree>
  </p:cSld>
  <p:clrMapOvr>
    <a:masterClrMapping/>
  </p:clrMapOvr>
</p:sld>
</file>

<file path=ppt/slides/slide1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161616"/>
        </a:solidFill>
      </p:bgPr>
    </p:bg>
    <p:spTree>
      <p:nvGrpSpPr>
        <p:cNvPr id="282" name="Shape 282"/>
        <p:cNvGrpSpPr/>
        <p:nvPr/>
      </p:nvGrpSpPr>
      <p:grpSpPr>
        <a:xfrm>
          <a:off x="0" y="0"/>
          <a:ext cx="0" cy="0"/>
          <a:chOff x="0" y="0"/>
          <a:chExt cx="0" cy="0"/>
        </a:xfrm>
      </p:grpSpPr>
      <p:sp>
        <p:nvSpPr>
          <p:cNvPr id="283" name="Google Shape;283;p10"/>
          <p:cNvSpPr/>
          <p:nvPr/>
        </p:nvSpPr>
        <p:spPr>
          <a:xfrm>
            <a:off x="-914400" y="-914400"/>
            <a:ext cx="3200400" cy="3200400"/>
          </a:xfrm>
          <a:custGeom>
            <a:rect b="b" l="l" r="r" t="t"/>
            <a:pathLst>
              <a:path extrusionOk="0" h="120000" w="120000">
                <a:moveTo>
                  <a:pt x="0" y="0"/>
                </a:moveTo>
                <a:lnTo>
                  <a:pt x="120000" y="0"/>
                </a:lnTo>
                <a:lnTo>
                  <a:pt x="120000" y="120000"/>
                </a:lnTo>
                <a:lnTo>
                  <a:pt x="0" y="120000"/>
                </a:lnTo>
                <a:close/>
              </a:path>
              <a:path extrusionOk="0" fill="none" h="120000" w="120000">
                <a:moveTo>
                  <a:pt x="-10000" y="0"/>
                </a:moveTo>
                <a:close/>
                <a:lnTo>
                  <a:pt x="-10000" y="120000"/>
                </a:lnTo>
              </a:path>
              <a:path extrusionOk="0" fill="none" h="120000" w="120000">
                <a:moveTo>
                  <a:pt x="-10000" y="22500"/>
                </a:moveTo>
                <a:lnTo>
                  <a:pt x="-46000" y="135000"/>
                </a:lnTo>
              </a:path>
            </a:pathLst>
          </a:custGeom>
          <a:solidFill>
            <a:srgbClr val="B7986A">
              <a:alpha val="7843"/>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84" name="Google Shape;284;p10"/>
          <p:cNvSpPr/>
          <p:nvPr/>
        </p:nvSpPr>
        <p:spPr>
          <a:xfrm>
            <a:off x="7315200" y="3200400"/>
            <a:ext cx="2743200" cy="2743200"/>
          </a:xfrm>
          <a:custGeom>
            <a:rect b="b" l="l" r="r" t="t"/>
            <a:pathLst>
              <a:path extrusionOk="0" h="120000" w="120000">
                <a:moveTo>
                  <a:pt x="0" y="0"/>
                </a:moveTo>
                <a:lnTo>
                  <a:pt x="120000" y="0"/>
                </a:lnTo>
                <a:lnTo>
                  <a:pt x="120000" y="120000"/>
                </a:lnTo>
                <a:lnTo>
                  <a:pt x="0" y="120000"/>
                </a:lnTo>
                <a:close/>
              </a:path>
              <a:path extrusionOk="0" fill="none" h="120000" w="120000">
                <a:moveTo>
                  <a:pt x="-10000" y="0"/>
                </a:moveTo>
                <a:close/>
                <a:lnTo>
                  <a:pt x="-10000" y="120000"/>
                </a:lnTo>
              </a:path>
              <a:path extrusionOk="0" fill="none" h="120000" w="120000">
                <a:moveTo>
                  <a:pt x="-10000" y="22500"/>
                </a:moveTo>
                <a:lnTo>
                  <a:pt x="-46000" y="135000"/>
                </a:lnTo>
              </a:path>
            </a:pathLst>
          </a:custGeom>
          <a:solidFill>
            <a:srgbClr val="B7986A">
              <a:alpha val="7843"/>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85" name="Google Shape;285;p10"/>
          <p:cNvSpPr/>
          <p:nvPr/>
        </p:nvSpPr>
        <p:spPr>
          <a:xfrm>
            <a:off x="548640" y="365760"/>
            <a:ext cx="8229600" cy="64008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FFFFFF"/>
              </a:buClr>
              <a:buSzPts val="3600"/>
              <a:buFont typeface="Trebuchet MS"/>
              <a:buNone/>
            </a:pPr>
            <a:r>
              <a:rPr b="1" i="0" lang="en-US" sz="3600" u="none" cap="none" strike="noStrike">
                <a:solidFill>
                  <a:srgbClr val="FFFFFF"/>
                </a:solidFill>
                <a:latin typeface="Trebuchet MS"/>
                <a:ea typeface="Trebuchet MS"/>
                <a:cs typeface="Trebuchet MS"/>
                <a:sym typeface="Trebuchet MS"/>
              </a:rPr>
              <a:t>This Is Part 1</a:t>
            </a:r>
            <a:endParaRPr b="0" i="0" sz="3600" u="none" cap="none" strike="noStrike">
              <a:solidFill>
                <a:schemeClr val="dk1"/>
              </a:solidFill>
              <a:latin typeface="Calibri"/>
              <a:ea typeface="Calibri"/>
              <a:cs typeface="Calibri"/>
              <a:sym typeface="Calibri"/>
            </a:endParaRPr>
          </a:p>
        </p:txBody>
      </p:sp>
      <p:sp>
        <p:nvSpPr>
          <p:cNvPr id="286" name="Google Shape;286;p10"/>
          <p:cNvSpPr/>
          <p:nvPr/>
        </p:nvSpPr>
        <p:spPr>
          <a:xfrm>
            <a:off x="548640" y="960120"/>
            <a:ext cx="7315200" cy="36576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ADB5BD"/>
              </a:buClr>
              <a:buSzPts val="1500"/>
              <a:buFont typeface="Calibri"/>
              <a:buNone/>
            </a:pPr>
            <a:r>
              <a:rPr b="0" i="0" lang="en-US" sz="1500" u="none" cap="none" strike="noStrike">
                <a:solidFill>
                  <a:srgbClr val="ADB5BD"/>
                </a:solidFill>
                <a:latin typeface="Calibri"/>
                <a:ea typeface="Calibri"/>
                <a:cs typeface="Calibri"/>
                <a:sym typeface="Calibri"/>
              </a:rPr>
              <a:t>Bi-weekly sessions throughout 2026. </a:t>
            </a:r>
            <a:r>
              <a:rPr lang="en-US" sz="1500">
                <a:solidFill>
                  <a:srgbClr val="ADB5BD"/>
                </a:solidFill>
                <a:latin typeface="Calibri"/>
                <a:ea typeface="Calibri"/>
                <a:cs typeface="Calibri"/>
                <a:sym typeface="Calibri"/>
              </a:rPr>
              <a:t>B</a:t>
            </a:r>
            <a:r>
              <a:rPr b="0" i="0" lang="en-US" sz="1500" u="none" cap="none" strike="noStrike">
                <a:solidFill>
                  <a:srgbClr val="ADB5BD"/>
                </a:solidFill>
                <a:latin typeface="Calibri"/>
                <a:ea typeface="Calibri"/>
                <a:cs typeface="Calibri"/>
                <a:sym typeface="Calibri"/>
              </a:rPr>
              <a:t>rick by brick.</a:t>
            </a:r>
            <a:endParaRPr b="0" i="0" sz="1500" u="none" cap="none" strike="noStrike">
              <a:solidFill>
                <a:schemeClr val="dk1"/>
              </a:solidFill>
              <a:latin typeface="Calibri"/>
              <a:ea typeface="Calibri"/>
              <a:cs typeface="Calibri"/>
              <a:sym typeface="Calibri"/>
            </a:endParaRPr>
          </a:p>
        </p:txBody>
      </p:sp>
      <p:sp>
        <p:nvSpPr>
          <p:cNvPr id="287" name="Google Shape;287;p10"/>
          <p:cNvSpPr/>
          <p:nvPr/>
        </p:nvSpPr>
        <p:spPr>
          <a:xfrm>
            <a:off x="548640" y="1508760"/>
            <a:ext cx="8046720" cy="502920"/>
          </a:xfrm>
          <a:prstGeom prst="rect">
            <a:avLst/>
          </a:prstGeom>
          <a:solidFill>
            <a:srgbClr val="1E1E1E"/>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88" name="Google Shape;288;p10"/>
          <p:cNvSpPr/>
          <p:nvPr/>
        </p:nvSpPr>
        <p:spPr>
          <a:xfrm>
            <a:off x="548640" y="1508760"/>
            <a:ext cx="45720" cy="502920"/>
          </a:xfrm>
          <a:prstGeom prst="rect">
            <a:avLst/>
          </a:prstGeom>
          <a:solidFill>
            <a:srgbClr val="B7986A"/>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89" name="Google Shape;289;p10"/>
          <p:cNvSpPr/>
          <p:nvPr/>
        </p:nvSpPr>
        <p:spPr>
          <a:xfrm>
            <a:off x="777240" y="1554480"/>
            <a:ext cx="2560320" cy="22860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FFFFFF"/>
              </a:buClr>
              <a:buSzPts val="1200"/>
              <a:buFont typeface="Trebuchet MS"/>
              <a:buNone/>
            </a:pPr>
            <a:r>
              <a:rPr b="1" i="0" lang="en-US" sz="1200" u="none" cap="none" strike="noStrike">
                <a:solidFill>
                  <a:srgbClr val="FFFFFF"/>
                </a:solidFill>
                <a:latin typeface="Trebuchet MS"/>
                <a:ea typeface="Trebuchet MS"/>
                <a:cs typeface="Trebuchet MS"/>
                <a:sym typeface="Trebuchet MS"/>
              </a:rPr>
              <a:t>Deep-Dive: Planning</a:t>
            </a:r>
            <a:endParaRPr b="0" i="0" sz="1200" u="none" cap="none" strike="noStrike">
              <a:solidFill>
                <a:schemeClr val="dk1"/>
              </a:solidFill>
              <a:latin typeface="Calibri"/>
              <a:ea typeface="Calibri"/>
              <a:cs typeface="Calibri"/>
              <a:sym typeface="Calibri"/>
            </a:endParaRPr>
          </a:p>
        </p:txBody>
      </p:sp>
      <p:sp>
        <p:nvSpPr>
          <p:cNvPr id="290" name="Google Shape;290;p10"/>
          <p:cNvSpPr/>
          <p:nvPr/>
        </p:nvSpPr>
        <p:spPr>
          <a:xfrm>
            <a:off x="777240" y="1764792"/>
            <a:ext cx="7589520" cy="22860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ADB5BD"/>
              </a:buClr>
              <a:buSzPts val="1000"/>
              <a:buFont typeface="Calibri"/>
              <a:buNone/>
            </a:pPr>
            <a:r>
              <a:rPr b="0" i="0" lang="en-US" sz="1000" u="none" cap="none" strike="noStrike">
                <a:solidFill>
                  <a:srgbClr val="ADB5BD"/>
                </a:solidFill>
                <a:latin typeface="Calibri"/>
                <a:ea typeface="Calibri"/>
                <a:cs typeface="Calibri"/>
                <a:sym typeface="Calibri"/>
              </a:rPr>
              <a:t>Tips, tricks, and tools to make the most of the planning phase</a:t>
            </a:r>
            <a:endParaRPr b="0" i="0" sz="1000" u="none" cap="none" strike="noStrike">
              <a:solidFill>
                <a:schemeClr val="dk1"/>
              </a:solidFill>
              <a:latin typeface="Calibri"/>
              <a:ea typeface="Calibri"/>
              <a:cs typeface="Calibri"/>
              <a:sym typeface="Calibri"/>
            </a:endParaRPr>
          </a:p>
        </p:txBody>
      </p:sp>
      <p:sp>
        <p:nvSpPr>
          <p:cNvPr id="291" name="Google Shape;291;p10"/>
          <p:cNvSpPr/>
          <p:nvPr/>
        </p:nvSpPr>
        <p:spPr>
          <a:xfrm>
            <a:off x="548640" y="2148840"/>
            <a:ext cx="8046720" cy="502920"/>
          </a:xfrm>
          <a:prstGeom prst="rect">
            <a:avLst/>
          </a:prstGeom>
          <a:solidFill>
            <a:srgbClr val="1E1E1E"/>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92" name="Google Shape;292;p10"/>
          <p:cNvSpPr/>
          <p:nvPr/>
        </p:nvSpPr>
        <p:spPr>
          <a:xfrm>
            <a:off x="548640" y="2148840"/>
            <a:ext cx="45720" cy="502920"/>
          </a:xfrm>
          <a:prstGeom prst="rect">
            <a:avLst/>
          </a:prstGeom>
          <a:solidFill>
            <a:srgbClr val="B7986A"/>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93" name="Google Shape;293;p10"/>
          <p:cNvSpPr/>
          <p:nvPr/>
        </p:nvSpPr>
        <p:spPr>
          <a:xfrm>
            <a:off x="777240" y="2194560"/>
            <a:ext cx="2560320" cy="22860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FFFFFF"/>
              </a:buClr>
              <a:buSzPts val="1200"/>
              <a:buFont typeface="Trebuchet MS"/>
              <a:buNone/>
            </a:pPr>
            <a:r>
              <a:rPr b="1" i="0" lang="en-US" sz="1200" u="none" cap="none" strike="noStrike">
                <a:solidFill>
                  <a:srgbClr val="FFFFFF"/>
                </a:solidFill>
                <a:latin typeface="Trebuchet MS"/>
                <a:ea typeface="Trebuchet MS"/>
                <a:cs typeface="Trebuchet MS"/>
                <a:sym typeface="Trebuchet MS"/>
              </a:rPr>
              <a:t>Deep-Dive: Execution</a:t>
            </a:r>
            <a:endParaRPr b="0" i="0" sz="1200" u="none" cap="none" strike="noStrike">
              <a:solidFill>
                <a:schemeClr val="dk1"/>
              </a:solidFill>
              <a:latin typeface="Calibri"/>
              <a:ea typeface="Calibri"/>
              <a:cs typeface="Calibri"/>
              <a:sym typeface="Calibri"/>
            </a:endParaRPr>
          </a:p>
        </p:txBody>
      </p:sp>
      <p:sp>
        <p:nvSpPr>
          <p:cNvPr id="294" name="Google Shape;294;p10"/>
          <p:cNvSpPr/>
          <p:nvPr/>
        </p:nvSpPr>
        <p:spPr>
          <a:xfrm>
            <a:off x="777240" y="2404872"/>
            <a:ext cx="7589520" cy="22860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ADB5BD"/>
              </a:buClr>
              <a:buSzPts val="1000"/>
              <a:buFont typeface="Calibri"/>
              <a:buNone/>
            </a:pPr>
            <a:r>
              <a:rPr b="0" i="0" lang="en-US" sz="1000" u="none" cap="none" strike="noStrike">
                <a:solidFill>
                  <a:srgbClr val="ADB5BD"/>
                </a:solidFill>
                <a:latin typeface="Calibri"/>
                <a:ea typeface="Calibri"/>
                <a:cs typeface="Calibri"/>
                <a:sym typeface="Calibri"/>
              </a:rPr>
              <a:t>When to trust, when to intervene, </a:t>
            </a:r>
            <a:r>
              <a:rPr lang="en-US" sz="1000">
                <a:solidFill>
                  <a:srgbClr val="ADB5BD"/>
                </a:solidFill>
                <a:latin typeface="Calibri"/>
                <a:ea typeface="Calibri"/>
                <a:cs typeface="Calibri"/>
                <a:sym typeface="Calibri"/>
              </a:rPr>
              <a:t>project standards, </a:t>
            </a:r>
            <a:r>
              <a:rPr b="0" i="0" lang="en-US" sz="1000" u="none" cap="none" strike="noStrike">
                <a:solidFill>
                  <a:srgbClr val="ADB5BD"/>
                </a:solidFill>
                <a:latin typeface="Calibri"/>
                <a:ea typeface="Calibri"/>
                <a:cs typeface="Calibri"/>
                <a:sym typeface="Calibri"/>
              </a:rPr>
              <a:t>parallelization patterns</a:t>
            </a:r>
            <a:endParaRPr b="0" i="0" sz="1000" u="none" cap="none" strike="noStrike">
              <a:solidFill>
                <a:schemeClr val="dk1"/>
              </a:solidFill>
              <a:latin typeface="Calibri"/>
              <a:ea typeface="Calibri"/>
              <a:cs typeface="Calibri"/>
              <a:sym typeface="Calibri"/>
            </a:endParaRPr>
          </a:p>
        </p:txBody>
      </p:sp>
      <p:sp>
        <p:nvSpPr>
          <p:cNvPr id="295" name="Google Shape;295;p10"/>
          <p:cNvSpPr/>
          <p:nvPr/>
        </p:nvSpPr>
        <p:spPr>
          <a:xfrm>
            <a:off x="548640" y="2788920"/>
            <a:ext cx="8046720" cy="502920"/>
          </a:xfrm>
          <a:prstGeom prst="rect">
            <a:avLst/>
          </a:prstGeom>
          <a:solidFill>
            <a:srgbClr val="1E1E1E"/>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96" name="Google Shape;296;p10"/>
          <p:cNvSpPr/>
          <p:nvPr/>
        </p:nvSpPr>
        <p:spPr>
          <a:xfrm>
            <a:off x="548640" y="2788920"/>
            <a:ext cx="45720" cy="502920"/>
          </a:xfrm>
          <a:prstGeom prst="rect">
            <a:avLst/>
          </a:prstGeom>
          <a:solidFill>
            <a:srgbClr val="B7986A"/>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97" name="Google Shape;297;p10"/>
          <p:cNvSpPr/>
          <p:nvPr/>
        </p:nvSpPr>
        <p:spPr>
          <a:xfrm>
            <a:off x="777240" y="2834640"/>
            <a:ext cx="2560320" cy="22860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FFFFFF"/>
              </a:buClr>
              <a:buSzPts val="1200"/>
              <a:buFont typeface="Trebuchet MS"/>
              <a:buNone/>
            </a:pPr>
            <a:r>
              <a:rPr b="1" i="0" lang="en-US" sz="1200" u="none" cap="none" strike="noStrike">
                <a:solidFill>
                  <a:srgbClr val="FFFFFF"/>
                </a:solidFill>
                <a:latin typeface="Trebuchet MS"/>
                <a:ea typeface="Trebuchet MS"/>
                <a:cs typeface="Trebuchet MS"/>
                <a:sym typeface="Trebuchet MS"/>
              </a:rPr>
              <a:t>Deep-Dive: Verification</a:t>
            </a:r>
            <a:endParaRPr b="0" i="0" sz="1200" u="none" cap="none" strike="noStrike">
              <a:solidFill>
                <a:schemeClr val="dk1"/>
              </a:solidFill>
              <a:latin typeface="Calibri"/>
              <a:ea typeface="Calibri"/>
              <a:cs typeface="Calibri"/>
              <a:sym typeface="Calibri"/>
            </a:endParaRPr>
          </a:p>
        </p:txBody>
      </p:sp>
      <p:sp>
        <p:nvSpPr>
          <p:cNvPr id="298" name="Google Shape;298;p10"/>
          <p:cNvSpPr/>
          <p:nvPr/>
        </p:nvSpPr>
        <p:spPr>
          <a:xfrm>
            <a:off x="777240" y="3044952"/>
            <a:ext cx="7589520" cy="22860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ADB5BD"/>
              </a:buClr>
              <a:buSzPts val="1000"/>
              <a:buFont typeface="Calibri"/>
              <a:buNone/>
            </a:pPr>
            <a:r>
              <a:rPr b="0" i="0" lang="en-US" sz="1000" u="none" cap="none" strike="noStrike">
                <a:solidFill>
                  <a:srgbClr val="ADB5BD"/>
                </a:solidFill>
                <a:latin typeface="Calibri"/>
                <a:ea typeface="Calibri"/>
                <a:cs typeface="Calibri"/>
                <a:sym typeface="Calibri"/>
              </a:rPr>
              <a:t>Diff review, testing strategies, quality gates</a:t>
            </a:r>
            <a:endParaRPr b="0" i="0" sz="1000" u="none" cap="none" strike="noStrike">
              <a:solidFill>
                <a:schemeClr val="dk1"/>
              </a:solidFill>
              <a:latin typeface="Calibri"/>
              <a:ea typeface="Calibri"/>
              <a:cs typeface="Calibri"/>
              <a:sym typeface="Calibri"/>
            </a:endParaRPr>
          </a:p>
        </p:txBody>
      </p:sp>
      <p:sp>
        <p:nvSpPr>
          <p:cNvPr id="299" name="Google Shape;299;p10"/>
          <p:cNvSpPr/>
          <p:nvPr/>
        </p:nvSpPr>
        <p:spPr>
          <a:xfrm>
            <a:off x="548640" y="3429000"/>
            <a:ext cx="8046720" cy="502920"/>
          </a:xfrm>
          <a:prstGeom prst="rect">
            <a:avLst/>
          </a:prstGeom>
          <a:solidFill>
            <a:srgbClr val="1E1E1E"/>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00" name="Google Shape;300;p10"/>
          <p:cNvSpPr/>
          <p:nvPr/>
        </p:nvSpPr>
        <p:spPr>
          <a:xfrm>
            <a:off x="548640" y="3429000"/>
            <a:ext cx="45720" cy="502920"/>
          </a:xfrm>
          <a:prstGeom prst="rect">
            <a:avLst/>
          </a:prstGeom>
          <a:solidFill>
            <a:srgbClr val="B7986A"/>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01" name="Google Shape;301;p10"/>
          <p:cNvSpPr/>
          <p:nvPr/>
        </p:nvSpPr>
        <p:spPr>
          <a:xfrm>
            <a:off x="777240" y="3474720"/>
            <a:ext cx="2560320" cy="22860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FFFFFF"/>
              </a:buClr>
              <a:buSzPts val="1200"/>
              <a:buFont typeface="Trebuchet MS"/>
              <a:buNone/>
            </a:pPr>
            <a:r>
              <a:rPr b="1" i="0" lang="en-US" sz="1200" u="none" cap="none" strike="noStrike">
                <a:solidFill>
                  <a:srgbClr val="FFFFFF"/>
                </a:solidFill>
                <a:latin typeface="Trebuchet MS"/>
                <a:ea typeface="Trebuchet MS"/>
                <a:cs typeface="Trebuchet MS"/>
                <a:sym typeface="Trebuchet MS"/>
              </a:rPr>
              <a:t>MCPs &amp; Integrations</a:t>
            </a:r>
            <a:endParaRPr b="0" i="0" sz="1200" u="none" cap="none" strike="noStrike">
              <a:solidFill>
                <a:schemeClr val="dk1"/>
              </a:solidFill>
              <a:latin typeface="Calibri"/>
              <a:ea typeface="Calibri"/>
              <a:cs typeface="Calibri"/>
              <a:sym typeface="Calibri"/>
            </a:endParaRPr>
          </a:p>
        </p:txBody>
      </p:sp>
      <p:sp>
        <p:nvSpPr>
          <p:cNvPr id="302" name="Google Shape;302;p10"/>
          <p:cNvSpPr/>
          <p:nvPr/>
        </p:nvSpPr>
        <p:spPr>
          <a:xfrm>
            <a:off x="777240" y="3685032"/>
            <a:ext cx="7589520" cy="22860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ADB5BD"/>
              </a:buClr>
              <a:buSzPts val="1000"/>
              <a:buFont typeface="Calibri"/>
              <a:buNone/>
            </a:pPr>
            <a:r>
              <a:rPr b="0" i="0" lang="en-US" sz="1000" u="none" cap="none" strike="noStrike">
                <a:solidFill>
                  <a:srgbClr val="ADB5BD"/>
                </a:solidFill>
                <a:latin typeface="Calibri"/>
                <a:ea typeface="Calibri"/>
                <a:cs typeface="Calibri"/>
                <a:sym typeface="Calibri"/>
              </a:rPr>
              <a:t>Connecting Claude to Figma, Jira, databases, your stack</a:t>
            </a:r>
            <a:endParaRPr b="0" i="0" sz="1000" u="none" cap="none" strike="noStrike">
              <a:solidFill>
                <a:schemeClr val="dk1"/>
              </a:solidFill>
              <a:latin typeface="Calibri"/>
              <a:ea typeface="Calibri"/>
              <a:cs typeface="Calibri"/>
              <a:sym typeface="Calibri"/>
            </a:endParaRPr>
          </a:p>
        </p:txBody>
      </p:sp>
      <p:sp>
        <p:nvSpPr>
          <p:cNvPr id="303" name="Google Shape;303;p10"/>
          <p:cNvSpPr/>
          <p:nvPr/>
        </p:nvSpPr>
        <p:spPr>
          <a:xfrm>
            <a:off x="548640" y="4069080"/>
            <a:ext cx="8046720" cy="502920"/>
          </a:xfrm>
          <a:prstGeom prst="rect">
            <a:avLst/>
          </a:prstGeom>
          <a:solidFill>
            <a:srgbClr val="1E1E1E"/>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04" name="Google Shape;304;p10"/>
          <p:cNvSpPr/>
          <p:nvPr/>
        </p:nvSpPr>
        <p:spPr>
          <a:xfrm>
            <a:off x="548640" y="4069080"/>
            <a:ext cx="45720" cy="502920"/>
          </a:xfrm>
          <a:prstGeom prst="rect">
            <a:avLst/>
          </a:prstGeom>
          <a:solidFill>
            <a:srgbClr val="B7986A"/>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05" name="Google Shape;305;p10"/>
          <p:cNvSpPr/>
          <p:nvPr/>
        </p:nvSpPr>
        <p:spPr>
          <a:xfrm>
            <a:off x="777240" y="4114800"/>
            <a:ext cx="2560320" cy="22860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FFFFFF"/>
              </a:buClr>
              <a:buSzPts val="1200"/>
              <a:buFont typeface="Trebuchet MS"/>
              <a:buNone/>
            </a:pPr>
            <a:r>
              <a:rPr b="1" i="0" lang="en-US" sz="1200" u="none" cap="none" strike="noStrike">
                <a:solidFill>
                  <a:srgbClr val="FFFFFF"/>
                </a:solidFill>
                <a:latin typeface="Trebuchet MS"/>
                <a:ea typeface="Trebuchet MS"/>
                <a:cs typeface="Trebuchet MS"/>
                <a:sym typeface="Trebuchet MS"/>
              </a:rPr>
              <a:t>Live Sessions</a:t>
            </a:r>
            <a:endParaRPr b="0" i="0" sz="1200" u="none" cap="none" strike="noStrike">
              <a:solidFill>
                <a:schemeClr val="dk1"/>
              </a:solidFill>
              <a:latin typeface="Calibri"/>
              <a:ea typeface="Calibri"/>
              <a:cs typeface="Calibri"/>
              <a:sym typeface="Calibri"/>
            </a:endParaRPr>
          </a:p>
        </p:txBody>
      </p:sp>
      <p:sp>
        <p:nvSpPr>
          <p:cNvPr id="306" name="Google Shape;306;p10"/>
          <p:cNvSpPr/>
          <p:nvPr/>
        </p:nvSpPr>
        <p:spPr>
          <a:xfrm>
            <a:off x="777240" y="4325112"/>
            <a:ext cx="7589520" cy="22860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ADB5BD"/>
              </a:buClr>
              <a:buSzPts val="1000"/>
              <a:buFont typeface="Calibri"/>
              <a:buNone/>
            </a:pPr>
            <a:r>
              <a:rPr b="0" i="0" lang="en-US" sz="1000" u="none" cap="none" strike="noStrike">
                <a:solidFill>
                  <a:srgbClr val="ADB5BD"/>
                </a:solidFill>
                <a:latin typeface="Calibri"/>
                <a:ea typeface="Calibri"/>
                <a:cs typeface="Calibri"/>
                <a:sym typeface="Calibri"/>
              </a:rPr>
              <a:t>As tools evolve, we</a:t>
            </a:r>
            <a:r>
              <a:rPr lang="en-US" sz="1000">
                <a:solidFill>
                  <a:srgbClr val="ADB5BD"/>
                </a:solidFill>
                <a:latin typeface="Calibri"/>
                <a:ea typeface="Calibri"/>
                <a:cs typeface="Calibri"/>
                <a:sym typeface="Calibri"/>
              </a:rPr>
              <a:t>’ll</a:t>
            </a:r>
            <a:r>
              <a:rPr b="0" i="0" lang="en-US" sz="1000" u="none" cap="none" strike="noStrike">
                <a:solidFill>
                  <a:srgbClr val="ADB5BD"/>
                </a:solidFill>
                <a:latin typeface="Calibri"/>
                <a:ea typeface="Calibri"/>
                <a:cs typeface="Calibri"/>
                <a:sym typeface="Calibri"/>
              </a:rPr>
              <a:t> cover changes in real-time</a:t>
            </a:r>
            <a:endParaRPr b="0" i="0" sz="1000" u="none" cap="none" strike="noStrike">
              <a:solidFill>
                <a:schemeClr val="dk1"/>
              </a:solidFill>
              <a:latin typeface="Calibri"/>
              <a:ea typeface="Calibri"/>
              <a:cs typeface="Calibri"/>
              <a:sym typeface="Calibri"/>
            </a:endParaRPr>
          </a:p>
        </p:txBody>
      </p:sp>
      <p:sp>
        <p:nvSpPr>
          <p:cNvPr id="307" name="Google Shape;307;p10"/>
          <p:cNvSpPr/>
          <p:nvPr/>
        </p:nvSpPr>
        <p:spPr>
          <a:xfrm>
            <a:off x="548640" y="4617720"/>
            <a:ext cx="7315200" cy="27432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E8E8E8"/>
              </a:buClr>
              <a:buSzPts val="1300"/>
              <a:buFont typeface="Calibri"/>
              <a:buNone/>
            </a:pPr>
            <a:r>
              <a:rPr b="0" i="1" lang="en-US" sz="1300" u="none" cap="none" strike="noStrike">
                <a:solidFill>
                  <a:srgbClr val="E8E8E8"/>
                </a:solidFill>
                <a:latin typeface="Calibri"/>
                <a:ea typeface="Calibri"/>
                <a:cs typeface="Calibri"/>
                <a:sym typeface="Calibri"/>
              </a:rPr>
              <a:t>Cutting edge + timeless software practices — applied to AI.</a:t>
            </a:r>
            <a:endParaRPr b="0" i="0" sz="1300" u="none" cap="none" strike="noStrike">
              <a:solidFill>
                <a:schemeClr val="dk1"/>
              </a:solidFill>
              <a:latin typeface="Calibri"/>
              <a:ea typeface="Calibri"/>
              <a:cs typeface="Calibri"/>
              <a:sym typeface="Calibri"/>
            </a:endParaRPr>
          </a:p>
        </p:txBody>
      </p:sp>
    </p:spTree>
  </p:cSld>
  <p:clrMapOvr>
    <a:masterClrMapping/>
  </p:clrMapOvr>
</p:sld>
</file>

<file path=ppt/theme/theme1.xml><?xml version="1.0" encoding="utf-8"?>
<a:theme xmlns:a="http://schemas.openxmlformats.org/drawingml/2006/main" xmlns:r="http://schemas.openxmlformats.org/officeDocument/2006/relationships" name="Office Theme">
  <a:themeElements>
    <a:clrScheme name="Office">
      <a:dk1>
        <a:srgbClr val="000000"/>
      </a:dk1>
      <a:lt1>
        <a:srgbClr val="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ppt/theme/theme2.xml><?xml version="1.0" encoding="utf-8"?>
<a:theme xmlns:a="http://schemas.openxmlformats.org/drawingml/2006/main" xmlns:r="http://schemas.openxmlformats.org/officeDocument/2006/relationships" name="Office Theme">
  <a:themeElements>
    <a:clrScheme name="Office">
      <a:dk1>
        <a:srgbClr val="000000"/>
      </a:dk1>
      <a:lt1>
        <a:srgbClr val="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erms:created xsi:type="dcterms:W3CDTF">2026-02-05T18:36:10Z</dcterms:created>
  <dc:creator>Ravn</dc:creator>
</cp:coreProperties>
</file>