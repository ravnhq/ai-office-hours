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5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523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192" y="6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861185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[~30s] "Today we're talking about something that affects every role in this room — not just engineering."
Don't linger. Move to slide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[~1 min] "What do we mean by AI fluency? It's not about being technical — it's about judgment."
Read the quote. Point at each pillar. "These four words are the compass."
→ TRANSITION: "So let's get the mental model right first."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[~1.5 min] "Before we dive in, let's get the mental model right."
Point at left: "It's a thinking partner." Point at right: "It is NOT a database. If you treat it like one, you'll be disappointed."
ANALOGY: "A brilliant colleague who read everything but experienced nothing."
→ TRANSITION: "There are actually three ways to work with it..."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[~1.5 min] "There's a spectrum." Point left to right.
Automation = "do this for me." Augmentation = "think with me." Agency = "handle this on my own behalf."
"Most of you will start with automation. The sweet spot is augmentation."
→ TRANSITION: "Now let me give you a vocabulary for doing this well."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[~1 min] "Four skills. Not steps — they overlap."
Point at each card briefly. Don't explain them yet — just name them. "We'll go through each one."
→ TRANSITION: "Let's start with the most strategic one — Delegation."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[~1.5 min] "What should you hand off vs. keep?"
Green side: "Anything that's a first draft, repetitive, or research-heavy." Gold side: "Anything that's a final call, relationship-sensitive, or confidential."
ACTIVATION: "Think about your last week. What 3 tasks could AI have done the first pass on?"
→ TRANSITION: "Once you've decided to use AI, you need to communicate clearly..."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[~1 min] "Prompting is just clear communication."
Don't read all 4 — skim them. "These are the core techniques. Let me show you two of them in action."
→ TRANSITION: Move to the Give Context example.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[~1.5 min] Walk left → right slowly.
"Vague gets you a generic email nobody would send. Specific gets you something okay. Most specific gets you something you'd actually paste into Gmail."
Pause on the green card. "Audience, tone, cause, length, structure — each detail saves you an editing pass."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[~1.5 min] Same pattern — left to right.
"When you say 'you are a senior engineer,' it changes everything. It starts thinking about performance, platform quirks, accessibility."
→ TRANSITION: "Now — how do you actually work with AI? It's a loop."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[~1 min] "This is the core workflow. Describe → Generate → Discern → Refine → Repeat."
"The first result is never the final result. That's not a bug — it's the process. Each loop makes your next first prompt better."
→ TRANSITION: "But how good are you at step 3 — discerning? Let me test you."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[~2 min] THE FUN PART.
1. Read the question aloud. Slowly.
2. "Anyone know the answer?" Let them squirm.
3. "You don't? Good — it's complete nonsense. It means nothing."
4. BEAT. "But ChatGPT does."
5. Show the link/screenshot.
6. LAND IT: "This is why Discernment matters. AI doesn't say 'I don't understand.' It answers confidently whether it's right or making things up."
Energy: playful → surprised → serious.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[~15s] Let the laugh happen. Don't explain the joke.
Then click forward into Discernment — the mood shift from funny to serious is the whole 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[~1 min] "Four questions to gut-check any AI output."
Don't read all 4 aloud — pick "Is it accurate?" and "Is it original enough?" as the two to emphasize. The audience can read the rest.
→ TRANSITION: "Let me break this into two types of discernment."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[~1.5 min] "Your domain expertise is the first quality gate."
HAMMER THIS: "Treat every AI output like a first draft from a smart new hire. Probably decent. Definitely needs your eyes."
Left side = how. Right side = when it really matters.
→ TRANSITION: "You can also automate some of this..."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[~1 min] Skim these quickly — don't read every description.
Highlight #1 (AI as Reviewer): "Literally open a second chat and ask it to critique the first output. Cheapest QA you'll ever do."
→ TRANSITION: "Last D — and this one's about us, not the AI."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[~1 min] Go fast here — these are principles, not rules.
"Transparency builds trust. Review before it goes to clients. Be careful with data. Know the boundaries."
Don't belabor it. The audience gets it.
→ TRANSITION: "Enough theory. Let me give you something you can use today."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[~2 min] THIS IS THE ENERGY PEAK. Slow down. Read the prompts.
PM "interview me" prompt gets the biggest reaction — it flips AI from writing FOR you to thinking WITH you.
If doing a LIVE DEMO, pick one and show it now. 60 seconds is enough.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[~2 min] The "Anyone" card at the bottom is the most universal.
"I'm stuck on [problem]. Act as a thought partner." — everyone gets stuck. This normalizes AI as a collaborator.
→ TRANSITION: "So here's what I want you to take away."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[~1 min] "Fluency is built through practice, not perfection."
"Pick ONE thing from today. Try it this week. That's it."
End with energy, not information. Don't recap — land the feeling.
[~2 min Q&amp;A buffer]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7986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91440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9202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B79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Fluency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&amp; Foundations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3840480" y="3429000"/>
            <a:ext cx="1463040" cy="36576"/>
          </a:xfrm>
          <a:prstGeom prst="rect">
            <a:avLst/>
          </a:prstGeom>
          <a:solidFill>
            <a:srgbClr val="B7986A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Ravn —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AI Fluency?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1280160" cy="36576"/>
          </a:xfrm>
          <a:prstGeom prst="rect">
            <a:avLst/>
          </a:prstGeom>
          <a:solidFill>
            <a:srgbClr val="B7986A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8046720" cy="1097280"/>
          </a:xfrm>
          <a:prstGeom prst="rect">
            <a:avLst/>
          </a:prstGeom>
          <a:solidFill>
            <a:srgbClr val="1E1E1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371600"/>
            <a:ext cx="73152" cy="1097280"/>
          </a:xfrm>
          <a:prstGeom prst="rect">
            <a:avLst/>
          </a:prstGeom>
          <a:solidFill>
            <a:srgbClr val="B7986A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417320"/>
            <a:ext cx="7406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Engaging with AI in ways that are effective, efficient, ethical, and safe.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2834640"/>
            <a:ext cx="1828800" cy="822960"/>
          </a:xfrm>
          <a:prstGeom prst="rect">
            <a:avLst/>
          </a:prstGeom>
          <a:solidFill>
            <a:srgbClr val="1E1E1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283464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606040" y="2834640"/>
            <a:ext cx="1828800" cy="822960"/>
          </a:xfrm>
          <a:prstGeom prst="rect">
            <a:avLst/>
          </a:prstGeom>
          <a:solidFill>
            <a:srgbClr val="1E1E1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606040" y="283464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B79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663440" y="2834640"/>
            <a:ext cx="1828800" cy="822960"/>
          </a:xfrm>
          <a:prstGeom prst="rect">
            <a:avLst/>
          </a:prstGeom>
          <a:solidFill>
            <a:srgbClr val="1E1E1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63440" y="283464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720840" y="2834640"/>
            <a:ext cx="1828800" cy="822960"/>
          </a:xfrm>
          <a:prstGeom prst="rect">
            <a:avLst/>
          </a:prstGeom>
          <a:solidFill>
            <a:srgbClr val="1E1E1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720840" y="283464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ADB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AI Actually Works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280160" cy="36576"/>
          </a:xfrm>
          <a:prstGeom prst="rect">
            <a:avLst/>
          </a:prstGeom>
          <a:solidFill>
            <a:srgbClr val="B7986A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737360"/>
            <a:ext cx="3840480" cy="2834640"/>
          </a:xfrm>
          <a:prstGeom prst="rect">
            <a:avLst/>
          </a:prstGeom>
          <a:solidFill>
            <a:srgbClr val="1E1E1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737360"/>
            <a:ext cx="73152" cy="283464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288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286000"/>
            <a:ext cx="3383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ADB5B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pattern-recognition engine trained on vast text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ADB5B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creative collaborator that generates new ideas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ADB5B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thinking partner — works best with clear direction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754880" y="1737360"/>
            <a:ext cx="3840480" cy="2834640"/>
          </a:xfrm>
          <a:prstGeom prst="rect">
            <a:avLst/>
          </a:prstGeom>
          <a:solidFill>
            <a:srgbClr val="1E1E1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737360"/>
            <a:ext cx="73152" cy="2834640"/>
          </a:xfrm>
          <a:prstGeom prst="rect">
            <a:avLst/>
          </a:prstGeom>
          <a:solidFill>
            <a:srgbClr val="EF5350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18288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it's NOT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029200" y="2286000"/>
            <a:ext cx="3383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ADB5B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database — it can be confidently wrong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ADB5B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search engine — it generates, not retrieves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ADB5B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replacement for human judgment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Modes of Working with AI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1280160" cy="36576"/>
          </a:xfrm>
          <a:prstGeom prst="rect">
            <a:avLst/>
          </a:prstGeom>
          <a:solidFill>
            <a:srgbClr val="B7986A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2560320" cy="3291840"/>
          </a:xfrm>
          <a:prstGeom prst="rect">
            <a:avLst/>
          </a:prstGeom>
          <a:solidFill>
            <a:srgbClr val="1E1E1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371600"/>
            <a:ext cx="2560320" cy="54864"/>
          </a:xfrm>
          <a:prstGeom prst="rect">
            <a:avLst/>
          </a:prstGeom>
          <a:solidFill>
            <a:srgbClr val="B7986A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8760" y="164592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3774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731520" y="28346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ADB5B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completes specific tasks</a:t>
            </a:r>
            <a:endParaRPr lang="en-US" sz="12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ADB5B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based on your instructions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31520" y="35661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"Reformat this data into a table"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383280" y="1371600"/>
            <a:ext cx="2560320" cy="3291840"/>
          </a:xfrm>
          <a:prstGeom prst="rect">
            <a:avLst/>
          </a:prstGeom>
          <a:solidFill>
            <a:srgbClr val="1E1E1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383280" y="1371600"/>
            <a:ext cx="2560320" cy="54864"/>
          </a:xfrm>
          <a:prstGeom prst="rect">
            <a:avLst/>
          </a:prstGeom>
          <a:solidFill>
            <a:srgbClr val="B7986A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400" y="1645920"/>
            <a:ext cx="640080" cy="6400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383280" y="23774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Augmentation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3566160" y="28346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ADB5B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and AI collaborate as</a:t>
            </a:r>
            <a:endParaRPr lang="en-US" sz="12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ADB5B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creative thinking partners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3566160" y="35661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"Help me brainstorm approaches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this problem"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371600"/>
            <a:ext cx="2560320" cy="3291840"/>
          </a:xfrm>
          <a:prstGeom prst="rect">
            <a:avLst/>
          </a:prstGeom>
          <a:solidFill>
            <a:srgbClr val="1E1E1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217920" y="1371600"/>
            <a:ext cx="2560320" cy="54864"/>
          </a:xfrm>
          <a:prstGeom prst="rect">
            <a:avLst/>
          </a:prstGeom>
          <a:solidFill>
            <a:srgbClr val="B7986A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8040" y="1645920"/>
            <a:ext cx="640080" cy="6400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217920" y="23774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Agency</a:t>
            </a:r>
            <a:endParaRPr lang="en-US" sz="2000" dirty="0"/>
          </a:p>
        </p:txBody>
      </p:sp>
      <p:sp>
        <p:nvSpPr>
          <p:cNvPr id="20" name="Text 15"/>
          <p:cNvSpPr/>
          <p:nvPr/>
        </p:nvSpPr>
        <p:spPr>
          <a:xfrm>
            <a:off x="6400800" y="28346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ADB5B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configure AI to work</a:t>
            </a:r>
            <a:endParaRPr lang="en-US" sz="12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ADB5B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independently on your behalf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6400800" y="35661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"Monitor these metrics and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alert me to anomalies"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4D Framework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280160" cy="36576"/>
          </a:xfrm>
          <a:prstGeom prst="rect">
            <a:avLst/>
          </a:prstGeom>
          <a:solidFill>
            <a:srgbClr val="B7986A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737360"/>
            <a:ext cx="1920240" cy="2743200"/>
          </a:xfrm>
          <a:prstGeom prst="rect">
            <a:avLst/>
          </a:prstGeom>
          <a:solidFill>
            <a:srgbClr val="1E1E1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737360"/>
            <a:ext cx="1920240" cy="54864"/>
          </a:xfrm>
          <a:prstGeom prst="rect">
            <a:avLst/>
          </a:prstGeom>
          <a:solidFill>
            <a:srgbClr val="B7986A"/>
          </a:solidFill>
          <a:ln/>
        </p:spPr>
      </p:sp>
      <p:sp>
        <p:nvSpPr>
          <p:cNvPr id="6" name="Shape 4"/>
          <p:cNvSpPr/>
          <p:nvPr/>
        </p:nvSpPr>
        <p:spPr>
          <a:xfrm>
            <a:off x="1188720" y="2011680"/>
            <a:ext cx="640080" cy="640080"/>
          </a:xfrm>
          <a:prstGeom prst="ellipse">
            <a:avLst/>
          </a:prstGeom>
          <a:solidFill>
            <a:srgbClr val="161616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8448" y="2121408"/>
            <a:ext cx="420624" cy="42062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27889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B79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Delegation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85800" y="32004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ADB5B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Deciding what to hand off to AI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697480" y="1737360"/>
            <a:ext cx="1920240" cy="2743200"/>
          </a:xfrm>
          <a:prstGeom prst="rect">
            <a:avLst/>
          </a:prstGeom>
          <a:solidFill>
            <a:srgbClr val="1E1E1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697480" y="1737360"/>
            <a:ext cx="1920240" cy="54864"/>
          </a:xfrm>
          <a:prstGeom prst="rect">
            <a:avLst/>
          </a:prstGeom>
          <a:solidFill>
            <a:srgbClr val="B7986A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2011680"/>
            <a:ext cx="640080" cy="640080"/>
          </a:xfrm>
          <a:prstGeom prst="ellipse">
            <a:avLst/>
          </a:prstGeom>
          <a:solidFill>
            <a:srgbClr val="161616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7288" y="2121408"/>
            <a:ext cx="420624" cy="42062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697480" y="27889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B79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2834640" y="32004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ADB5B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Communicating clearly with AI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4846320" y="1737360"/>
            <a:ext cx="1920240" cy="2743200"/>
          </a:xfrm>
          <a:prstGeom prst="rect">
            <a:avLst/>
          </a:prstGeom>
          <a:solidFill>
            <a:srgbClr val="1E1E1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846320" y="1737360"/>
            <a:ext cx="1920240" cy="54864"/>
          </a:xfrm>
          <a:prstGeom prst="rect">
            <a:avLst/>
          </a:prstGeom>
          <a:solidFill>
            <a:srgbClr val="B7986A"/>
          </a:solidFill>
          <a:ln/>
        </p:spPr>
      </p:sp>
      <p:sp>
        <p:nvSpPr>
          <p:cNvPr id="18" name="Shape 14"/>
          <p:cNvSpPr/>
          <p:nvPr/>
        </p:nvSpPr>
        <p:spPr>
          <a:xfrm>
            <a:off x="5486400" y="2011680"/>
            <a:ext cx="640080" cy="640080"/>
          </a:xfrm>
          <a:prstGeom prst="ellipse">
            <a:avLst/>
          </a:prstGeom>
          <a:solidFill>
            <a:srgbClr val="161616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96128" y="2121408"/>
            <a:ext cx="420624" cy="42062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846320" y="27889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B79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Discernment</a:t>
            </a:r>
            <a:endParaRPr lang="en-US" sz="1800" dirty="0"/>
          </a:p>
        </p:txBody>
      </p:sp>
      <p:sp>
        <p:nvSpPr>
          <p:cNvPr id="21" name="Text 16"/>
          <p:cNvSpPr/>
          <p:nvPr/>
        </p:nvSpPr>
        <p:spPr>
          <a:xfrm>
            <a:off x="4983480" y="32004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ADB5B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Evaluating AI output critically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6995160" y="1737360"/>
            <a:ext cx="1920240" cy="2743200"/>
          </a:xfrm>
          <a:prstGeom prst="rect">
            <a:avLst/>
          </a:prstGeom>
          <a:solidFill>
            <a:srgbClr val="1E1E1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995160" y="1737360"/>
            <a:ext cx="1920240" cy="54864"/>
          </a:xfrm>
          <a:prstGeom prst="rect">
            <a:avLst/>
          </a:prstGeom>
          <a:solidFill>
            <a:srgbClr val="B7986A"/>
          </a:solidFill>
          <a:ln/>
        </p:spPr>
      </p:sp>
      <p:sp>
        <p:nvSpPr>
          <p:cNvPr id="24" name="Shape 19"/>
          <p:cNvSpPr/>
          <p:nvPr/>
        </p:nvSpPr>
        <p:spPr>
          <a:xfrm>
            <a:off x="7635240" y="2011680"/>
            <a:ext cx="640080" cy="640080"/>
          </a:xfrm>
          <a:prstGeom prst="ellipse">
            <a:avLst/>
          </a:prstGeom>
          <a:solidFill>
            <a:srgbClr val="161616"/>
          </a:solidFill>
          <a:ln/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44968" y="2121408"/>
            <a:ext cx="420624" cy="42062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995160" y="27889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B79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Diligence</a:t>
            </a:r>
            <a:endParaRPr lang="en-US" sz="1800" dirty="0"/>
          </a:p>
        </p:txBody>
      </p:sp>
      <p:sp>
        <p:nvSpPr>
          <p:cNvPr id="27" name="Text 21"/>
          <p:cNvSpPr/>
          <p:nvPr/>
        </p:nvSpPr>
        <p:spPr>
          <a:xfrm>
            <a:off x="7132320" y="32004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ADB5B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Using AI responsibly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2004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4300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Delegation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3840480" cy="3017520"/>
          </a:xfrm>
          <a:prstGeom prst="rect">
            <a:avLst/>
          </a:prstGeom>
          <a:solidFill>
            <a:srgbClr val="1E1E1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548640" y="1463040"/>
            <a:ext cx="73152" cy="301752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6" name="Text 3"/>
          <p:cNvSpPr/>
          <p:nvPr/>
        </p:nvSpPr>
        <p:spPr>
          <a:xfrm>
            <a:off x="822960" y="15544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for AI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22960" y="2103120"/>
            <a:ext cx="3383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ADB5B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First drafts &amp; brainstorming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ADB5B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 &amp; summarization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ADB5B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Repetitive formatting tasks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ADB5B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Code scaffolding &amp; boilerplate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754880" y="1463040"/>
            <a:ext cx="3840480" cy="3017520"/>
          </a:xfrm>
          <a:prstGeom prst="rect">
            <a:avLst/>
          </a:prstGeom>
          <a:solidFill>
            <a:srgbClr val="1E1E1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754880" y="1463040"/>
            <a:ext cx="73152" cy="3017520"/>
          </a:xfrm>
          <a:prstGeom prst="rect">
            <a:avLst/>
          </a:prstGeom>
          <a:solidFill>
            <a:srgbClr val="B7986A"/>
          </a:solidFill>
          <a:ln/>
        </p:spPr>
      </p:sp>
      <p:sp>
        <p:nvSpPr>
          <p:cNvPr id="10" name="Text 7"/>
          <p:cNvSpPr/>
          <p:nvPr/>
        </p:nvSpPr>
        <p:spPr>
          <a:xfrm>
            <a:off x="5029200" y="15544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79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Human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5029200" y="2103120"/>
            <a:ext cx="3383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ADB5B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Final decisions &amp; sign-offs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ADB5B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Relationship-sensitive communication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ADB5B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Novel creative vision &amp; strategy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ADB5B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Anything involving confidential data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2004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4300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548640" y="1280160"/>
            <a:ext cx="4023360" cy="1188720"/>
          </a:xfrm>
          <a:prstGeom prst="rect">
            <a:avLst/>
          </a:prstGeom>
          <a:solidFill>
            <a:srgbClr val="1E1E1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777240" y="1600200"/>
            <a:ext cx="548640" cy="548640"/>
          </a:xfrm>
          <a:prstGeom prst="ellipse">
            <a:avLst/>
          </a:prstGeom>
          <a:solidFill>
            <a:srgbClr val="B7986A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554480" y="14630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Context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554480" y="1874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DB5B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Background, role, goals, constraints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2834640"/>
            <a:ext cx="4023360" cy="1188720"/>
          </a:xfrm>
          <a:prstGeom prst="rect">
            <a:avLst/>
          </a:prstGeom>
          <a:solidFill>
            <a:srgbClr val="1E1E1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77240" y="3154680"/>
            <a:ext cx="548640" cy="548640"/>
          </a:xfrm>
          <a:prstGeom prst="ellipse">
            <a:avLst/>
          </a:prstGeom>
          <a:solidFill>
            <a:srgbClr val="B7986A"/>
          </a:solidFill>
          <a:ln/>
        </p:spPr>
      </p:sp>
      <p:sp>
        <p:nvSpPr>
          <p:cNvPr id="11" name="Text 8"/>
          <p:cNvSpPr/>
          <p:nvPr/>
        </p:nvSpPr>
        <p:spPr>
          <a:xfrm>
            <a:off x="777240" y="3154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1554480" y="30175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Examples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554480" y="34290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DB5B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Demonstrate the format you want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4846320" y="1280160"/>
            <a:ext cx="4023360" cy="1188720"/>
          </a:xfrm>
          <a:prstGeom prst="rect">
            <a:avLst/>
          </a:prstGeom>
          <a:solidFill>
            <a:srgbClr val="1E1E1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074920" y="1600200"/>
            <a:ext cx="548640" cy="548640"/>
          </a:xfrm>
          <a:prstGeom prst="ellipse">
            <a:avLst/>
          </a:prstGeom>
          <a:solidFill>
            <a:srgbClr val="B7986A"/>
          </a:solidFill>
          <a:ln/>
        </p:spPr>
      </p:sp>
      <p:sp>
        <p:nvSpPr>
          <p:cNvPr id="16" name="Text 13"/>
          <p:cNvSpPr/>
          <p:nvPr/>
        </p:nvSpPr>
        <p:spPr>
          <a:xfrm>
            <a:off x="507492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5852160" y="14630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Constraints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5852160" y="1874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DB5B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Length, structure, tone, audience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4846320" y="2834640"/>
            <a:ext cx="4023360" cy="1188720"/>
          </a:xfrm>
          <a:prstGeom prst="rect">
            <a:avLst/>
          </a:prstGeom>
          <a:solidFill>
            <a:srgbClr val="1E1E1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074920" y="3154680"/>
            <a:ext cx="548640" cy="548640"/>
          </a:xfrm>
          <a:prstGeom prst="ellipse">
            <a:avLst/>
          </a:prstGeom>
          <a:solidFill>
            <a:srgbClr val="B7986A"/>
          </a:solidFill>
          <a:ln/>
        </p:spPr>
      </p:sp>
      <p:sp>
        <p:nvSpPr>
          <p:cNvPr id="21" name="Text 18"/>
          <p:cNvSpPr/>
          <p:nvPr/>
        </p:nvSpPr>
        <p:spPr>
          <a:xfrm>
            <a:off x="5074920" y="3154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5852160" y="30175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a Role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5852160" y="34290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DB5B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"You are a senior PM reviewing..."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Context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B798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Share background, role, and goals so AI understands your situation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606040" cy="3520440"/>
          </a:xfrm>
          <a:prstGeom prst="rect">
            <a:avLst/>
          </a:prstGeom>
          <a:solidFill>
            <a:srgbClr val="1E1E1E"/>
          </a:solidFill>
          <a:ln w="19050">
            <a:solidFill>
              <a:srgbClr val="25252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46304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VAGUE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224028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Write an email to the client.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83280" y="1371600"/>
            <a:ext cx="2606040" cy="3520440"/>
          </a:xfrm>
          <a:prstGeom prst="rect">
            <a:avLst/>
          </a:prstGeom>
          <a:solidFill>
            <a:srgbClr val="2A2212"/>
          </a:solidFill>
          <a:ln w="19050">
            <a:solidFill>
              <a:srgbClr val="B7986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66160" y="146304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B79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566160" y="1828800"/>
            <a:ext cx="224028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ADB5B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Write a professional email to the client explaining that the project deadline will be delayed by two weeks.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1371600"/>
            <a:ext cx="2606040" cy="3520440"/>
          </a:xfrm>
          <a:prstGeom prst="rect">
            <a:avLst/>
          </a:prstGeom>
          <a:solidFill>
            <a:srgbClr val="1A2418"/>
          </a:solidFill>
          <a:ln w="19050">
            <a:solidFill>
              <a:srgbClr val="4CAF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146304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SPECIFIC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0" y="1828800"/>
            <a:ext cx="224028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Write an email to our client (VP of Product at a fintech startup) explaining a 2-week delay on the mobile app launch. The cause is a third-party API change, not our fault. Tone: confident and reassuring. Include a revised timeline and what we're doing to mitigate. Keep it under 200 words.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a Role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B798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Give AI a persona so it calibrates expertise, tone, and depth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606040" cy="3520440"/>
          </a:xfrm>
          <a:prstGeom prst="rect">
            <a:avLst/>
          </a:prstGeom>
          <a:solidFill>
            <a:srgbClr val="1E1E1E"/>
          </a:solidFill>
          <a:ln w="19050">
            <a:solidFill>
              <a:srgbClr val="25252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46304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VAGUE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224028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Review this pull request.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83280" y="1371600"/>
            <a:ext cx="2606040" cy="3520440"/>
          </a:xfrm>
          <a:prstGeom prst="rect">
            <a:avLst/>
          </a:prstGeom>
          <a:solidFill>
            <a:srgbClr val="2A2212"/>
          </a:solidFill>
          <a:ln w="19050">
            <a:solidFill>
              <a:srgbClr val="B7986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66160" y="146304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B79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566160" y="1828800"/>
            <a:ext cx="224028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ADB5B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Review this pull request and suggest improvements to code quality and readability.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1371600"/>
            <a:ext cx="2606040" cy="3520440"/>
          </a:xfrm>
          <a:prstGeom prst="rect">
            <a:avLst/>
          </a:prstGeom>
          <a:solidFill>
            <a:srgbClr val="1A2418"/>
          </a:solidFill>
          <a:ln w="19050">
            <a:solidFill>
              <a:srgbClr val="4CAF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146304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SPECIFIC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0" y="1828800"/>
            <a:ext cx="224028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are a senior React Native engineer doing a code review. Focus on: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 Performance implications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 Accessibility compliance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 Component library consistency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 direct but constructive.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2004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43000" y="3657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Description–Discernment Loop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554480"/>
            <a:ext cx="1920240" cy="2377440"/>
          </a:xfrm>
          <a:prstGeom prst="rect">
            <a:avLst/>
          </a:prstGeom>
          <a:solidFill>
            <a:srgbClr val="1E1E1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1234440" y="1737360"/>
            <a:ext cx="548640" cy="548640"/>
          </a:xfrm>
          <a:prstGeom prst="ellipse">
            <a:avLst/>
          </a:prstGeom>
          <a:solidFill>
            <a:srgbClr val="B7986A"/>
          </a:solidFill>
          <a:ln/>
        </p:spPr>
      </p:sp>
      <p:sp>
        <p:nvSpPr>
          <p:cNvPr id="6" name="Text 3"/>
          <p:cNvSpPr/>
          <p:nvPr/>
        </p:nvSpPr>
        <p:spPr>
          <a:xfrm>
            <a:off x="123444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548640" y="24231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85800" y="283464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ADB5B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Write a clear prompt</a:t>
            </a:r>
            <a:endParaRPr lang="en-US" sz="12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ADB5B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with context &amp; constraints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2468880" y="23317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B79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743200" y="1554480"/>
            <a:ext cx="1920240" cy="2377440"/>
          </a:xfrm>
          <a:prstGeom prst="rect">
            <a:avLst/>
          </a:prstGeom>
          <a:solidFill>
            <a:srgbClr val="1E1E1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429000" y="1737360"/>
            <a:ext cx="548640" cy="548640"/>
          </a:xfrm>
          <a:prstGeom prst="ellipse">
            <a:avLst/>
          </a:prstGeom>
          <a:solidFill>
            <a:srgbClr val="B7986A"/>
          </a:solidFill>
          <a:ln/>
        </p:spPr>
      </p:sp>
      <p:sp>
        <p:nvSpPr>
          <p:cNvPr id="12" name="Text 9"/>
          <p:cNvSpPr/>
          <p:nvPr/>
        </p:nvSpPr>
        <p:spPr>
          <a:xfrm>
            <a:off x="342900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2743200" y="24231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2880360" y="283464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ADB5B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produces</a:t>
            </a:r>
            <a:endParaRPr lang="en-US" sz="12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ADB5B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output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663440" y="23317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B79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3"/>
          <p:cNvSpPr/>
          <p:nvPr/>
        </p:nvSpPr>
        <p:spPr>
          <a:xfrm>
            <a:off x="4937760" y="1554480"/>
            <a:ext cx="1920240" cy="2377440"/>
          </a:xfrm>
          <a:prstGeom prst="rect">
            <a:avLst/>
          </a:prstGeom>
          <a:solidFill>
            <a:srgbClr val="1E1E1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623560" y="1737360"/>
            <a:ext cx="548640" cy="548640"/>
          </a:xfrm>
          <a:prstGeom prst="ellipse">
            <a:avLst/>
          </a:prstGeom>
          <a:solidFill>
            <a:srgbClr val="B7986A"/>
          </a:solidFill>
          <a:ln/>
        </p:spPr>
      </p:sp>
      <p:sp>
        <p:nvSpPr>
          <p:cNvPr id="18" name="Text 15"/>
          <p:cNvSpPr/>
          <p:nvPr/>
        </p:nvSpPr>
        <p:spPr>
          <a:xfrm>
            <a:off x="562356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4937760" y="24231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Discern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5074920" y="283464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ADB5B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Evaluate: what's good?</a:t>
            </a:r>
            <a:endParaRPr lang="en-US" sz="12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ADB5B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needs work?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858000" y="23317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B79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2" name="Shape 19"/>
          <p:cNvSpPr/>
          <p:nvPr/>
        </p:nvSpPr>
        <p:spPr>
          <a:xfrm>
            <a:off x="7132320" y="1554480"/>
            <a:ext cx="1920240" cy="2377440"/>
          </a:xfrm>
          <a:prstGeom prst="rect">
            <a:avLst/>
          </a:prstGeom>
          <a:solidFill>
            <a:srgbClr val="1E1E1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7818120" y="1737360"/>
            <a:ext cx="548640" cy="548640"/>
          </a:xfrm>
          <a:prstGeom prst="ellipse">
            <a:avLst/>
          </a:prstGeom>
          <a:solidFill>
            <a:srgbClr val="B7986A"/>
          </a:solidFill>
          <a:ln/>
        </p:spPr>
      </p:sp>
      <p:sp>
        <p:nvSpPr>
          <p:cNvPr id="24" name="Text 21"/>
          <p:cNvSpPr/>
          <p:nvPr/>
        </p:nvSpPr>
        <p:spPr>
          <a:xfrm>
            <a:off x="781812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2"/>
          <p:cNvSpPr/>
          <p:nvPr/>
        </p:nvSpPr>
        <p:spPr>
          <a:xfrm>
            <a:off x="7132320" y="24231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7269480" y="283464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ADB5B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Update your prompt</a:t>
            </a:r>
            <a:endParaRPr lang="en-US" sz="12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ADB5B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based on what you learned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548640" y="4160520"/>
            <a:ext cx="8046720" cy="640080"/>
          </a:xfrm>
          <a:prstGeom prst="rect">
            <a:avLst/>
          </a:prstGeom>
          <a:solidFill>
            <a:srgbClr val="1E1E1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548640" y="41605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B798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↻  Repeat until the output meets your standards — each cycle builds your fluency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400" dirty="0">
                <a:solidFill>
                  <a:srgbClr val="B79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 QUIZ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you answer this?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7680960" cy="2377440"/>
          </a:xfrm>
          <a:prstGeom prst="rect">
            <a:avLst/>
          </a:prstGeom>
          <a:solidFill>
            <a:srgbClr val="1E1E1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645920"/>
            <a:ext cx="91440" cy="2377440"/>
          </a:xfrm>
          <a:prstGeom prst="rect">
            <a:avLst/>
          </a:prstGeom>
          <a:solidFill>
            <a:srgbClr val="EF5350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182880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2331720"/>
            <a:ext cx="6949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6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"We're doing hiring interviews and I want to understand the per-token semantic load of each interview. Which tokens are carrying the most cognitive weight, and can we redistribute the load more evenly across the recruiters?"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40480" y="4297680"/>
            <a:ext cx="1463040" cy="36576"/>
          </a:xfrm>
          <a:prstGeom prst="rect">
            <a:avLst/>
          </a:prstGeom>
          <a:solidFill>
            <a:srgbClr val="B7986A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44805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Don't worry if you can't — it's complete nonsense.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black screen&#10;&#10;AI-generated content may be incorrect.">
            <a:extLst>
              <a:ext uri="{FF2B5EF4-FFF2-40B4-BE49-F238E27FC236}">
                <a16:creationId xmlns:a16="http://schemas.microsoft.com/office/drawing/2014/main" id="{9982ADC0-177B-6755-72F9-3DF874E28B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3133" y="0"/>
            <a:ext cx="451773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32122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Breaking_Bad_S04E01__Box_Cutter__-_Denny_s_Scene_0-25_screensho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37160"/>
            <a:ext cx="6858000" cy="38587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114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"Jessie, what the f*** are you talking about?"</a:t>
            </a:r>
            <a:endParaRPr lang="en-US" sz="2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2004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4300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Discernment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8046720" cy="731520"/>
          </a:xfrm>
          <a:prstGeom prst="rect">
            <a:avLst/>
          </a:prstGeom>
          <a:solidFill>
            <a:srgbClr val="1E1E1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548640" y="1463040"/>
            <a:ext cx="73152" cy="731520"/>
          </a:xfrm>
          <a:prstGeom prst="rect">
            <a:avLst/>
          </a:prstGeom>
          <a:solidFill>
            <a:srgbClr val="B7986A"/>
          </a:solidFill>
          <a:ln/>
        </p:spPr>
      </p:sp>
      <p:sp>
        <p:nvSpPr>
          <p:cNvPr id="6" name="Text 3"/>
          <p:cNvSpPr/>
          <p:nvPr/>
        </p:nvSpPr>
        <p:spPr>
          <a:xfrm>
            <a:off x="822960" y="1508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it accurate?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22960" y="1847088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DB5B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Cross-check facts, numbers, and claims. AI can sound confident while being wrong.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2331720"/>
            <a:ext cx="8046720" cy="731520"/>
          </a:xfrm>
          <a:prstGeom prst="rect">
            <a:avLst/>
          </a:prstGeom>
          <a:solidFill>
            <a:srgbClr val="1E1E1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48640" y="2331720"/>
            <a:ext cx="73152" cy="731520"/>
          </a:xfrm>
          <a:prstGeom prst="rect">
            <a:avLst/>
          </a:prstGeom>
          <a:solidFill>
            <a:srgbClr val="B7986A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" y="2377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it complete?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22960" y="2715768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DB5B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Look for missing perspectives, edge cases, or important context it left out.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48640" y="3200400"/>
            <a:ext cx="8046720" cy="731520"/>
          </a:xfrm>
          <a:prstGeom prst="rect">
            <a:avLst/>
          </a:prstGeom>
          <a:solidFill>
            <a:srgbClr val="1E1E1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48640" y="3200400"/>
            <a:ext cx="73152" cy="731520"/>
          </a:xfrm>
          <a:prstGeom prst="rect">
            <a:avLst/>
          </a:prstGeom>
          <a:solidFill>
            <a:srgbClr val="B7986A"/>
          </a:solidFill>
          <a:ln/>
        </p:spPr>
      </p:sp>
      <p:sp>
        <p:nvSpPr>
          <p:cNvPr id="14" name="Text 11"/>
          <p:cNvSpPr/>
          <p:nvPr/>
        </p:nvSpPr>
        <p:spPr>
          <a:xfrm>
            <a:off x="822960" y="32461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it appropriate?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822960" y="3584448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DB5B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 tone, audience fit, and whether it matches your actual intent.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48640" y="4069080"/>
            <a:ext cx="8046720" cy="731520"/>
          </a:xfrm>
          <a:prstGeom prst="rect">
            <a:avLst/>
          </a:prstGeom>
          <a:solidFill>
            <a:srgbClr val="1E1E1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48640" y="4069080"/>
            <a:ext cx="73152" cy="731520"/>
          </a:xfrm>
          <a:prstGeom prst="rect">
            <a:avLst/>
          </a:prstGeom>
          <a:solidFill>
            <a:srgbClr val="B7986A"/>
          </a:solidFill>
          <a:ln/>
        </p:spPr>
      </p:sp>
      <p:sp>
        <p:nvSpPr>
          <p:cNvPr id="18" name="Text 15"/>
          <p:cNvSpPr/>
          <p:nvPr/>
        </p:nvSpPr>
        <p:spPr>
          <a:xfrm>
            <a:off x="822960" y="4114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it original enough?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822960" y="4453128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DB5B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tends toward generic. Push for specificity that reflects your unique context.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2004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4300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Discernment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3840480" cy="3200400"/>
          </a:xfrm>
          <a:prstGeom prst="rect">
            <a:avLst/>
          </a:prstGeom>
          <a:solidFill>
            <a:srgbClr val="1E1E1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548640" y="1463040"/>
            <a:ext cx="73152" cy="3200400"/>
          </a:xfrm>
          <a:prstGeom prst="rect">
            <a:avLst/>
          </a:prstGeom>
          <a:solidFill>
            <a:srgbClr val="B7986A"/>
          </a:solidFill>
          <a:ln/>
        </p:spPr>
      </p:sp>
      <p:sp>
        <p:nvSpPr>
          <p:cNvPr id="6" name="Text 3"/>
          <p:cNvSpPr/>
          <p:nvPr/>
        </p:nvSpPr>
        <p:spPr>
          <a:xfrm>
            <a:off x="822960" y="15544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79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22960" y="2011680"/>
            <a:ext cx="33832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ADB5B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 critically — treat it like a first draft from a new hire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ADB5B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Spot-check facts, numbers, and names before trusting them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ADB5B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Ask: does this match my domain expertise?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ADB5B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Watch for confident-sounding nonsense — fluency ≠ accuracy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754880" y="1463040"/>
            <a:ext cx="3840480" cy="3200400"/>
          </a:xfrm>
          <a:prstGeom prst="rect">
            <a:avLst/>
          </a:prstGeom>
          <a:solidFill>
            <a:srgbClr val="1E1E1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754880" y="1463040"/>
            <a:ext cx="73152" cy="3200400"/>
          </a:xfrm>
          <a:prstGeom prst="rect">
            <a:avLst/>
          </a:prstGeom>
          <a:solidFill>
            <a:srgbClr val="B7986A"/>
          </a:solidFill>
          <a:ln/>
        </p:spPr>
      </p:sp>
      <p:sp>
        <p:nvSpPr>
          <p:cNvPr id="10" name="Text 7"/>
          <p:cNvSpPr/>
          <p:nvPr/>
        </p:nvSpPr>
        <p:spPr>
          <a:xfrm>
            <a:off x="5029200" y="15544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79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It Matters Most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029200" y="2011680"/>
            <a:ext cx="33832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ADB5B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Client-facing deliverables — your name is on it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ADB5B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Technical decisions — AI may suggest plausible but suboptimal architecture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ADB5B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Legal or financial content — small errors, big consequences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ADB5B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Anything novel — AI is strongest on common patterns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2004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4300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Discernment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8046720" cy="658368"/>
          </a:xfrm>
          <a:prstGeom prst="rect">
            <a:avLst/>
          </a:prstGeom>
          <a:solidFill>
            <a:srgbClr val="1E1E1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731520" y="1591056"/>
            <a:ext cx="402336" cy="402336"/>
          </a:xfrm>
          <a:prstGeom prst="ellipse">
            <a:avLst/>
          </a:prstGeom>
          <a:solidFill>
            <a:srgbClr val="B7986A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15910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371600" y="150876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 Reviewer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383280" y="1508760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DB5B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Ask a second AI conversation to critique or find flaws. Fresh context catches blind spots.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2304288"/>
            <a:ext cx="8046720" cy="658368"/>
          </a:xfrm>
          <a:prstGeom prst="rect">
            <a:avLst/>
          </a:prstGeom>
          <a:solidFill>
            <a:srgbClr val="1E1E1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31520" y="2432304"/>
            <a:ext cx="402336" cy="402336"/>
          </a:xfrm>
          <a:prstGeom prst="ellipse">
            <a:avLst/>
          </a:prstGeom>
          <a:solidFill>
            <a:srgbClr val="B7986A"/>
          </a:solidFill>
          <a:ln/>
        </p:spPr>
      </p:sp>
      <p:sp>
        <p:nvSpPr>
          <p:cNvPr id="11" name="Text 8"/>
          <p:cNvSpPr/>
          <p:nvPr/>
        </p:nvSpPr>
        <p:spPr>
          <a:xfrm>
            <a:off x="731520" y="24323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371600" y="2350008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Tooling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3383280" y="2350008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DB5B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 linters, test suites, and CI pipelines to validate AI-generated code before merging.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8640" y="3145536"/>
            <a:ext cx="8046720" cy="658368"/>
          </a:xfrm>
          <a:prstGeom prst="rect">
            <a:avLst/>
          </a:prstGeom>
          <a:solidFill>
            <a:srgbClr val="1E1E1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731520" y="3273552"/>
            <a:ext cx="402336" cy="402336"/>
          </a:xfrm>
          <a:prstGeom prst="ellipse">
            <a:avLst/>
          </a:prstGeom>
          <a:solidFill>
            <a:srgbClr val="B7986A"/>
          </a:solidFill>
          <a:ln/>
        </p:spPr>
      </p:sp>
      <p:sp>
        <p:nvSpPr>
          <p:cNvPr id="16" name="Text 13"/>
          <p:cNvSpPr/>
          <p:nvPr/>
        </p:nvSpPr>
        <p:spPr>
          <a:xfrm>
            <a:off x="731520" y="32735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371600" y="3191256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Output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3383280" y="3191256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DB5B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Request JSON, tables, or checklists so output can be validated programmatically.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548640" y="3986784"/>
            <a:ext cx="8046720" cy="658368"/>
          </a:xfrm>
          <a:prstGeom prst="rect">
            <a:avLst/>
          </a:prstGeom>
          <a:solidFill>
            <a:srgbClr val="1E1E1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731520" y="4114800"/>
            <a:ext cx="402336" cy="402336"/>
          </a:xfrm>
          <a:prstGeom prst="ellipse">
            <a:avLst/>
          </a:prstGeom>
          <a:solidFill>
            <a:srgbClr val="B7986A"/>
          </a:solidFill>
          <a:ln/>
        </p:spPr>
      </p:sp>
      <p:sp>
        <p:nvSpPr>
          <p:cNvPr id="21" name="Text 18"/>
          <p:cNvSpPr/>
          <p:nvPr/>
        </p:nvSpPr>
        <p:spPr>
          <a:xfrm>
            <a:off x="731520" y="41148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1371600" y="4032504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&amp; Citations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3383280" y="4032504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DB5B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Ask AI to cite sources. Verify claims against authoritative references.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2004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4300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Diligence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8046720" cy="658368"/>
          </a:xfrm>
          <a:prstGeom prst="rect">
            <a:avLst/>
          </a:prstGeom>
          <a:solidFill>
            <a:srgbClr val="1E1E1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731520" y="1591056"/>
            <a:ext cx="402336" cy="402336"/>
          </a:xfrm>
          <a:prstGeom prst="ellipse">
            <a:avLst/>
          </a:prstGeom>
          <a:solidFill>
            <a:srgbClr val="B7986A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15910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371600" y="150876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383280" y="1508760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DB5B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 open about when and how you used AI in your work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2304288"/>
            <a:ext cx="8046720" cy="658368"/>
          </a:xfrm>
          <a:prstGeom prst="rect">
            <a:avLst/>
          </a:prstGeom>
          <a:solidFill>
            <a:srgbClr val="1E1E1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31520" y="2432304"/>
            <a:ext cx="402336" cy="402336"/>
          </a:xfrm>
          <a:prstGeom prst="ellipse">
            <a:avLst/>
          </a:prstGeom>
          <a:solidFill>
            <a:srgbClr val="B7986A"/>
          </a:solidFill>
          <a:ln/>
        </p:spPr>
      </p:sp>
      <p:sp>
        <p:nvSpPr>
          <p:cNvPr id="11" name="Text 8"/>
          <p:cNvSpPr/>
          <p:nvPr/>
        </p:nvSpPr>
        <p:spPr>
          <a:xfrm>
            <a:off x="731520" y="24323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371600" y="2350008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3383280" y="2350008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DB5B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Always human-review AI output before it reaches clients or stakeholders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8640" y="3145536"/>
            <a:ext cx="8046720" cy="658368"/>
          </a:xfrm>
          <a:prstGeom prst="rect">
            <a:avLst/>
          </a:prstGeom>
          <a:solidFill>
            <a:srgbClr val="1E1E1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731520" y="3273552"/>
            <a:ext cx="402336" cy="402336"/>
          </a:xfrm>
          <a:prstGeom prst="ellipse">
            <a:avLst/>
          </a:prstGeom>
          <a:solidFill>
            <a:srgbClr val="B7986A"/>
          </a:solidFill>
          <a:ln/>
        </p:spPr>
      </p:sp>
      <p:sp>
        <p:nvSpPr>
          <p:cNvPr id="16" name="Text 13"/>
          <p:cNvSpPr/>
          <p:nvPr/>
        </p:nvSpPr>
        <p:spPr>
          <a:xfrm>
            <a:off x="731520" y="32735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371600" y="3191256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Care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3383280" y="3191256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DB5B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 mindful of what information you share with AI systems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548640" y="3986784"/>
            <a:ext cx="8046720" cy="658368"/>
          </a:xfrm>
          <a:prstGeom prst="rect">
            <a:avLst/>
          </a:prstGeom>
          <a:solidFill>
            <a:srgbClr val="1E1E1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731520" y="4114800"/>
            <a:ext cx="402336" cy="402336"/>
          </a:xfrm>
          <a:prstGeom prst="ellipse">
            <a:avLst/>
          </a:prstGeom>
          <a:solidFill>
            <a:srgbClr val="B7986A"/>
          </a:solidFill>
          <a:ln/>
        </p:spPr>
      </p:sp>
      <p:sp>
        <p:nvSpPr>
          <p:cNvPr id="21" name="Text 18"/>
          <p:cNvSpPr/>
          <p:nvPr/>
        </p:nvSpPr>
        <p:spPr>
          <a:xfrm>
            <a:off x="731520" y="41148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1371600" y="4032504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Boundaries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3383280" y="4032504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DB5B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Know your org's policies — and help shape them as you learn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2004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4300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These Today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548640" y="1417320"/>
            <a:ext cx="8046720" cy="1051560"/>
          </a:xfrm>
          <a:prstGeom prst="rect">
            <a:avLst/>
          </a:prstGeom>
          <a:solidFill>
            <a:srgbClr val="1E1E1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548640" y="1417320"/>
            <a:ext cx="73152" cy="1051560"/>
          </a:xfrm>
          <a:prstGeom prst="rect">
            <a:avLst/>
          </a:prstGeom>
          <a:solidFill>
            <a:srgbClr val="B7986A"/>
          </a:solidFill>
          <a:ln/>
        </p:spPr>
      </p:sp>
      <p:sp>
        <p:nvSpPr>
          <p:cNvPr id="6" name="Text 3"/>
          <p:cNvSpPr/>
          <p:nvPr/>
        </p:nvSpPr>
        <p:spPr>
          <a:xfrm>
            <a:off x="822960" y="14904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79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22960" y="178308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DB5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"Here's my function [paste code]. Write unit tests covering happy path, edge cases, and error states. Use Jest and follow AAA pattern."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2167128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  Full test suite with 8–12 tests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8640" y="2606040"/>
            <a:ext cx="8046720" cy="1051560"/>
          </a:xfrm>
          <a:prstGeom prst="rect">
            <a:avLst/>
          </a:prstGeom>
          <a:solidFill>
            <a:srgbClr val="1E1E1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48640" y="2606040"/>
            <a:ext cx="73152" cy="1051560"/>
          </a:xfrm>
          <a:prstGeom prst="rect">
            <a:avLst/>
          </a:prstGeom>
          <a:solidFill>
            <a:srgbClr val="B7986A"/>
          </a:solidFill>
          <a:ln/>
        </p:spPr>
      </p:sp>
      <p:sp>
        <p:nvSpPr>
          <p:cNvPr id="11" name="Text 8"/>
          <p:cNvSpPr/>
          <p:nvPr/>
        </p:nvSpPr>
        <p:spPr>
          <a:xfrm>
            <a:off x="822960" y="26791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79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/ PM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22960" y="297180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DB5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"I'm writing a PRD for [feature]. Interview me: ask the 10 most important questions a senior PM would ask before writing the spec."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22960" y="3355848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  Structured thinking partner that finds your blind spots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48640" y="3794760"/>
            <a:ext cx="8046720" cy="1051560"/>
          </a:xfrm>
          <a:prstGeom prst="rect">
            <a:avLst/>
          </a:prstGeom>
          <a:solidFill>
            <a:srgbClr val="1E1E1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48640" y="3794760"/>
            <a:ext cx="73152" cy="1051560"/>
          </a:xfrm>
          <a:prstGeom prst="rect">
            <a:avLst/>
          </a:prstGeom>
          <a:solidFill>
            <a:srgbClr val="B7986A"/>
          </a:solidFill>
          <a:ln/>
        </p:spPr>
      </p:sp>
      <p:sp>
        <p:nvSpPr>
          <p:cNvPr id="16" name="Text 13"/>
          <p:cNvSpPr/>
          <p:nvPr/>
        </p:nvSpPr>
        <p:spPr>
          <a:xfrm>
            <a:off x="822960" y="38679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79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822960" y="416052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DB5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"I'm designing a [screen]. Here's the user story: [paste]. List 5 edge cases this UI needs to handle that designers often miss."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22960" y="4544568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  Edge cases you'd have caught in QA instead of design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2004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4300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These Today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548640" y="1417320"/>
            <a:ext cx="8046720" cy="1097280"/>
          </a:xfrm>
          <a:prstGeom prst="rect">
            <a:avLst/>
          </a:prstGeom>
          <a:solidFill>
            <a:srgbClr val="1E1E1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548640" y="1417320"/>
            <a:ext cx="73152" cy="1097280"/>
          </a:xfrm>
          <a:prstGeom prst="rect">
            <a:avLst/>
          </a:prstGeom>
          <a:solidFill>
            <a:srgbClr val="B7986A"/>
          </a:solidFill>
          <a:ln/>
        </p:spPr>
      </p:sp>
      <p:sp>
        <p:nvSpPr>
          <p:cNvPr id="6" name="Text 3"/>
          <p:cNvSpPr/>
          <p:nvPr/>
        </p:nvSpPr>
        <p:spPr>
          <a:xfrm>
            <a:off x="822960" y="14904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79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/ Testing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22960" y="1801368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DB5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"Here's the acceptance criteria for [feature]. Generate a test matrix: positive flows, negative flows, boundary values, and cross-platform edge cases for iOS and Android."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2221992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  Comprehensive test plan ready for review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8640" y="2651760"/>
            <a:ext cx="8046720" cy="1097280"/>
          </a:xfrm>
          <a:prstGeom prst="rect">
            <a:avLst/>
          </a:prstGeom>
          <a:solidFill>
            <a:srgbClr val="1E1E1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48640" y="2651760"/>
            <a:ext cx="73152" cy="1097280"/>
          </a:xfrm>
          <a:prstGeom prst="rect">
            <a:avLst/>
          </a:prstGeom>
          <a:solidFill>
            <a:srgbClr val="B7986A"/>
          </a:solidFill>
          <a:ln/>
        </p:spPr>
      </p:sp>
      <p:sp>
        <p:nvSpPr>
          <p:cNvPr id="11" name="Text 8"/>
          <p:cNvSpPr/>
          <p:nvPr/>
        </p:nvSpPr>
        <p:spPr>
          <a:xfrm>
            <a:off x="822960" y="27249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79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Client-Facing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22960" y="3035808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DB5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 need to explain [technical decision] to a non-technical client. Write a 3-paragraph email focused on business impact, not implementation. Tone: confident, clear, no jargon."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22960" y="3456432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  Client-ready email that skips the tech-speak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48640" y="3886200"/>
            <a:ext cx="8046720" cy="1097280"/>
          </a:xfrm>
          <a:prstGeom prst="rect">
            <a:avLst/>
          </a:prstGeom>
          <a:solidFill>
            <a:srgbClr val="1E1E1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48640" y="3886200"/>
            <a:ext cx="73152" cy="1097280"/>
          </a:xfrm>
          <a:prstGeom prst="rect">
            <a:avLst/>
          </a:prstGeom>
          <a:solidFill>
            <a:srgbClr val="B7986A"/>
          </a:solidFill>
          <a:ln/>
        </p:spPr>
      </p:sp>
      <p:sp>
        <p:nvSpPr>
          <p:cNvPr id="16" name="Text 13"/>
          <p:cNvSpPr/>
          <p:nvPr/>
        </p:nvSpPr>
        <p:spPr>
          <a:xfrm>
            <a:off x="822960" y="39593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79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822960" y="4270248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DB5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"I'm stuck on [problem]. Act as a thought partner: ask me clarifying questions, then suggest 3 different approaches with trade-offs for each."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22960" y="4690872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  Structured brainstorm that breaks through a block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7986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B79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Building Your AI Fluency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3840480" y="1508760"/>
            <a:ext cx="1463040" cy="36576"/>
          </a:xfrm>
          <a:prstGeom prst="rect">
            <a:avLst/>
          </a:prstGeom>
          <a:solidFill>
            <a:srgbClr val="B7986A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7373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00" dirty="0">
                <a:solidFill>
                  <a:srgbClr val="ADB5B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Fluency is built through practice, not perfection.</a:t>
            </a:r>
            <a:endParaRPr lang="en-US" sz="16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600" dirty="0">
                <a:solidFill>
                  <a:srgbClr val="ADB5B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interaction is a chance to get better.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2560320" cy="1828800"/>
          </a:xfrm>
          <a:prstGeom prst="rect">
            <a:avLst/>
          </a:prstGeom>
          <a:solidFill>
            <a:srgbClr val="1E1E1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2743200"/>
            <a:ext cx="2560320" cy="54864"/>
          </a:xfrm>
          <a:prstGeom prst="rect">
            <a:avLst/>
          </a:prstGeom>
          <a:solidFill>
            <a:srgbClr val="B7986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9260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Today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31520" y="338328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200" dirty="0">
                <a:solidFill>
                  <a:srgbClr val="ADB5B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Pick one quick win</a:t>
            </a:r>
            <a:endParaRPr lang="en-US" sz="12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200" dirty="0">
                <a:solidFill>
                  <a:srgbClr val="ADB5B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the previous slide</a:t>
            </a:r>
            <a:endParaRPr lang="en-US" sz="12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200" dirty="0">
                <a:solidFill>
                  <a:srgbClr val="ADB5B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try it this week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83280" y="2743200"/>
            <a:ext cx="2560320" cy="1828800"/>
          </a:xfrm>
          <a:prstGeom prst="rect">
            <a:avLst/>
          </a:prstGeom>
          <a:solidFill>
            <a:srgbClr val="1E1E1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83280" y="2743200"/>
            <a:ext cx="2560320" cy="54864"/>
          </a:xfrm>
          <a:prstGeom prst="rect">
            <a:avLst/>
          </a:prstGeom>
          <a:solidFill>
            <a:srgbClr val="B7986A"/>
          </a:solidFill>
          <a:ln/>
        </p:spPr>
      </p:sp>
      <p:sp>
        <p:nvSpPr>
          <p:cNvPr id="12" name="Text 10"/>
          <p:cNvSpPr/>
          <p:nvPr/>
        </p:nvSpPr>
        <p:spPr>
          <a:xfrm>
            <a:off x="3383280" y="29260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Freely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566160" y="338328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200" dirty="0">
                <a:solidFill>
                  <a:srgbClr val="ADB5B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There's no wrong way</a:t>
            </a:r>
            <a:endParaRPr lang="en-US" sz="12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200" dirty="0">
                <a:solidFill>
                  <a:srgbClr val="ADB5B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start — curiosity is</a:t>
            </a:r>
            <a:endParaRPr lang="en-US" sz="12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200" dirty="0">
                <a:solidFill>
                  <a:srgbClr val="ADB5B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only prerequisite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2743200"/>
            <a:ext cx="2560320" cy="1828800"/>
          </a:xfrm>
          <a:prstGeom prst="rect">
            <a:avLst/>
          </a:prstGeom>
          <a:solidFill>
            <a:srgbClr val="1E1E1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2743200"/>
            <a:ext cx="2560320" cy="54864"/>
          </a:xfrm>
          <a:prstGeom prst="rect">
            <a:avLst/>
          </a:prstGeom>
          <a:solidFill>
            <a:srgbClr val="B7986A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0" y="29260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&amp; Learn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400800" y="338328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200" dirty="0">
                <a:solidFill>
                  <a:srgbClr val="ADB5B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Share what works in</a:t>
            </a:r>
            <a:endParaRPr lang="en-US" sz="12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200" dirty="0">
                <a:solidFill>
                  <a:srgbClr val="ADB5B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team channels —</a:t>
            </a:r>
            <a:endParaRPr lang="en-US" sz="12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200" dirty="0">
                <a:solidFill>
                  <a:srgbClr val="ADB5B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 from each other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2394</Words>
  <Application>Microsoft Macintosh PowerPoint</Application>
  <PresentationFormat>On-screen Show (16:9)</PresentationFormat>
  <Paragraphs>233</Paragraphs>
  <Slides>20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Fluency at Ravn</dc:title>
  <dc:subject>PptxGenJS Presentation</dc:subject>
  <dc:creator>Ravn</dc:creator>
  <cp:lastModifiedBy>Microsoft Office User</cp:lastModifiedBy>
  <cp:revision>2</cp:revision>
  <dcterms:created xsi:type="dcterms:W3CDTF">2026-03-06T16:56:47Z</dcterms:created>
  <dcterms:modified xsi:type="dcterms:W3CDTF">2026-03-06T17:35:55Z</dcterms:modified>
</cp:coreProperties>
</file>